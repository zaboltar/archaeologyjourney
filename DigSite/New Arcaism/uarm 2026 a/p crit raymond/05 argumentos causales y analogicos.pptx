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2" r:id="rId4"/>
    <p:sldId id="259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84" r:id="rId16"/>
    <p:sldId id="258" r:id="rId17"/>
    <p:sldId id="260" r:id="rId18"/>
    <p:sldId id="273" r:id="rId19"/>
    <p:sldId id="275" r:id="rId20"/>
    <p:sldId id="276" r:id="rId21"/>
    <p:sldId id="277" r:id="rId22"/>
    <p:sldId id="278" r:id="rId23"/>
    <p:sldId id="274" r:id="rId24"/>
    <p:sldId id="279" r:id="rId25"/>
    <p:sldId id="280" r:id="rId26"/>
    <p:sldId id="281" r:id="rId27"/>
    <p:sldId id="282" r:id="rId28"/>
    <p:sldId id="283" r:id="rId29"/>
    <p:sldId id="263" r:id="rId30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43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363D9-A035-C068-4FB1-A32E9723E9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6ED236-0205-A398-E81E-4E803089B9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EE37A-ED0F-47B3-F826-925A11E06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D461E-DACE-4241-BCA9-483706D7292F}" type="datetimeFigureOut">
              <a:rPr lang="es-PE" smtClean="0"/>
              <a:t>20/04/2026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FEE637-63F3-FC45-7CCE-D335402CF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0CEE0-A349-2D1C-637E-D1418A3E0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F78B1-18FE-4DC7-B072-1735441EA32D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75789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98E19-9BB8-5D33-5335-7BCE448BF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7F408-A4E3-4612-EAE6-E2D2008A2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46FE7-04BA-0BCC-47C8-C660936F9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D461E-DACE-4241-BCA9-483706D7292F}" type="datetimeFigureOut">
              <a:rPr lang="es-PE" smtClean="0"/>
              <a:t>20/04/2026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7AF92-55FC-89D9-1E3A-E487296D3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0480A-294A-D7BA-F74B-CC6614FFB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F78B1-18FE-4DC7-B072-1735441EA32D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60068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521FF-AC1F-F9AF-FF2D-51E19139D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2279C0-A6DB-927C-E0F9-F2FEBB1AC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6F548-5CE9-4E08-D8A3-A928D5528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D461E-DACE-4241-BCA9-483706D7292F}" type="datetimeFigureOut">
              <a:rPr lang="es-PE" smtClean="0"/>
              <a:t>20/04/2026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57711-17B9-11A8-0FDB-C684C44FD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0520FE-090F-5F7C-9148-7F56CFCF1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F78B1-18FE-4DC7-B072-1735441EA32D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37614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67E52-799E-3C1D-7570-0625F74A3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2A9D5-6552-D7AC-3A15-1CB215D127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234A6D-33A2-47FB-ADBF-99EFAC5503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501D45-4DB9-74E6-E3AF-74980437B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D461E-DACE-4241-BCA9-483706D7292F}" type="datetimeFigureOut">
              <a:rPr lang="es-PE" smtClean="0"/>
              <a:t>20/04/2026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B24D8-DDFC-7162-48E7-8CB017780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DB6ADF-1B5C-70F0-8EEB-BC1F7B168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F78B1-18FE-4DC7-B072-1735441EA32D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84149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2C273-A0B2-9BA2-CCBE-6A1B0B02E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54ACA0-0D53-6282-C29E-4A71C6F2B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9D7AE5-37D8-F629-005D-A9D2106768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476BF4-7930-1882-025F-B50E746AFA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202ADC-5E37-9A56-3061-199AA0E552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51CE36-07FE-C1FF-0E86-6739333BC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D461E-DACE-4241-BCA9-483706D7292F}" type="datetimeFigureOut">
              <a:rPr lang="es-PE" smtClean="0"/>
              <a:t>20/04/2026</a:t>
            </a:fld>
            <a:endParaRPr lang="es-P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AE2D6A-141B-515C-536B-77DA02CA2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3687DC-9C67-7DD3-56CC-4A58091F5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F78B1-18FE-4DC7-B072-1735441EA32D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73613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31008-ADEB-D752-F263-2252AEF58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631BB-9842-03E2-2BEE-8C14C9759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D461E-DACE-4241-BCA9-483706D7292F}" type="datetimeFigureOut">
              <a:rPr lang="es-PE" smtClean="0"/>
              <a:t>20/04/2026</a:t>
            </a:fld>
            <a:endParaRPr lang="es-P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48C8DE-D21E-9466-217A-3301318DC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B02205-6E11-FB96-3A98-F36CC98F9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F78B1-18FE-4DC7-B072-1735441EA32D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25018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15199B-C2C0-63A9-1B7E-E7D79BFB1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D461E-DACE-4241-BCA9-483706D7292F}" type="datetimeFigureOut">
              <a:rPr lang="es-PE" smtClean="0"/>
              <a:t>20/04/2026</a:t>
            </a:fld>
            <a:endParaRPr lang="es-P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EBE67E-0A90-8B21-67BF-C19328494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368228-A4E2-6077-1BCF-861F3247D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F78B1-18FE-4DC7-B072-1735441EA32D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8780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A32FC-F8E1-A638-874A-39F03B035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A0E87-B3B9-526E-B0B5-CA19272D8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D45A81-794E-E2E6-E311-5C76D36EC0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F3810A-F8DC-111E-70DD-B93C14C39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D461E-DACE-4241-BCA9-483706D7292F}" type="datetimeFigureOut">
              <a:rPr lang="es-PE" smtClean="0"/>
              <a:t>20/04/2026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B4A8C9-E3A5-3416-7906-BD9DEF59E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113FDE-07AB-B1C3-23F2-F766904AB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F78B1-18FE-4DC7-B072-1735441EA32D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99681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D20E0-C95A-43F9-DDCE-EAB105864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BF8D6E-2E8C-BD60-BF36-5A7FBDCC42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B98721-5EC3-E953-891A-ADCEA64A43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E727E8-F67E-738B-2A7F-A3D35BCE8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D461E-DACE-4241-BCA9-483706D7292F}" type="datetimeFigureOut">
              <a:rPr lang="es-PE" smtClean="0"/>
              <a:t>20/04/2026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9A090B-7C78-8EB7-D822-0497C1808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FC0164-4386-52D0-0B1D-CE9E95053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F78B1-18FE-4DC7-B072-1735441EA32D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54435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9F60B-6584-3D3B-C27B-8B6CA2AF9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27A894-5A43-D2A6-847D-2666AD4287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012BE-ABA6-BEE1-2636-AF6AEDEEE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D461E-DACE-4241-BCA9-483706D7292F}" type="datetimeFigureOut">
              <a:rPr lang="es-PE" smtClean="0"/>
              <a:t>20/04/2026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C06719-DB1B-DB49-1A9A-194AAE033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698D4-FE3E-05CE-E2D8-293A075E4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F78B1-18FE-4DC7-B072-1735441EA32D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1348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D22E39-2D15-E7A8-4FD6-1A1D038003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A77AEB-202D-C708-5824-3CD58CBD5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D0ABA-9739-B76A-D341-F56744888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D461E-DACE-4241-BCA9-483706D7292F}" type="datetimeFigureOut">
              <a:rPr lang="es-PE" smtClean="0"/>
              <a:t>20/04/2026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50164-1725-8CCF-3BE9-7AA39F0B6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79F52-A7E8-DCB4-D632-063DD55D9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F78B1-18FE-4DC7-B072-1735441EA32D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75969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91BDFE-7549-1C54-B291-A7F914FE5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A9248A-8653-5B5B-1BFC-22E550CF48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B4AD2-7864-E344-8076-E8BE170068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D461E-DACE-4241-BCA9-483706D7292F}" type="datetimeFigureOut">
              <a:rPr lang="es-PE" smtClean="0"/>
              <a:t>20/04/2026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FEDD8-0FE0-4C30-3B8B-125A8981CD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86B47C-9001-85C2-8095-FD7D851A2D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1F78B1-18FE-4DC7-B072-1735441EA32D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58057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dicf_kMLSB4&amp;t=23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493A9-0668-1B34-FA73-C2A0283451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Argumentos</a:t>
            </a:r>
            <a:endParaRPr lang="es-P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19156D-669F-70F3-2E49-AE4A7EA0CB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Causales &amp; Analógicos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355020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A58CC-68CC-D85A-05B3-68C2AD9E9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AAB14-AF7F-046B-E7FB-7DEDB60964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Argumentos</a:t>
            </a:r>
            <a:endParaRPr lang="es-P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B2433A-BB20-F92C-AD39-CDFC960D2A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Causales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780787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C1FF0-3D7F-9C47-722D-11446546E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437A3-4F42-ECCF-D28C-B6CC4FE551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898071"/>
          </a:xfrm>
        </p:spPr>
        <p:txBody>
          <a:bodyPr>
            <a:normAutofit fontScale="90000"/>
          </a:bodyPr>
          <a:lstStyle/>
          <a:p>
            <a:r>
              <a:rPr lang="es-MX" dirty="0"/>
              <a:t>Argumentos Causales</a:t>
            </a:r>
            <a:endParaRPr lang="es-P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18E64B-0F9A-4C50-524E-D69B370B7E23}"/>
              </a:ext>
            </a:extLst>
          </p:cNvPr>
          <p:cNvSpPr/>
          <p:nvPr/>
        </p:nvSpPr>
        <p:spPr>
          <a:xfrm>
            <a:off x="9640660" y="4895512"/>
            <a:ext cx="1230086" cy="1554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4F7E0A-2EB2-7F7F-6888-DB8E7585F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786" y="732053"/>
            <a:ext cx="9399814" cy="6125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040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B772E-9EC0-9B69-C7CE-B1D85CCBB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C83B6-F772-3523-DD4A-D1AA4DBD89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898071"/>
          </a:xfrm>
        </p:spPr>
        <p:txBody>
          <a:bodyPr>
            <a:normAutofit fontScale="90000"/>
          </a:bodyPr>
          <a:lstStyle/>
          <a:p>
            <a:r>
              <a:rPr lang="es-MX" dirty="0"/>
              <a:t>Argumentos Causales</a:t>
            </a:r>
            <a:endParaRPr lang="es-P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53F29CF-63F1-82E3-EA9F-822079419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1072923"/>
            <a:ext cx="4697186" cy="556901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621028A-EF78-3E80-B7A1-5C2A6E7D0BD3}"/>
              </a:ext>
            </a:extLst>
          </p:cNvPr>
          <p:cNvSpPr txBox="1"/>
          <p:nvPr/>
        </p:nvSpPr>
        <p:spPr>
          <a:xfrm>
            <a:off x="5372100" y="1351508"/>
            <a:ext cx="260032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0" i="0" dirty="0">
                <a:solidFill>
                  <a:srgbClr val="FF0000"/>
                </a:solidFill>
                <a:effectLst/>
                <a:latin typeface="Google Sans"/>
              </a:rPr>
              <a:t>La causalidad es la </a:t>
            </a:r>
            <a:r>
              <a:rPr lang="es-MX" sz="2400" dirty="0">
                <a:solidFill>
                  <a:srgbClr val="FF0000"/>
                </a:solidFill>
              </a:rPr>
              <a:t>relación necesaria entre una causa y su efecto, indicando que un evento (</a:t>
            </a:r>
            <a:r>
              <a:rPr lang="es-MX" sz="2400" dirty="0">
                <a:solidFill>
                  <a:srgbClr val="00B050"/>
                </a:solidFill>
              </a:rPr>
              <a:t>causa</a:t>
            </a:r>
            <a:r>
              <a:rPr lang="es-MX" sz="2400" dirty="0">
                <a:solidFill>
                  <a:srgbClr val="FF0000"/>
                </a:solidFill>
              </a:rPr>
              <a:t>) es el origen o el productor de otro evento posterior (</a:t>
            </a:r>
            <a:r>
              <a:rPr lang="es-MX" sz="2400" dirty="0">
                <a:solidFill>
                  <a:srgbClr val="00B050"/>
                </a:solidFill>
              </a:rPr>
              <a:t>resultado</a:t>
            </a:r>
            <a:r>
              <a:rPr lang="es-MX" sz="2400" dirty="0">
                <a:solidFill>
                  <a:srgbClr val="FF0000"/>
                </a:solidFill>
              </a:rPr>
              <a:t>)</a:t>
            </a:r>
            <a:r>
              <a:rPr lang="es-MX" sz="2400" b="0" i="0" dirty="0">
                <a:solidFill>
                  <a:srgbClr val="FF0000"/>
                </a:solidFill>
                <a:effectLst/>
                <a:latin typeface="Google Sans"/>
              </a:rPr>
              <a:t>.</a:t>
            </a:r>
            <a:endParaRPr lang="es-PE" sz="2400" dirty="0">
              <a:solidFill>
                <a:srgbClr val="FF0000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580FD7B-A83D-F758-46A3-FCE106538E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878602" y="2440930"/>
            <a:ext cx="5686042" cy="260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814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45E68-B342-19D8-DA40-FD1E1DE12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D01D7-A273-F284-4290-AF539DB065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898071"/>
          </a:xfrm>
        </p:spPr>
        <p:txBody>
          <a:bodyPr>
            <a:normAutofit fontScale="90000"/>
          </a:bodyPr>
          <a:lstStyle/>
          <a:p>
            <a:r>
              <a:rPr lang="es-MX" dirty="0"/>
              <a:t>Argumentos Causales</a:t>
            </a:r>
            <a:endParaRPr lang="es-P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8968CB-D171-4847-BC4E-374D5B0537DB}"/>
              </a:ext>
            </a:extLst>
          </p:cNvPr>
          <p:cNvSpPr txBox="1"/>
          <p:nvPr/>
        </p:nvSpPr>
        <p:spPr>
          <a:xfrm>
            <a:off x="1948543" y="1237208"/>
            <a:ext cx="871945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0" i="0" dirty="0">
                <a:solidFill>
                  <a:srgbClr val="FF0000"/>
                </a:solidFill>
                <a:effectLst/>
                <a:latin typeface="Google Sans"/>
              </a:rPr>
              <a:t>Los argumentos de tipo CAUSALES nos permite sustentar una idea o tesis a partir de las relaciones de causa y efecto que tienen diversos hechos.</a:t>
            </a:r>
          </a:p>
          <a:p>
            <a:endParaRPr lang="es-MX" sz="2400" dirty="0">
              <a:solidFill>
                <a:srgbClr val="FF0000"/>
              </a:solidFill>
              <a:latin typeface="Google Sans"/>
            </a:endParaRPr>
          </a:p>
          <a:p>
            <a:r>
              <a:rPr lang="es-MX" sz="2400" b="0" i="0" dirty="0">
                <a:solidFill>
                  <a:srgbClr val="FF0000"/>
                </a:solidFill>
                <a:effectLst/>
                <a:latin typeface="Google Sans"/>
              </a:rPr>
              <a:t>Se suelen enfatizar las consecuencias. </a:t>
            </a:r>
            <a:endParaRPr lang="es-PE" sz="2400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BBBDBE-DA2E-5F76-9B16-3ACFA0DF8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792" y="3681801"/>
            <a:ext cx="9354911" cy="242742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EB1174A-9DB5-423C-3799-2F67033C443E}"/>
              </a:ext>
            </a:extLst>
          </p:cNvPr>
          <p:cNvSpPr/>
          <p:nvPr/>
        </p:nvSpPr>
        <p:spPr>
          <a:xfrm>
            <a:off x="9640660" y="4895512"/>
            <a:ext cx="1230086" cy="1554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E732C1D2-79D4-9EFD-02DA-E120B95F6687}"/>
              </a:ext>
            </a:extLst>
          </p:cNvPr>
          <p:cNvSpPr/>
          <p:nvPr/>
        </p:nvSpPr>
        <p:spPr>
          <a:xfrm flipV="1">
            <a:off x="6047014" y="4895512"/>
            <a:ext cx="522514" cy="60109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98BF2D79-8FEF-C75F-E822-E00C41C07E4E}"/>
              </a:ext>
            </a:extLst>
          </p:cNvPr>
          <p:cNvSpPr/>
          <p:nvPr/>
        </p:nvSpPr>
        <p:spPr>
          <a:xfrm flipV="1">
            <a:off x="9247413" y="4895512"/>
            <a:ext cx="522514" cy="60109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76950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34FA0-C4CD-3475-8AEE-85E6B603C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400B9-7DAE-676B-24CA-14D91996BD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898071"/>
          </a:xfrm>
        </p:spPr>
        <p:txBody>
          <a:bodyPr>
            <a:normAutofit fontScale="90000"/>
          </a:bodyPr>
          <a:lstStyle/>
          <a:p>
            <a:r>
              <a:rPr lang="es-MX" dirty="0"/>
              <a:t>Argumentos Causales</a:t>
            </a:r>
            <a:endParaRPr lang="es-P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0E3753-1052-0A48-6F7D-622973D85196}"/>
              </a:ext>
            </a:extLst>
          </p:cNvPr>
          <p:cNvSpPr/>
          <p:nvPr/>
        </p:nvSpPr>
        <p:spPr>
          <a:xfrm>
            <a:off x="9640660" y="4895512"/>
            <a:ext cx="1230086" cy="1554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1BB5E8-7395-CD11-3CEC-967B523C9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814" y="1171290"/>
            <a:ext cx="7870371" cy="526216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DF60EAD-ED27-34EB-CE69-951CC9727C17}"/>
              </a:ext>
            </a:extLst>
          </p:cNvPr>
          <p:cNvSpPr/>
          <p:nvPr/>
        </p:nvSpPr>
        <p:spPr>
          <a:xfrm>
            <a:off x="9437914" y="1342517"/>
            <a:ext cx="1230086" cy="1554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DA146B-288D-C8F9-8D39-F6A047DB6468}"/>
              </a:ext>
            </a:extLst>
          </p:cNvPr>
          <p:cNvSpPr/>
          <p:nvPr/>
        </p:nvSpPr>
        <p:spPr>
          <a:xfrm>
            <a:off x="9459685" y="5152402"/>
            <a:ext cx="1230086" cy="1554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47669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968B2-4F01-A5DE-A53D-27CDFEE6C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29314-AA36-8E46-1373-1AFA7B798C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898071"/>
          </a:xfrm>
        </p:spPr>
        <p:txBody>
          <a:bodyPr>
            <a:normAutofit fontScale="90000"/>
          </a:bodyPr>
          <a:lstStyle/>
          <a:p>
            <a:r>
              <a:rPr lang="es-MX" dirty="0"/>
              <a:t>Argumentos Causales</a:t>
            </a:r>
            <a:endParaRPr lang="es-P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6F1C82-C249-42DC-3442-689713761A11}"/>
              </a:ext>
            </a:extLst>
          </p:cNvPr>
          <p:cNvSpPr/>
          <p:nvPr/>
        </p:nvSpPr>
        <p:spPr>
          <a:xfrm>
            <a:off x="9640660" y="4895512"/>
            <a:ext cx="1230086" cy="1554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8CB8E5-A872-6CF2-15CC-14E905306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703" y="1255940"/>
            <a:ext cx="9144000" cy="5351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444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61614-171A-2734-E1E3-38B82CEF5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F1FFC-A008-644D-4087-44BE57A9A7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898071"/>
          </a:xfrm>
        </p:spPr>
        <p:txBody>
          <a:bodyPr>
            <a:normAutofit fontScale="90000"/>
          </a:bodyPr>
          <a:lstStyle/>
          <a:p>
            <a:r>
              <a:rPr lang="es-MX" dirty="0"/>
              <a:t>Argumentos Causales</a:t>
            </a:r>
            <a:endParaRPr lang="es-P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2E8DCA-FB78-5850-5920-111E7750889C}"/>
              </a:ext>
            </a:extLst>
          </p:cNvPr>
          <p:cNvSpPr/>
          <p:nvPr/>
        </p:nvSpPr>
        <p:spPr>
          <a:xfrm>
            <a:off x="9640660" y="4895512"/>
            <a:ext cx="1230086" cy="1554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E4D89A-1CE0-77AA-0802-CA0A9C1E9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863" y="1448480"/>
            <a:ext cx="8088766" cy="4880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271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AABCC-1A34-87B1-1BA6-4F3D17F7E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45B3D-3DAB-E386-4B2A-A9685658AD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898071"/>
          </a:xfrm>
        </p:spPr>
        <p:txBody>
          <a:bodyPr>
            <a:normAutofit fontScale="90000"/>
          </a:bodyPr>
          <a:lstStyle/>
          <a:p>
            <a:r>
              <a:rPr lang="es-MX" dirty="0"/>
              <a:t>Argumentos Causales</a:t>
            </a:r>
            <a:endParaRPr lang="es-P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3602EB-F347-E85E-0E12-31DA8F2C58CB}"/>
              </a:ext>
            </a:extLst>
          </p:cNvPr>
          <p:cNvSpPr/>
          <p:nvPr/>
        </p:nvSpPr>
        <p:spPr>
          <a:xfrm>
            <a:off x="9640660" y="4895512"/>
            <a:ext cx="1230086" cy="1554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653992-60B8-41F5-0177-A2782165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254" y="1252856"/>
            <a:ext cx="8467725" cy="5196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682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FD8EC-28DA-3B50-8BC3-650200D41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F387C-78BF-0915-F26C-9E4FA22AC7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898071"/>
          </a:xfrm>
        </p:spPr>
        <p:txBody>
          <a:bodyPr>
            <a:normAutofit fontScale="90000"/>
          </a:bodyPr>
          <a:lstStyle/>
          <a:p>
            <a:r>
              <a:rPr lang="es-MX" dirty="0"/>
              <a:t>Argumentos Causales</a:t>
            </a:r>
            <a:endParaRPr lang="es-P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1292FE-32F3-D99E-77C6-35145FD9127A}"/>
              </a:ext>
            </a:extLst>
          </p:cNvPr>
          <p:cNvSpPr/>
          <p:nvPr/>
        </p:nvSpPr>
        <p:spPr>
          <a:xfrm>
            <a:off x="9640660" y="4895512"/>
            <a:ext cx="1230086" cy="1554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517D12-8A29-87A8-59F0-2E8E2A189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316" y="1208686"/>
            <a:ext cx="9608684" cy="524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986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CA099-1921-28AC-5C92-A07930F2E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5C4B9-134E-3CB3-FA05-6ED14D5849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898071"/>
          </a:xfrm>
        </p:spPr>
        <p:txBody>
          <a:bodyPr>
            <a:normAutofit fontScale="90000"/>
          </a:bodyPr>
          <a:lstStyle/>
          <a:p>
            <a:r>
              <a:rPr lang="es-MX" dirty="0"/>
              <a:t>Argumentos Causales</a:t>
            </a:r>
            <a:endParaRPr lang="es-P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56CD9A-A9C3-881A-0E30-CB132C5C67D6}"/>
              </a:ext>
            </a:extLst>
          </p:cNvPr>
          <p:cNvSpPr/>
          <p:nvPr/>
        </p:nvSpPr>
        <p:spPr>
          <a:xfrm>
            <a:off x="9640660" y="4895512"/>
            <a:ext cx="1230086" cy="1554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0F04D2-9AF7-F22A-7727-CC927830D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185" y="898071"/>
            <a:ext cx="10364561" cy="53176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26E58FE-E0AB-1C18-4238-43CB38D781A4}"/>
              </a:ext>
            </a:extLst>
          </p:cNvPr>
          <p:cNvSpPr txBox="1"/>
          <p:nvPr/>
        </p:nvSpPr>
        <p:spPr>
          <a:xfrm>
            <a:off x="1752600" y="6314530"/>
            <a:ext cx="8452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IDEA </a:t>
            </a:r>
            <a:r>
              <a:rPr lang="es-MX" dirty="0">
                <a:solidFill>
                  <a:srgbClr val="FF0000"/>
                </a:solidFill>
              </a:rPr>
              <a:t>PRINCIPAL</a:t>
            </a:r>
            <a:r>
              <a:rPr lang="es-MX" dirty="0"/>
              <a:t> =&gt; contiene IDEA </a:t>
            </a:r>
            <a:r>
              <a:rPr lang="es-MX" dirty="0">
                <a:solidFill>
                  <a:srgbClr val="0070C0"/>
                </a:solidFill>
              </a:rPr>
              <a:t>SECUNDARIA</a:t>
            </a:r>
            <a:r>
              <a:rPr lang="es-MX" dirty="0"/>
              <a:t> =&gt; contiene IDEA </a:t>
            </a:r>
            <a:r>
              <a:rPr lang="es-MX" dirty="0">
                <a:solidFill>
                  <a:srgbClr val="00B050"/>
                </a:solidFill>
              </a:rPr>
              <a:t>TERCIARIA</a:t>
            </a:r>
            <a:endParaRPr lang="es-PE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95080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2E15C-12AC-D29B-9EAB-5F8905D11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77872-AB72-9FF6-28E4-53FEC8D6B8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898071"/>
          </a:xfrm>
        </p:spPr>
        <p:txBody>
          <a:bodyPr>
            <a:normAutofit fontScale="90000"/>
          </a:bodyPr>
          <a:lstStyle/>
          <a:p>
            <a:r>
              <a:rPr lang="es-MX" dirty="0"/>
              <a:t>Argumentos Causales</a:t>
            </a:r>
            <a:endParaRPr lang="es-P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31D78C-29CB-68AD-D3D5-4F3B8D0DD909}"/>
              </a:ext>
            </a:extLst>
          </p:cNvPr>
          <p:cNvSpPr/>
          <p:nvPr/>
        </p:nvSpPr>
        <p:spPr>
          <a:xfrm>
            <a:off x="9640660" y="4895512"/>
            <a:ext cx="1230086" cy="1554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66BBF0-2E43-FED1-8A5B-F0621D7EA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165" y="898071"/>
            <a:ext cx="10422392" cy="5595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352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F4D23-69DA-7353-BE97-102FE8025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2F696-9958-1D16-7462-F873F19B18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898071"/>
          </a:xfrm>
        </p:spPr>
        <p:txBody>
          <a:bodyPr>
            <a:normAutofit fontScale="90000"/>
          </a:bodyPr>
          <a:lstStyle/>
          <a:p>
            <a:r>
              <a:rPr lang="es-MX" dirty="0"/>
              <a:t>Argumentos Causales</a:t>
            </a:r>
            <a:endParaRPr lang="es-P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91E34E-17E1-79EE-8C2C-766B90CC4EB5}"/>
              </a:ext>
            </a:extLst>
          </p:cNvPr>
          <p:cNvSpPr/>
          <p:nvPr/>
        </p:nvSpPr>
        <p:spPr>
          <a:xfrm>
            <a:off x="9640660" y="4895512"/>
            <a:ext cx="1230086" cy="1554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A3DC49-129F-2306-326A-DEF16354B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786" y="732053"/>
            <a:ext cx="9399814" cy="6125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0735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7F1EA-31E4-F0FB-1547-C413AA4E7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49BBB-E70D-6495-D64D-A6E6A52582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898071"/>
          </a:xfrm>
        </p:spPr>
        <p:txBody>
          <a:bodyPr>
            <a:normAutofit fontScale="90000"/>
          </a:bodyPr>
          <a:lstStyle/>
          <a:p>
            <a:r>
              <a:rPr lang="es-MX" dirty="0"/>
              <a:t>Argumentos Causales</a:t>
            </a:r>
            <a:endParaRPr lang="es-P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3FCF3F-173F-C8D5-B9B0-F6FA6ED5D8EE}"/>
              </a:ext>
            </a:extLst>
          </p:cNvPr>
          <p:cNvSpPr/>
          <p:nvPr/>
        </p:nvSpPr>
        <p:spPr>
          <a:xfrm>
            <a:off x="9640660" y="4895512"/>
            <a:ext cx="1230086" cy="1554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51D2E1-20FD-180C-A68A-F06EF8413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243" y="898071"/>
            <a:ext cx="10560503" cy="574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0444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CC11B-A73A-EFF6-D99F-943996AEA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F08F2-81E9-32C7-8ED1-285CDA8A76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898071"/>
          </a:xfrm>
        </p:spPr>
        <p:txBody>
          <a:bodyPr>
            <a:normAutofit fontScale="90000"/>
          </a:bodyPr>
          <a:lstStyle/>
          <a:p>
            <a:r>
              <a:rPr lang="es-MX" dirty="0"/>
              <a:t>Argumentos Causales</a:t>
            </a:r>
            <a:endParaRPr lang="es-P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CB3635-BC33-09CF-4719-546BDF562F1D}"/>
              </a:ext>
            </a:extLst>
          </p:cNvPr>
          <p:cNvSpPr txBox="1"/>
          <p:nvPr/>
        </p:nvSpPr>
        <p:spPr>
          <a:xfrm>
            <a:off x="996043" y="1306285"/>
            <a:ext cx="1035231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</a:pPr>
            <a:r>
              <a:rPr lang="es-MX" sz="2800" b="0" i="0" dirty="0">
                <a:solidFill>
                  <a:srgbClr val="000000"/>
                </a:solidFill>
                <a:effectLst/>
                <a:latin typeface="Figtree"/>
              </a:rPr>
              <a:t>Si no te </a:t>
            </a:r>
            <a:r>
              <a:rPr lang="es-MX" sz="2800" b="1" i="0" dirty="0">
                <a:solidFill>
                  <a:srgbClr val="000000"/>
                </a:solidFill>
                <a:effectLst/>
                <a:latin typeface="Figtree"/>
              </a:rPr>
              <a:t>alimentas adecuadamente</a:t>
            </a:r>
            <a:r>
              <a:rPr lang="es-MX" sz="2800" b="0" i="0" dirty="0">
                <a:solidFill>
                  <a:srgbClr val="000000"/>
                </a:solidFill>
                <a:effectLst/>
                <a:latin typeface="Figtree"/>
              </a:rPr>
              <a:t>, tu cuerpo no tendrá la </a:t>
            </a:r>
            <a:r>
              <a:rPr lang="es-MX" sz="2800" b="1" i="0" dirty="0">
                <a:solidFill>
                  <a:srgbClr val="000000"/>
                </a:solidFill>
                <a:effectLst/>
                <a:latin typeface="Figtree"/>
              </a:rPr>
              <a:t>energía</a:t>
            </a:r>
            <a:r>
              <a:rPr lang="es-MX" sz="2800" b="0" i="0" dirty="0">
                <a:solidFill>
                  <a:srgbClr val="000000"/>
                </a:solidFill>
                <a:effectLst/>
                <a:latin typeface="Figtree"/>
              </a:rPr>
              <a:t> necesaria para </a:t>
            </a:r>
            <a:r>
              <a:rPr lang="es-MX" sz="2800" b="1" i="0" dirty="0">
                <a:solidFill>
                  <a:srgbClr val="000000"/>
                </a:solidFill>
                <a:effectLst/>
                <a:latin typeface="Figtree"/>
              </a:rPr>
              <a:t>funcionar correctamente.</a:t>
            </a:r>
            <a:endParaRPr lang="es-MX" sz="2800" b="0" i="0" dirty="0">
              <a:solidFill>
                <a:srgbClr val="000000"/>
              </a:solidFill>
              <a:effectLst/>
              <a:latin typeface="Figtree"/>
            </a:endParaRPr>
          </a:p>
          <a:p>
            <a:pPr algn="l">
              <a:spcBef>
                <a:spcPts val="1200"/>
              </a:spcBef>
            </a:pPr>
            <a:r>
              <a:rPr lang="es-MX" sz="2800" b="0" i="0" dirty="0">
                <a:solidFill>
                  <a:srgbClr val="000000"/>
                </a:solidFill>
                <a:effectLst/>
                <a:latin typeface="Figtree"/>
              </a:rPr>
              <a:t>Si no te </a:t>
            </a:r>
            <a:r>
              <a:rPr lang="es-MX" sz="2800" b="1" i="0" dirty="0">
                <a:solidFill>
                  <a:srgbClr val="000000"/>
                </a:solidFill>
                <a:effectLst/>
                <a:latin typeface="Figtree"/>
              </a:rPr>
              <a:t>ejercitas</a:t>
            </a:r>
            <a:r>
              <a:rPr lang="es-MX" sz="2800" b="0" i="0" dirty="0">
                <a:solidFill>
                  <a:srgbClr val="000000"/>
                </a:solidFill>
                <a:effectLst/>
                <a:latin typeface="Figtree"/>
              </a:rPr>
              <a:t>, tu cuerpo se </a:t>
            </a:r>
            <a:r>
              <a:rPr lang="es-MX" sz="2800" b="1" i="0" dirty="0">
                <a:solidFill>
                  <a:srgbClr val="000000"/>
                </a:solidFill>
                <a:effectLst/>
                <a:latin typeface="Figtree"/>
              </a:rPr>
              <a:t>debilitará</a:t>
            </a:r>
            <a:r>
              <a:rPr lang="es-MX" sz="2800" b="0" i="0" dirty="0">
                <a:solidFill>
                  <a:srgbClr val="000000"/>
                </a:solidFill>
                <a:effectLst/>
                <a:latin typeface="Figtree"/>
              </a:rPr>
              <a:t> y tendrás más probabilidades de </a:t>
            </a:r>
            <a:r>
              <a:rPr lang="es-MX" sz="2800" b="1" i="0" dirty="0">
                <a:solidFill>
                  <a:srgbClr val="000000"/>
                </a:solidFill>
                <a:effectLst/>
                <a:latin typeface="Figtree"/>
              </a:rPr>
              <a:t>enfermar</a:t>
            </a:r>
            <a:r>
              <a:rPr lang="es-MX" sz="2800" b="0" i="0" dirty="0">
                <a:solidFill>
                  <a:srgbClr val="000000"/>
                </a:solidFill>
                <a:effectLst/>
                <a:latin typeface="Figtree"/>
              </a:rPr>
              <a:t>.</a:t>
            </a:r>
          </a:p>
          <a:p>
            <a:pPr algn="l">
              <a:spcBef>
                <a:spcPts val="1200"/>
              </a:spcBef>
            </a:pPr>
            <a:r>
              <a:rPr lang="es-MX" sz="2800" b="0" i="0" dirty="0">
                <a:solidFill>
                  <a:srgbClr val="000000"/>
                </a:solidFill>
                <a:effectLst/>
                <a:latin typeface="Figtree"/>
              </a:rPr>
              <a:t>Si no </a:t>
            </a:r>
            <a:r>
              <a:rPr lang="es-MX" sz="2800" b="1" i="0" dirty="0">
                <a:solidFill>
                  <a:srgbClr val="000000"/>
                </a:solidFill>
                <a:effectLst/>
                <a:latin typeface="Figtree"/>
              </a:rPr>
              <a:t>duermes bien, t</a:t>
            </a:r>
            <a:r>
              <a:rPr lang="es-MX" sz="2800" b="0" i="0" dirty="0">
                <a:solidFill>
                  <a:srgbClr val="000000"/>
                </a:solidFill>
                <a:effectLst/>
                <a:latin typeface="Figtree"/>
              </a:rPr>
              <a:t>u cuerpo no tendrá </a:t>
            </a:r>
            <a:r>
              <a:rPr lang="es-MX" sz="2800" b="1" i="0" dirty="0">
                <a:solidFill>
                  <a:srgbClr val="000000"/>
                </a:solidFill>
                <a:effectLst/>
                <a:latin typeface="Figtree"/>
              </a:rPr>
              <a:t>tiempo suficiente</a:t>
            </a:r>
            <a:r>
              <a:rPr lang="es-MX" sz="2800" b="0" i="0" dirty="0">
                <a:solidFill>
                  <a:srgbClr val="000000"/>
                </a:solidFill>
                <a:effectLst/>
                <a:latin typeface="Figtree"/>
              </a:rPr>
              <a:t> para reparar los </a:t>
            </a:r>
            <a:r>
              <a:rPr lang="es-MX" sz="2800" b="1" i="0" dirty="0">
                <a:solidFill>
                  <a:srgbClr val="000000"/>
                </a:solidFill>
                <a:effectLst/>
                <a:latin typeface="Figtree"/>
              </a:rPr>
              <a:t>daños causados</a:t>
            </a:r>
            <a:r>
              <a:rPr lang="es-MX" sz="2800" b="0" i="0" dirty="0">
                <a:solidFill>
                  <a:srgbClr val="000000"/>
                </a:solidFill>
                <a:effectLst/>
                <a:latin typeface="Figtree"/>
              </a:rPr>
              <a:t> durante el día.</a:t>
            </a:r>
          </a:p>
          <a:p>
            <a:pPr algn="l">
              <a:spcBef>
                <a:spcPts val="1200"/>
              </a:spcBef>
            </a:pPr>
            <a:r>
              <a:rPr lang="es-MX" sz="2800" b="0" i="0" dirty="0">
                <a:solidFill>
                  <a:srgbClr val="000000"/>
                </a:solidFill>
                <a:effectLst/>
                <a:latin typeface="Figtree"/>
              </a:rPr>
              <a:t>Si no te </a:t>
            </a:r>
            <a:r>
              <a:rPr lang="es-MX" sz="2800" b="1" i="0" dirty="0">
                <a:solidFill>
                  <a:srgbClr val="000000"/>
                </a:solidFill>
                <a:effectLst/>
                <a:latin typeface="Figtree"/>
              </a:rPr>
              <a:t>hidratas</a:t>
            </a:r>
            <a:r>
              <a:rPr lang="es-MX" sz="2800" b="0" i="0" dirty="0">
                <a:solidFill>
                  <a:srgbClr val="000000"/>
                </a:solidFill>
                <a:effectLst/>
                <a:latin typeface="Figtree"/>
              </a:rPr>
              <a:t>, tu cuerpo no podrá eliminar los </a:t>
            </a:r>
            <a:r>
              <a:rPr lang="es-MX" sz="2800" b="1" i="0" dirty="0">
                <a:solidFill>
                  <a:srgbClr val="000000"/>
                </a:solidFill>
                <a:effectLst/>
                <a:latin typeface="Figtree"/>
              </a:rPr>
              <a:t>desechos</a:t>
            </a:r>
            <a:r>
              <a:rPr lang="es-MX" sz="2800" b="0" i="0" dirty="0">
                <a:solidFill>
                  <a:srgbClr val="000000"/>
                </a:solidFill>
                <a:effectLst/>
                <a:latin typeface="Figtree"/>
              </a:rPr>
              <a:t> y </a:t>
            </a:r>
            <a:r>
              <a:rPr lang="es-MX" sz="2800" b="1" i="0" dirty="0">
                <a:solidFill>
                  <a:srgbClr val="000000"/>
                </a:solidFill>
                <a:effectLst/>
                <a:latin typeface="Figtree"/>
              </a:rPr>
              <a:t>toxinas</a:t>
            </a:r>
            <a:r>
              <a:rPr lang="es-MX" sz="2800" b="0" i="0" dirty="0">
                <a:solidFill>
                  <a:srgbClr val="000000"/>
                </a:solidFill>
                <a:effectLst/>
                <a:latin typeface="Figtree"/>
              </a:rPr>
              <a:t> necesarios.</a:t>
            </a:r>
          </a:p>
          <a:p>
            <a:pPr algn="l">
              <a:spcBef>
                <a:spcPts val="1200"/>
              </a:spcBef>
            </a:pPr>
            <a:r>
              <a:rPr lang="es-MX" sz="2800" b="0" i="0" dirty="0">
                <a:solidFill>
                  <a:srgbClr val="000000"/>
                </a:solidFill>
                <a:effectLst/>
                <a:latin typeface="Figtree"/>
              </a:rPr>
              <a:t>Si te </a:t>
            </a:r>
            <a:r>
              <a:rPr lang="es-MX" sz="2800" b="1" i="0" dirty="0">
                <a:solidFill>
                  <a:srgbClr val="000000"/>
                </a:solidFill>
                <a:effectLst/>
                <a:latin typeface="Figtree"/>
              </a:rPr>
              <a:t>expones</a:t>
            </a:r>
            <a:r>
              <a:rPr lang="es-MX" sz="2800" b="0" i="0" dirty="0">
                <a:solidFill>
                  <a:srgbClr val="000000"/>
                </a:solidFill>
                <a:effectLst/>
                <a:latin typeface="Figtree"/>
              </a:rPr>
              <a:t> demasiado al </a:t>
            </a:r>
            <a:r>
              <a:rPr lang="es-MX" sz="2800" b="1" i="0" dirty="0">
                <a:solidFill>
                  <a:srgbClr val="000000"/>
                </a:solidFill>
                <a:effectLst/>
                <a:latin typeface="Figtree"/>
              </a:rPr>
              <a:t>sol</a:t>
            </a:r>
            <a:r>
              <a:rPr lang="es-MX" sz="2800" b="0" i="0" dirty="0">
                <a:solidFill>
                  <a:srgbClr val="000000"/>
                </a:solidFill>
                <a:effectLst/>
                <a:latin typeface="Figtree"/>
              </a:rPr>
              <a:t>, tu piel se </a:t>
            </a:r>
            <a:r>
              <a:rPr lang="es-MX" sz="2800" b="1" i="0" dirty="0">
                <a:solidFill>
                  <a:srgbClr val="000000"/>
                </a:solidFill>
                <a:effectLst/>
                <a:latin typeface="Figtree"/>
              </a:rPr>
              <a:t>dañará</a:t>
            </a:r>
            <a:r>
              <a:rPr lang="es-MX" sz="2800" b="0" i="0" dirty="0">
                <a:solidFill>
                  <a:srgbClr val="000000"/>
                </a:solidFill>
                <a:effectLst/>
                <a:latin typeface="Figtree"/>
              </a:rPr>
              <a:t> y aumentarás el riesgo de </a:t>
            </a:r>
            <a:r>
              <a:rPr lang="es-MX" sz="2800" b="1" i="0" dirty="0">
                <a:solidFill>
                  <a:srgbClr val="000000"/>
                </a:solidFill>
                <a:effectLst/>
                <a:latin typeface="Figtree"/>
              </a:rPr>
              <a:t>cáncer de piel.</a:t>
            </a:r>
            <a:endParaRPr lang="es-MX" sz="2800" b="0" i="0" dirty="0">
              <a:solidFill>
                <a:srgbClr val="000000"/>
              </a:solidFill>
              <a:effectLst/>
              <a:latin typeface="Figtree"/>
            </a:endParaRPr>
          </a:p>
        </p:txBody>
      </p:sp>
    </p:spTree>
    <p:extLst>
      <p:ext uri="{BB962C8B-B14F-4D97-AF65-F5344CB8AC3E}">
        <p14:creationId xmlns:p14="http://schemas.microsoft.com/office/powerpoint/2010/main" val="33938066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8CD1F-F121-01B3-07B8-C322F06E4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0ED33-2F78-22A5-123B-2FFE4829C3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Argumentos</a:t>
            </a:r>
            <a:endParaRPr lang="es-P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7DCB28-4293-7E1E-4665-456277F231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Analógicos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3603210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D908B-38F9-5C7E-975C-DD8DA16B7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9DC1E-75E4-2B14-BC3A-C512CE580D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947057"/>
          </a:xfrm>
        </p:spPr>
        <p:txBody>
          <a:bodyPr/>
          <a:lstStyle/>
          <a:p>
            <a:r>
              <a:rPr lang="es-MX" dirty="0"/>
              <a:t>Argumentos Analógicos</a:t>
            </a:r>
            <a:endParaRPr lang="es-P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89ADA9-EBA4-11F0-016B-B8DBC4308FC7}"/>
              </a:ext>
            </a:extLst>
          </p:cNvPr>
          <p:cNvSpPr txBox="1"/>
          <p:nvPr/>
        </p:nvSpPr>
        <p:spPr>
          <a:xfrm>
            <a:off x="506185" y="1485900"/>
            <a:ext cx="1134835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>
                <a:solidFill>
                  <a:srgbClr val="FF0000"/>
                </a:solidFill>
              </a:rPr>
              <a:t>Uno de los recursos más utilizados en la comunicación.</a:t>
            </a:r>
          </a:p>
          <a:p>
            <a:endParaRPr lang="es-MX" dirty="0">
              <a:solidFill>
                <a:srgbClr val="FF0000"/>
              </a:solidFill>
            </a:endParaRPr>
          </a:p>
          <a:p>
            <a:r>
              <a:rPr lang="es-MX" sz="2400" dirty="0">
                <a:solidFill>
                  <a:srgbClr val="FF0000"/>
                </a:solidFill>
              </a:rPr>
              <a:t>Sirve para sustentar un punto de vista no necesariamente probado con anterioridad.</a:t>
            </a:r>
          </a:p>
          <a:p>
            <a:endParaRPr lang="es-MX" sz="2400" dirty="0">
              <a:solidFill>
                <a:srgbClr val="FF0000"/>
              </a:solidFill>
            </a:endParaRPr>
          </a:p>
          <a:p>
            <a:r>
              <a:rPr lang="es-MX" sz="2400" dirty="0">
                <a:solidFill>
                  <a:srgbClr val="FF0000"/>
                </a:solidFill>
              </a:rPr>
              <a:t>Requiere dos casos para extraer una conclusión.</a:t>
            </a:r>
          </a:p>
          <a:p>
            <a:endParaRPr lang="es-MX" sz="2400" dirty="0">
              <a:solidFill>
                <a:srgbClr val="FF0000"/>
              </a:solidFill>
            </a:endParaRPr>
          </a:p>
          <a:p>
            <a:r>
              <a:rPr lang="es-MX" sz="2400" dirty="0">
                <a:solidFill>
                  <a:srgbClr val="FF0000"/>
                </a:solidFill>
              </a:rPr>
              <a:t>La relación entre ambas ideas se encuentra en un nexo analógico.</a:t>
            </a:r>
            <a:endParaRPr lang="es-PE" sz="240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A80658-3A9D-67E7-C508-61D8F3ED0FEF}"/>
              </a:ext>
            </a:extLst>
          </p:cNvPr>
          <p:cNvSpPr txBox="1"/>
          <p:nvPr/>
        </p:nvSpPr>
        <p:spPr>
          <a:xfrm>
            <a:off x="506185" y="4764064"/>
            <a:ext cx="1089115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b="0" i="0" dirty="0">
                <a:effectLst/>
                <a:latin typeface="Google Sans"/>
              </a:rPr>
              <a:t>La </a:t>
            </a:r>
            <a:r>
              <a:rPr lang="es-MX" sz="2800" b="1" i="0" dirty="0">
                <a:solidFill>
                  <a:srgbClr val="FF0000"/>
                </a:solidFill>
                <a:effectLst/>
                <a:latin typeface="Google Sans"/>
              </a:rPr>
              <a:t>analogía</a:t>
            </a:r>
            <a:r>
              <a:rPr lang="es-MX" sz="2800" b="0" i="0" dirty="0">
                <a:effectLst/>
                <a:latin typeface="Google Sans"/>
              </a:rPr>
              <a:t> es una </a:t>
            </a:r>
            <a:r>
              <a:rPr lang="es-MX" sz="2800" dirty="0"/>
              <a:t>relación de semejanza o comparación entre dos cosas distintas, utilizada para explicar un concepto nuevo basándose en uno conocido</a:t>
            </a:r>
            <a:r>
              <a:rPr lang="es-MX" sz="2800" b="0" i="0" dirty="0">
                <a:effectLst/>
                <a:latin typeface="Google Sans"/>
              </a:rPr>
              <a:t>. Es un recurso lógico, lingüístico y didáctico que conecta situaciones o atributos, facilitando la comprensión y el razonamiento</a:t>
            </a:r>
            <a:endParaRPr lang="es-PE" sz="2800" dirty="0"/>
          </a:p>
        </p:txBody>
      </p:sp>
    </p:spTree>
    <p:extLst>
      <p:ext uri="{BB962C8B-B14F-4D97-AF65-F5344CB8AC3E}">
        <p14:creationId xmlns:p14="http://schemas.microsoft.com/office/powerpoint/2010/main" val="13034688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EDBB7-8C4B-BA9E-C892-82439D684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957B9-4F66-B6DE-BB05-AA6F7716CB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947057"/>
          </a:xfrm>
        </p:spPr>
        <p:txBody>
          <a:bodyPr/>
          <a:lstStyle/>
          <a:p>
            <a:r>
              <a:rPr lang="es-MX" dirty="0"/>
              <a:t>Argumentos Analógicos</a:t>
            </a:r>
            <a:endParaRPr lang="es-P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7ADEF5-B25E-35C0-DF97-1FD25E054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2828" y="1230766"/>
            <a:ext cx="5916386" cy="5403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2478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03B96-7B99-DAA4-7BB4-A25C5307F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F703E-AB17-BF82-2754-02CDE3C383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947057"/>
          </a:xfrm>
        </p:spPr>
        <p:txBody>
          <a:bodyPr/>
          <a:lstStyle/>
          <a:p>
            <a:r>
              <a:rPr lang="es-MX" dirty="0"/>
              <a:t>Argumentos Analógicos</a:t>
            </a:r>
            <a:endParaRPr lang="es-P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6D2224-F79F-7128-E873-2E701CF67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6272" y="2356075"/>
            <a:ext cx="8188201" cy="267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2762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3DC6C-1F1B-B066-E49E-D72659097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47EE0-5AD4-8270-0D46-F97A0DF3BA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947057"/>
          </a:xfrm>
        </p:spPr>
        <p:txBody>
          <a:bodyPr/>
          <a:lstStyle/>
          <a:p>
            <a:r>
              <a:rPr lang="es-MX" dirty="0"/>
              <a:t>Argumentos Analógicos</a:t>
            </a:r>
            <a:endParaRPr lang="es-P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501141-53FE-9281-177E-C45D3D517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956" y="1326016"/>
            <a:ext cx="8273143" cy="5199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1796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922E0-A9AF-142E-B8CA-7CB19FFE1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0823B-B37A-1949-0319-BF4870F805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947057"/>
          </a:xfrm>
        </p:spPr>
        <p:txBody>
          <a:bodyPr/>
          <a:lstStyle/>
          <a:p>
            <a:r>
              <a:rPr lang="es-MX" dirty="0"/>
              <a:t>Argumentos Analógicos</a:t>
            </a:r>
            <a:endParaRPr lang="es-P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FCE2A7-FF53-E517-5D6F-A9DE444E1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763" y="1151164"/>
            <a:ext cx="8551409" cy="5468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7699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BE91C-0220-140D-E865-5F78D7196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25176-9C67-B9C6-67E0-FEDB696863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947057"/>
          </a:xfrm>
        </p:spPr>
        <p:txBody>
          <a:bodyPr/>
          <a:lstStyle/>
          <a:p>
            <a:r>
              <a:rPr lang="es-MX" dirty="0"/>
              <a:t>Argumentos Analógicos</a:t>
            </a:r>
            <a:endParaRPr lang="es-P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628698-8D61-76F0-517C-9B3969D63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004" y="1120588"/>
            <a:ext cx="9144000" cy="573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8404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93DB4-5F2C-21D8-D2F9-95BA0EE40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9831C-D6FD-FD01-A0F9-E7309CA95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947057"/>
          </a:xfrm>
        </p:spPr>
        <p:txBody>
          <a:bodyPr/>
          <a:lstStyle/>
          <a:p>
            <a:r>
              <a:rPr lang="es-MX" dirty="0"/>
              <a:t>Argumentos Analógicos</a:t>
            </a:r>
            <a:endParaRPr lang="es-P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4DC060-7ADF-9FD0-B481-C555153A9F12}"/>
              </a:ext>
            </a:extLst>
          </p:cNvPr>
          <p:cNvSpPr txBox="1"/>
          <p:nvPr/>
        </p:nvSpPr>
        <p:spPr>
          <a:xfrm>
            <a:off x="3314700" y="1681843"/>
            <a:ext cx="59436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Timón es a coche como mango es a __________</a:t>
            </a:r>
          </a:p>
          <a:p>
            <a:endParaRPr lang="es-MX" dirty="0"/>
          </a:p>
          <a:p>
            <a:r>
              <a:rPr lang="es-MX" dirty="0"/>
              <a:t>Calcetín es a pie como guante es a __________</a:t>
            </a:r>
          </a:p>
          <a:p>
            <a:endParaRPr lang="es-MX" dirty="0"/>
          </a:p>
          <a:p>
            <a:r>
              <a:rPr lang="es-MX" dirty="0"/>
              <a:t>Serrucho es a carpintero como peine a __________</a:t>
            </a:r>
          </a:p>
          <a:p>
            <a:endParaRPr lang="es-MX" dirty="0"/>
          </a:p>
          <a:p>
            <a:r>
              <a:rPr lang="es-MX" dirty="0"/>
              <a:t>Naranja es a zumo como huevo es a __________</a:t>
            </a:r>
          </a:p>
          <a:p>
            <a:endParaRPr lang="es-MX" dirty="0"/>
          </a:p>
          <a:p>
            <a:r>
              <a:rPr lang="es-PE" dirty="0"/>
              <a:t>Ladrar es a perro como maullar es a </a:t>
            </a:r>
            <a:r>
              <a:rPr lang="es-MX" dirty="0"/>
              <a:t>__________</a:t>
            </a:r>
          </a:p>
          <a:p>
            <a:endParaRPr lang="es-MX" dirty="0"/>
          </a:p>
          <a:p>
            <a:r>
              <a:rPr lang="es-MX" dirty="0"/>
              <a:t>Profesor es a colegio como médico a __________</a:t>
            </a:r>
          </a:p>
          <a:p>
            <a:endParaRPr lang="es-MX" dirty="0"/>
          </a:p>
          <a:p>
            <a:r>
              <a:rPr lang="es-MX" dirty="0"/>
              <a:t>Cristal es a ventana como madera es a __________</a:t>
            </a:r>
          </a:p>
          <a:p>
            <a:endParaRPr lang="es-MX" dirty="0"/>
          </a:p>
          <a:p>
            <a:r>
              <a:rPr lang="es-MX" dirty="0"/>
              <a:t>Chupete es a bebé como bastón es a __________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0845882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633D8-2265-4C45-FD2B-C35AA715B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AF72C-B588-26C7-A6C8-33AD513739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947057"/>
          </a:xfrm>
        </p:spPr>
        <p:txBody>
          <a:bodyPr/>
          <a:lstStyle/>
          <a:p>
            <a:r>
              <a:rPr lang="es-MX" dirty="0"/>
              <a:t>Argumentos Analógicos</a:t>
            </a:r>
            <a:endParaRPr lang="es-P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657071-D333-CAEA-D2EB-A69F4F6EADDF}"/>
              </a:ext>
            </a:extLst>
          </p:cNvPr>
          <p:cNvSpPr txBox="1"/>
          <p:nvPr/>
        </p:nvSpPr>
        <p:spPr>
          <a:xfrm>
            <a:off x="1156607" y="1697227"/>
            <a:ext cx="987878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b="0" i="0" dirty="0">
                <a:solidFill>
                  <a:srgbClr val="000000"/>
                </a:solidFill>
                <a:effectLst/>
                <a:latin typeface="ProximaNova"/>
              </a:rPr>
              <a:t>Esteban, Pedro y Juan estudiaron derecho; Esteban y Pedro son buenos abogados; por lo tanto, Juan debe ser un buen abogado.</a:t>
            </a:r>
          </a:p>
          <a:p>
            <a:pPr algn="l"/>
            <a:endParaRPr lang="es-MX" b="0" i="0" dirty="0">
              <a:solidFill>
                <a:srgbClr val="000000"/>
              </a:solidFill>
              <a:effectLst/>
              <a:latin typeface="ProximaNova"/>
            </a:endParaRPr>
          </a:p>
          <a:p>
            <a:pPr algn="l"/>
            <a:r>
              <a:rPr lang="es-MX" b="0" i="0" dirty="0">
                <a:solidFill>
                  <a:srgbClr val="000000"/>
                </a:solidFill>
                <a:effectLst/>
                <a:latin typeface="ProximaNova"/>
              </a:rPr>
              <a:t>El rojo, el celeste y el violeta combinan con el negro; el rojo y el celeste combinan con el blanco; por lo tanto, el violeta debe combinar con el blanco.</a:t>
            </a:r>
          </a:p>
          <a:p>
            <a:pPr algn="l"/>
            <a:endParaRPr lang="es-MX" b="0" i="0" dirty="0">
              <a:solidFill>
                <a:srgbClr val="000000"/>
              </a:solidFill>
              <a:effectLst/>
              <a:latin typeface="ProximaNova"/>
            </a:endParaRPr>
          </a:p>
          <a:p>
            <a:pPr algn="l"/>
            <a:r>
              <a:rPr lang="es-MX" b="0" i="0" dirty="0">
                <a:solidFill>
                  <a:srgbClr val="000000"/>
                </a:solidFill>
                <a:effectLst/>
                <a:latin typeface="ProximaNova"/>
              </a:rPr>
              <a:t>Julio y Gabriel juegan muy bien al ajedrez; Julio sabe mucho de matemática; por eso, es probable que Gabriel sepa mucho de matemática.</a:t>
            </a:r>
          </a:p>
          <a:p>
            <a:pPr algn="l"/>
            <a:endParaRPr lang="es-MX" b="0" i="0" dirty="0">
              <a:solidFill>
                <a:srgbClr val="000000"/>
              </a:solidFill>
              <a:effectLst/>
              <a:latin typeface="ProximaNova"/>
            </a:endParaRPr>
          </a:p>
          <a:p>
            <a:pPr algn="l"/>
            <a:r>
              <a:rPr lang="es-MX" b="0" i="0" dirty="0">
                <a:solidFill>
                  <a:srgbClr val="000000"/>
                </a:solidFill>
                <a:effectLst/>
                <a:latin typeface="ProximaNova"/>
              </a:rPr>
              <a:t>El subte y el avión son más rápidos que el autobús; el subte es más rápido que un auto; por lo tanto, es probable que el avión sea más rápido que un auto.</a:t>
            </a:r>
          </a:p>
          <a:p>
            <a:pPr algn="l"/>
            <a:endParaRPr lang="es-MX" b="0" i="0" dirty="0">
              <a:solidFill>
                <a:srgbClr val="000000"/>
              </a:solidFill>
              <a:effectLst/>
              <a:latin typeface="ProximaNova"/>
            </a:endParaRPr>
          </a:p>
          <a:p>
            <a:pPr algn="l"/>
            <a:r>
              <a:rPr lang="es-MX" b="0" i="0" dirty="0">
                <a:solidFill>
                  <a:srgbClr val="000000"/>
                </a:solidFill>
                <a:effectLst/>
                <a:latin typeface="ProximaNova"/>
              </a:rPr>
              <a:t>El pan y la pasta se hacen con harina; el pan es una comida salada; por lo tanto, es probable que la pasta sea una comida salada.</a:t>
            </a:r>
          </a:p>
        </p:txBody>
      </p:sp>
    </p:spTree>
    <p:extLst>
      <p:ext uri="{BB962C8B-B14F-4D97-AF65-F5344CB8AC3E}">
        <p14:creationId xmlns:p14="http://schemas.microsoft.com/office/powerpoint/2010/main" val="29975689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67992-F0AF-8CE0-92B3-ACCEBEE9B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9654B-3B83-90D3-54D1-A606F01F7A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947057"/>
          </a:xfrm>
        </p:spPr>
        <p:txBody>
          <a:bodyPr/>
          <a:lstStyle/>
          <a:p>
            <a:r>
              <a:rPr lang="es-MX" dirty="0"/>
              <a:t>Argumentos Analógicos</a:t>
            </a:r>
            <a:endParaRPr lang="es-P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B18B7F-5DFA-0B1E-BB83-D5F93C96D263}"/>
              </a:ext>
            </a:extLst>
          </p:cNvPr>
          <p:cNvSpPr txBox="1"/>
          <p:nvPr/>
        </p:nvSpPr>
        <p:spPr>
          <a:xfrm>
            <a:off x="1306286" y="1501284"/>
            <a:ext cx="936171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Zeus, Hera y Apolo son dioses griegos; Zeus y Hera son seres mitológicos; por lo tanto, Apolo también debe ser un ser mitológico.</a:t>
            </a:r>
          </a:p>
          <a:p>
            <a:endParaRPr lang="es-MX" dirty="0"/>
          </a:p>
          <a:p>
            <a:r>
              <a:rPr lang="es-MX" dirty="0"/>
              <a:t>Todos en esa familia son buenos músicos; entonces, Pedro, el hijo menor, también debe ser un buen músico.</a:t>
            </a:r>
          </a:p>
          <a:p>
            <a:endParaRPr lang="es-MX" dirty="0"/>
          </a:p>
          <a:p>
            <a:r>
              <a:rPr lang="es-MX" dirty="0"/>
              <a:t>Sofía e Ignacio son muy buenos en matemática; Sofía es muy buena en física; entonces, Ignacio probablemente sea bueno en física.</a:t>
            </a:r>
          </a:p>
          <a:p>
            <a:endParaRPr lang="es-MX" dirty="0"/>
          </a:p>
          <a:p>
            <a:r>
              <a:rPr lang="es-MX" dirty="0"/>
              <a:t>Carolina y Sergio son buenos cocineros; Carolina es muy buena en pastelería; por lo tanto, Sergio debe ser muy bueno en pastelería.</a:t>
            </a:r>
          </a:p>
          <a:p>
            <a:endParaRPr lang="es-MX" dirty="0"/>
          </a:p>
          <a:p>
            <a:r>
              <a:rPr lang="es-MX" dirty="0"/>
              <a:t>Juan y Manuel son muy buenos tocando la guitarra; Juan es muy bueno tocando el bajo; por lo tanto, Manuel probablemente sea bueno tocando el bajo.</a:t>
            </a:r>
          </a:p>
        </p:txBody>
      </p:sp>
    </p:spTree>
    <p:extLst>
      <p:ext uri="{BB962C8B-B14F-4D97-AF65-F5344CB8AC3E}">
        <p14:creationId xmlns:p14="http://schemas.microsoft.com/office/powerpoint/2010/main" val="23568637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0A25B-3E10-BA16-356B-71E72F0AF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97222-D5E5-C927-3481-53C8622E57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947057"/>
          </a:xfrm>
        </p:spPr>
        <p:txBody>
          <a:bodyPr/>
          <a:lstStyle/>
          <a:p>
            <a:r>
              <a:rPr lang="es-MX" dirty="0"/>
              <a:t>Argumentos Analógicos</a:t>
            </a:r>
            <a:endParaRPr lang="es-P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24876F-6E19-A18A-68F7-F1C43A623E45}"/>
              </a:ext>
            </a:extLst>
          </p:cNvPr>
          <p:cNvSpPr txBox="1"/>
          <p:nvPr/>
        </p:nvSpPr>
        <p:spPr>
          <a:xfrm>
            <a:off x="1129393" y="1664569"/>
            <a:ext cx="993321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La crema con queso y la crema con pimienta se cocinan por la misma cantidad de tiempo; la crema con queso se puede servir fría; por ende, la crema con pimienta probablemente se pueda servir fría.</a:t>
            </a:r>
          </a:p>
          <a:p>
            <a:endParaRPr lang="es-MX" dirty="0"/>
          </a:p>
          <a:p>
            <a:r>
              <a:rPr lang="es-MX" dirty="0"/>
              <a:t>El cemento y el ladrillo son materiales de construcción; el cemento es un buen aislante térmico; por lo tanto, el ladrillo debe ser un buen aislante térmico.</a:t>
            </a:r>
          </a:p>
          <a:p>
            <a:endParaRPr lang="es-MX" dirty="0"/>
          </a:p>
          <a:p>
            <a:r>
              <a:rPr lang="es-MX" dirty="0"/>
              <a:t>París y Londres son ciudades europeas; París es una ciudad antigua; por lo tanto, Londres probablemente sea una ciudad antigua.</a:t>
            </a:r>
          </a:p>
          <a:p>
            <a:endParaRPr lang="es-MX" dirty="0"/>
          </a:p>
          <a:p>
            <a:r>
              <a:rPr lang="es-MX" dirty="0"/>
              <a:t>En Estados Unidos y en México era de día hace una hora; en Estados Unidos ahora es de noche; por lo tanto, en México ahora debe ser de noche.</a:t>
            </a:r>
          </a:p>
          <a:p>
            <a:endParaRPr lang="es-MX" dirty="0"/>
          </a:p>
          <a:p>
            <a:r>
              <a:rPr lang="es-MX" dirty="0"/>
              <a:t>Daniela y Jimena son buenas escaladoras; Daniela es buena montañista; por lo tanto, Jimena probablemente sea buena montañista.</a:t>
            </a:r>
          </a:p>
        </p:txBody>
      </p:sp>
    </p:spTree>
    <p:extLst>
      <p:ext uri="{BB962C8B-B14F-4D97-AF65-F5344CB8AC3E}">
        <p14:creationId xmlns:p14="http://schemas.microsoft.com/office/powerpoint/2010/main" val="13569913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AFDF9-3C90-2B42-B66E-776BA7C24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70275-2595-F8A1-754D-D71DD2C7BE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947057"/>
          </a:xfrm>
        </p:spPr>
        <p:txBody>
          <a:bodyPr/>
          <a:lstStyle/>
          <a:p>
            <a:r>
              <a:rPr lang="es-MX" dirty="0"/>
              <a:t>Argumentos Analógicos</a:t>
            </a:r>
            <a:endParaRPr lang="es-P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7E1868-EEB3-5BF0-DF65-2B2B4C65474D}"/>
              </a:ext>
            </a:extLst>
          </p:cNvPr>
          <p:cNvSpPr txBox="1"/>
          <p:nvPr/>
        </p:nvSpPr>
        <p:spPr>
          <a:xfrm>
            <a:off x="816429" y="1452298"/>
            <a:ext cx="1025434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Gabriel y Dalma son muy deportistas; Gabriel tiene un buen estado de salud; por lo tanto, es probable que Dalma tenga un buen estado de salud.</a:t>
            </a:r>
          </a:p>
          <a:p>
            <a:endParaRPr lang="es-MX" dirty="0"/>
          </a:p>
          <a:p>
            <a:r>
              <a:rPr lang="es-MX" dirty="0"/>
              <a:t>Un rascacielos y un edificio son más altos que un centro comercial; un rascacielos es más alto que una casa; por lo tanto, es probable que un edificio sea más alto que una casa.</a:t>
            </a:r>
          </a:p>
          <a:p>
            <a:endParaRPr lang="es-MX" dirty="0"/>
          </a:p>
          <a:p>
            <a:r>
              <a:rPr lang="es-MX" dirty="0"/>
              <a:t>Ernesto y Matías tienen, cada uno, un perro; Ernesto tiene un gato; por lo tanto, es probable que Matías tenga un gato.</a:t>
            </a:r>
          </a:p>
          <a:p>
            <a:endParaRPr lang="es-MX" dirty="0"/>
          </a:p>
          <a:p>
            <a:r>
              <a:rPr lang="es-MX" dirty="0"/>
              <a:t>Chile y Argentina son países latinoamericanos; en Chile se habla español; por lo tanto, es probable que en Argentina se hable español.</a:t>
            </a:r>
          </a:p>
          <a:p>
            <a:endParaRPr lang="es-MX" dirty="0"/>
          </a:p>
          <a:p>
            <a:r>
              <a:rPr lang="es-MX" dirty="0"/>
              <a:t>La crema y la manteca son lácteos; la crema se puede batir; por lo tanto, es probable que la manteca se pueda batir.</a:t>
            </a:r>
          </a:p>
        </p:txBody>
      </p:sp>
    </p:spTree>
    <p:extLst>
      <p:ext uri="{BB962C8B-B14F-4D97-AF65-F5344CB8AC3E}">
        <p14:creationId xmlns:p14="http://schemas.microsoft.com/office/powerpoint/2010/main" val="31996424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2D953-F862-65A7-143C-09E066F21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EBB02-570F-34E5-6ADD-D90047D490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947057"/>
          </a:xfrm>
        </p:spPr>
        <p:txBody>
          <a:bodyPr/>
          <a:lstStyle/>
          <a:p>
            <a:r>
              <a:rPr lang="es-MX" dirty="0"/>
              <a:t>Argumentos Analógicos</a:t>
            </a:r>
            <a:endParaRPr lang="es-P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57FCFF-8352-7B99-00AC-1011B9EAB14C}"/>
              </a:ext>
            </a:extLst>
          </p:cNvPr>
          <p:cNvSpPr txBox="1"/>
          <p:nvPr/>
        </p:nvSpPr>
        <p:spPr>
          <a:xfrm>
            <a:off x="1028699" y="1452298"/>
            <a:ext cx="986245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Ana y Estela vendieron muchos libros; Ana es muy buena escritora; por lo tanto, es probable que Estela sea buena escritora.</a:t>
            </a:r>
          </a:p>
          <a:p>
            <a:endParaRPr lang="es-MX" dirty="0"/>
          </a:p>
          <a:p>
            <a:r>
              <a:rPr lang="es-MX" dirty="0"/>
              <a:t>Santiago, Micaela y Sonia juegan muy bien al fútbol; Santiago y Micaela juegan muy bien al baloncesto; por lo tanto, es probable que Sonia juegue muy bien al baloncesto.</a:t>
            </a:r>
          </a:p>
          <a:p>
            <a:endParaRPr lang="es-MX" dirty="0"/>
          </a:p>
          <a:p>
            <a:r>
              <a:rPr lang="es-MX" dirty="0"/>
              <a:t>Fabio y Damián saben mucho de economía; Fabio sabe mucho de política; por lo tanto, es probable que Damián sepa mucho de política.</a:t>
            </a:r>
          </a:p>
          <a:p>
            <a:endParaRPr lang="es-MX" dirty="0"/>
          </a:p>
          <a:p>
            <a:r>
              <a:rPr lang="es-MX" dirty="0"/>
              <a:t>Guillermo y Facundo son bibliotecarios; Guillermo lee mucho; por lo tanto, es probable que Facundo lea mucho.</a:t>
            </a:r>
          </a:p>
          <a:p>
            <a:endParaRPr lang="es-MX" dirty="0"/>
          </a:p>
          <a:p>
            <a:r>
              <a:rPr lang="es-MX" dirty="0"/>
              <a:t>Venezuela y Ecuador son países con climas tropicales; en Venezuela llueve mucho; por lo tanto, es probable que en Ecuador también llueva mucho.</a:t>
            </a:r>
          </a:p>
          <a:p>
            <a:br>
              <a:rPr lang="es-MX" dirty="0"/>
            </a:br>
            <a:endParaRPr lang="es-MX" b="0" i="0" dirty="0">
              <a:solidFill>
                <a:srgbClr val="000000"/>
              </a:solidFill>
              <a:effectLst/>
              <a:latin typeface="ProximaNova"/>
            </a:endParaRPr>
          </a:p>
        </p:txBody>
      </p:sp>
    </p:spTree>
    <p:extLst>
      <p:ext uri="{BB962C8B-B14F-4D97-AF65-F5344CB8AC3E}">
        <p14:creationId xmlns:p14="http://schemas.microsoft.com/office/powerpoint/2010/main" val="6870491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64076-BCC4-BDBD-2D6A-5C59A51EF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Algunas Fuentes revisadas</a:t>
            </a:r>
            <a:endParaRPr lang="es-P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2E492-D62B-CF7F-F160-FA4DD20B6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Material del </a:t>
            </a:r>
            <a:r>
              <a:rPr lang="es-MX" dirty="0" err="1"/>
              <a:t>prof.</a:t>
            </a:r>
            <a:r>
              <a:rPr lang="es-MX" dirty="0"/>
              <a:t> Raymond Herrera</a:t>
            </a:r>
          </a:p>
          <a:p>
            <a:r>
              <a:rPr lang="es-MX" dirty="0"/>
              <a:t>Material del </a:t>
            </a:r>
            <a:r>
              <a:rPr lang="es-MX" dirty="0" err="1"/>
              <a:t>prof.</a:t>
            </a:r>
            <a:r>
              <a:rPr lang="es-MX" dirty="0"/>
              <a:t> Dino Hinostroza</a:t>
            </a:r>
          </a:p>
          <a:p>
            <a:r>
              <a:rPr lang="es-PE" dirty="0"/>
              <a:t>Material de Patricia Herrera </a:t>
            </a:r>
            <a:r>
              <a:rPr lang="es-PE" dirty="0">
                <a:hlinkClick r:id="rId2"/>
              </a:rPr>
              <a:t>https://www.youtube.com/watch?v=dicf_kMLSB4&amp;t=23s</a:t>
            </a:r>
            <a:endParaRPr lang="es-PE" dirty="0"/>
          </a:p>
          <a:p>
            <a:r>
              <a:rPr lang="es-PE" dirty="0"/>
              <a:t>Otros varios</a:t>
            </a:r>
          </a:p>
        </p:txBody>
      </p:sp>
    </p:spTree>
    <p:extLst>
      <p:ext uri="{BB962C8B-B14F-4D97-AF65-F5344CB8AC3E}">
        <p14:creationId xmlns:p14="http://schemas.microsoft.com/office/powerpoint/2010/main" val="1847972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1142</Words>
  <Application>Microsoft Office PowerPoint</Application>
  <PresentationFormat>Widescreen</PresentationFormat>
  <Paragraphs>115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Calibri Light</vt:lpstr>
      <vt:lpstr>Figtree</vt:lpstr>
      <vt:lpstr>Google Sans</vt:lpstr>
      <vt:lpstr>ProximaNova</vt:lpstr>
      <vt:lpstr>Office Theme</vt:lpstr>
      <vt:lpstr>Argumentos</vt:lpstr>
      <vt:lpstr>Argumentos</vt:lpstr>
      <vt:lpstr>Argumentos Causales</vt:lpstr>
      <vt:lpstr>Argumentos Causales</vt:lpstr>
      <vt:lpstr>Argumentos Causales</vt:lpstr>
      <vt:lpstr>Argumentos Causales</vt:lpstr>
      <vt:lpstr>Argumentos Causales</vt:lpstr>
      <vt:lpstr>Argumentos Causales</vt:lpstr>
      <vt:lpstr>Argumentos Causales</vt:lpstr>
      <vt:lpstr>Argumentos Causales</vt:lpstr>
      <vt:lpstr>Argumentos Causales</vt:lpstr>
      <vt:lpstr>Argumentos Causales</vt:lpstr>
      <vt:lpstr>Argumentos Causales</vt:lpstr>
      <vt:lpstr>Argumentos Causales</vt:lpstr>
      <vt:lpstr>Argumentos Causales</vt:lpstr>
      <vt:lpstr>Argumentos</vt:lpstr>
      <vt:lpstr>Argumentos Analógicos</vt:lpstr>
      <vt:lpstr>Argumentos Analógicos</vt:lpstr>
      <vt:lpstr>Argumentos Analógicos</vt:lpstr>
      <vt:lpstr>Argumentos Analógicos</vt:lpstr>
      <vt:lpstr>Argumentos Analógicos</vt:lpstr>
      <vt:lpstr>Argumentos Analógicos</vt:lpstr>
      <vt:lpstr>Argumentos Analógicos</vt:lpstr>
      <vt:lpstr>Argumentos Analógicos</vt:lpstr>
      <vt:lpstr>Argumentos Analógicos</vt:lpstr>
      <vt:lpstr>Argumentos Analógicos</vt:lpstr>
      <vt:lpstr>Argumentos Analógicos</vt:lpstr>
      <vt:lpstr>Argumentos Analógicos</vt:lpstr>
      <vt:lpstr>Algunas Fuentes revisadas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F. Garcìa Alcalà</dc:creator>
  <cp:lastModifiedBy>F. Garcìa Alcalà</cp:lastModifiedBy>
  <cp:revision>14</cp:revision>
  <dcterms:created xsi:type="dcterms:W3CDTF">2026-04-20T22:19:23Z</dcterms:created>
  <dcterms:modified xsi:type="dcterms:W3CDTF">2026-04-21T01:04:30Z</dcterms:modified>
</cp:coreProperties>
</file>