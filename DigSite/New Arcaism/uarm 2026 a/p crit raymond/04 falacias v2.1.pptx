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1" r:id="rId2"/>
    <p:sldId id="421" r:id="rId3"/>
    <p:sldId id="422" r:id="rId4"/>
    <p:sldId id="423" r:id="rId5"/>
    <p:sldId id="425" r:id="rId6"/>
    <p:sldId id="424" r:id="rId7"/>
    <p:sldId id="372" r:id="rId8"/>
    <p:sldId id="373" r:id="rId9"/>
    <p:sldId id="374" r:id="rId10"/>
    <p:sldId id="375" r:id="rId11"/>
    <p:sldId id="376" r:id="rId12"/>
    <p:sldId id="377" r:id="rId13"/>
    <p:sldId id="418" r:id="rId14"/>
    <p:sldId id="415" r:id="rId15"/>
    <p:sldId id="380" r:id="rId16"/>
    <p:sldId id="381" r:id="rId17"/>
    <p:sldId id="414" r:id="rId18"/>
    <p:sldId id="383" r:id="rId19"/>
    <p:sldId id="417" r:id="rId20"/>
    <p:sldId id="386" r:id="rId21"/>
    <p:sldId id="387" r:id="rId22"/>
    <p:sldId id="388" r:id="rId23"/>
    <p:sldId id="416" r:id="rId24"/>
    <p:sldId id="411" r:id="rId25"/>
    <p:sldId id="413" r:id="rId26"/>
    <p:sldId id="412" r:id="rId27"/>
    <p:sldId id="426" r:id="rId28"/>
    <p:sldId id="389" r:id="rId29"/>
    <p:sldId id="392" r:id="rId30"/>
    <p:sldId id="390" r:id="rId31"/>
    <p:sldId id="391" r:id="rId32"/>
    <p:sldId id="393" r:id="rId33"/>
    <p:sldId id="394" r:id="rId34"/>
    <p:sldId id="420" r:id="rId35"/>
    <p:sldId id="427" r:id="rId36"/>
    <p:sldId id="428" r:id="rId37"/>
    <p:sldId id="395" r:id="rId38"/>
    <p:sldId id="429" r:id="rId39"/>
    <p:sldId id="396" r:id="rId40"/>
    <p:sldId id="397" r:id="rId41"/>
    <p:sldId id="431" r:id="rId42"/>
    <p:sldId id="430" r:id="rId43"/>
    <p:sldId id="399" r:id="rId44"/>
    <p:sldId id="400" r:id="rId45"/>
    <p:sldId id="401" r:id="rId46"/>
    <p:sldId id="402" r:id="rId47"/>
    <p:sldId id="403" r:id="rId48"/>
    <p:sldId id="404" r:id="rId49"/>
    <p:sldId id="433" r:id="rId50"/>
    <p:sldId id="435" r:id="rId51"/>
    <p:sldId id="434" r:id="rId52"/>
    <p:sldId id="436" r:id="rId53"/>
    <p:sldId id="258" r:id="rId5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. Garcìa Alcalà" initials="FG" lastIdx="1" clrIdx="0">
    <p:extLst>
      <p:ext uri="{19B8F6BF-5375-455C-9EA6-DF929625EA0E}">
        <p15:presenceInfo xmlns:p15="http://schemas.microsoft.com/office/powerpoint/2012/main" userId="3108a74226d351c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11" autoAdjust="0"/>
    <p:restoredTop sz="94660"/>
  </p:normalViewPr>
  <p:slideViewPr>
    <p:cSldViewPr snapToGrid="0">
      <p:cViewPr varScale="1">
        <p:scale>
          <a:sx n="65" d="100"/>
          <a:sy n="65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C3BF3-435F-3D47-6986-641CAE7E4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AC8B9-AD21-4434-43CE-01354F43A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D400-7389-4535-C590-CD03214B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82C50-9B73-4FD2-ABF3-822F99E42149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27A8D-163B-1C59-1282-A7C6FF1F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4B9B0-60C6-CC15-802D-AD6644DF3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CC6D0-A367-4467-ABAB-8AD94578AD10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6194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5303F-16FB-98C7-6493-55038868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C8700-88A5-D6CF-6FB0-6F83E2327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8C841-F226-4D19-7616-5A5E284B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82C50-9B73-4FD2-ABF3-822F99E42149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E2D81-ACED-C8D1-24B9-8FD89162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6469B-E4D7-7176-0210-649C1A5BC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CC6D0-A367-4467-ABAB-8AD94578AD10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08656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47C4E-6B01-E90D-0ED1-7ECFD56D6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3C8A8-CB28-09E9-D26D-D412B757E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A641B-CBA0-BF75-9D4D-6EF8D9C8B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82C50-9B73-4FD2-ABF3-822F99E42149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1515F-562F-BF99-DC71-4C55EA94E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930E7-F500-8F6D-D08D-A05F95A3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CC6D0-A367-4467-ABAB-8AD94578AD10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17377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A9229-11DC-18FA-42B0-C74392B12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3B773-5559-6C04-C213-2E4209C0D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8E3BE-CDF1-C5BA-FA23-73223742E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DC271-2CD3-6192-BE43-390DECF64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82C50-9B73-4FD2-ABF3-822F99E42149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56F49-B07C-5FD4-8342-3B6EA7F20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4B0C0-1DB9-8C11-615C-0004E9126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CC6D0-A367-4467-ABAB-8AD94578AD10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2258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519A5-42EB-DCAD-A2F9-F32EB334E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D1649-CE26-2BA3-66A2-017897A18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18CBF-28EF-262D-3ABB-9D4E4F352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B7CA3-4F76-0806-487C-6738C9669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BA5FC-5CE5-E850-1172-170D9E8E1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81BD3C-4F23-5B98-1116-D6B5AE6B3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82C50-9B73-4FD2-ABF3-822F99E42149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B2F675-826C-3D02-999B-00FB0B28D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98F89B-FDC9-85D0-4F33-475648D6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CC6D0-A367-4467-ABAB-8AD94578AD10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7367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FA14B-08E7-F5A2-885A-C567EB7CC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49B3D5-E286-65DA-83A8-E465EB459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82C50-9B73-4FD2-ABF3-822F99E42149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14DC73-7D4D-BD83-10B0-E6AEAF836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3ECF27-3CEA-6468-C3A1-83DBBE6B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CC6D0-A367-4467-ABAB-8AD94578AD10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7837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35058B-A291-C3DA-40B6-964519D5D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82C50-9B73-4FD2-ABF3-822F99E42149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645A7D-E04C-33AF-0CEC-9DC9BFA7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0226B-FFEB-30E9-6665-4CDB37AF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CC6D0-A367-4467-ABAB-8AD94578AD10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66666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4DF16-0F34-B4E1-5805-BAB8EA90A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7A1FD-DB56-1949-C7DA-8DFECE833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213F6-6291-53D4-0DCD-E8790B1BC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CB6D5-3C60-5719-2AE2-606774984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82C50-9B73-4FD2-ABF3-822F99E42149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3C6114-7705-524B-5587-F2E561096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0C3E2-7812-7314-BC7D-4D93B72DA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CC6D0-A367-4467-ABAB-8AD94578AD10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56714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30CE5-1E43-2B62-6356-D9AB82D6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F21DE1-5017-60B5-5466-FFF532753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3A21C-623D-E173-5943-19C497828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5CB9D-AEF8-E072-59A2-DEE4596C7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82C50-9B73-4FD2-ABF3-822F99E42149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52F4E-AB98-BEB1-9CC8-AC8EB9FB1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73E0E-EFB6-00DD-6597-9FA2EA3B3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CC6D0-A367-4467-ABAB-8AD94578AD10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2503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0E1A9-9158-901C-0897-1D8A7B922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58675B-37B2-D93D-363A-C2502D845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01271-B81E-B776-6E8B-BEA95E599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82C50-9B73-4FD2-ABF3-822F99E42149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9BD1B-8727-419D-C074-275B94FF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A194D-6E97-46BA-545D-FFBBE1305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CC6D0-A367-4467-ABAB-8AD94578AD10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24951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6F00F5-59C4-E1D4-F062-EEC062AC5A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52A9C-DABE-DF33-0C06-28331A27F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5D51D-4A88-737A-268B-4EDD2A9CF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82C50-9B73-4FD2-ABF3-822F99E42149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8E88-AFDE-BD82-14D8-858D5379A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5AF0D-B444-61B3-F664-51B6FB2B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CC6D0-A367-4467-ABAB-8AD94578AD10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61939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33E13-4935-AC7E-C48D-9F7F99C8D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D717D-47CB-259B-5DD3-FB88B4203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675B5-F48D-B5F7-73BB-211819D393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82C50-9B73-4FD2-ABF3-822F99E42149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596F7-B2E1-FB27-6D49-38FDDBC4EC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C1BA0-5A08-F7AE-4E34-C1E96B4C2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CC6D0-A367-4467-ABAB-8AD94578AD10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582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_t1f0xa3D0&amp;t=763s" TargetMode="External"/><Relationship Id="rId2" Type="http://schemas.openxmlformats.org/officeDocument/2006/relationships/hyperlink" Target="https://www.youtube.com/watch?v=q3TyIQuyOc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n2uhEJQlD-g&amp;t=530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439A2-67AD-DB86-3354-125BAF682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2F398B-F26C-AE6C-5640-EC6C967BE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245"/>
            <a:ext cx="12192000" cy="68692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D8B516-627A-3424-5D28-60612E62CDDB}"/>
              </a:ext>
            </a:extLst>
          </p:cNvPr>
          <p:cNvSpPr txBox="1"/>
          <p:nvPr/>
        </p:nvSpPr>
        <p:spPr>
          <a:xfrm>
            <a:off x="4923692" y="-11245"/>
            <a:ext cx="375607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0" dirty="0">
                <a:solidFill>
                  <a:srgbClr val="FF0000"/>
                </a:solidFill>
              </a:rPr>
              <a:t>Falacias</a:t>
            </a:r>
          </a:p>
          <a:p>
            <a:endParaRPr lang="es-PE" sz="8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006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731E9-EE15-CC7D-3C6A-371EA9D8E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9394CF-727F-9E8C-5C44-5083EE5C3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1245"/>
            <a:ext cx="12192000" cy="68692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3E061B-9414-02FE-CD54-7D82623F971A}"/>
              </a:ext>
            </a:extLst>
          </p:cNvPr>
          <p:cNvSpPr txBox="1"/>
          <p:nvPr/>
        </p:nvSpPr>
        <p:spPr>
          <a:xfrm>
            <a:off x="4417256" y="0"/>
            <a:ext cx="375607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Falacias</a:t>
            </a:r>
          </a:p>
          <a:p>
            <a:endParaRPr lang="es-PE" sz="8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E1E23-E4BE-DF92-C345-5F5E8B25AF6F}"/>
              </a:ext>
            </a:extLst>
          </p:cNvPr>
          <p:cNvSpPr txBox="1"/>
          <p:nvPr/>
        </p:nvSpPr>
        <p:spPr>
          <a:xfrm>
            <a:off x="388033" y="1505243"/>
            <a:ext cx="11415933" cy="507831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bg1"/>
                </a:solidFill>
              </a:rPr>
              <a:t>Las falacias son razonamientos que parecen válidos pero en realidad son incorrectos.</a:t>
            </a:r>
          </a:p>
          <a:p>
            <a:endParaRPr lang="es-MX" sz="3600" dirty="0">
              <a:solidFill>
                <a:schemeClr val="bg1"/>
              </a:solidFill>
            </a:endParaRPr>
          </a:p>
          <a:p>
            <a:r>
              <a:rPr lang="es-MX" sz="3600" dirty="0">
                <a:solidFill>
                  <a:schemeClr val="bg1"/>
                </a:solidFill>
              </a:rPr>
              <a:t>Se usan mucho en debates, política o publicidad para persuadir sin un uso sólido de la lógica.</a:t>
            </a:r>
          </a:p>
          <a:p>
            <a:endParaRPr lang="es-MX" sz="3600" dirty="0">
              <a:solidFill>
                <a:schemeClr val="bg1"/>
              </a:solidFill>
            </a:endParaRPr>
          </a:p>
          <a:p>
            <a:r>
              <a:rPr lang="es-MX" sz="3600" dirty="0">
                <a:solidFill>
                  <a:schemeClr val="bg1"/>
                </a:solidFill>
              </a:rPr>
              <a:t>Los tipos más importantes incluyen falacias de ataque personal, apelación a la mayoría, generalización apresurada y petición de principio.</a:t>
            </a:r>
            <a:endParaRPr lang="es-PE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535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52E07-2357-D850-8EA6-260F9CE7E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A64E82-50A3-DE6E-79BF-CA9264EE2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1245"/>
            <a:ext cx="12192000" cy="68692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4C0E10-5896-9D5D-9674-2B58CACD0062}"/>
              </a:ext>
            </a:extLst>
          </p:cNvPr>
          <p:cNvSpPr txBox="1"/>
          <p:nvPr/>
        </p:nvSpPr>
        <p:spPr>
          <a:xfrm>
            <a:off x="4417256" y="0"/>
            <a:ext cx="375607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Falacias</a:t>
            </a:r>
          </a:p>
          <a:p>
            <a:endParaRPr lang="es-PE" sz="8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7FEBF-66D6-581D-D73D-87F991133FA0}"/>
              </a:ext>
            </a:extLst>
          </p:cNvPr>
          <p:cNvSpPr txBox="1"/>
          <p:nvPr/>
        </p:nvSpPr>
        <p:spPr>
          <a:xfrm>
            <a:off x="388032" y="1591132"/>
            <a:ext cx="11415933" cy="5016758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4000" dirty="0">
                <a:solidFill>
                  <a:schemeClr val="bg1"/>
                </a:solidFill>
              </a:rPr>
              <a:t>Una falacia es un error en el razonamiento que aparenta ser lógico pero no lo es.</a:t>
            </a:r>
          </a:p>
          <a:p>
            <a:endParaRPr lang="es-MX" sz="4000" dirty="0">
              <a:solidFill>
                <a:schemeClr val="bg1"/>
              </a:solidFill>
            </a:endParaRPr>
          </a:p>
          <a:p>
            <a:r>
              <a:rPr lang="es-MX" sz="4000" dirty="0">
                <a:solidFill>
                  <a:schemeClr val="bg1"/>
                </a:solidFill>
              </a:rPr>
              <a:t>Aristóteles fue uno de los primeros en clasificarlas, y hoy existen decenas de tipos.</a:t>
            </a:r>
          </a:p>
          <a:p>
            <a:endParaRPr lang="es-MX" sz="4000" dirty="0">
              <a:solidFill>
                <a:schemeClr val="bg1"/>
              </a:solidFill>
            </a:endParaRPr>
          </a:p>
          <a:p>
            <a:r>
              <a:rPr lang="es-MX" sz="4000" dirty="0">
                <a:solidFill>
                  <a:schemeClr val="bg1"/>
                </a:solidFill>
              </a:rPr>
              <a:t>Pueden ser intencionales (sofismas, para manipular) o no intencionales (paralogismos, por error)</a:t>
            </a:r>
          </a:p>
        </p:txBody>
      </p:sp>
    </p:spTree>
    <p:extLst>
      <p:ext uri="{BB962C8B-B14F-4D97-AF65-F5344CB8AC3E}">
        <p14:creationId xmlns:p14="http://schemas.microsoft.com/office/powerpoint/2010/main" val="274660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04572-FDFD-1BC6-5E4C-F59A44A0E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12805B-6ABC-CBAE-A2A2-2A550B508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1245"/>
            <a:ext cx="12192000" cy="68692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7CC1AA-9AE7-3489-1091-FB442468F562}"/>
              </a:ext>
            </a:extLst>
          </p:cNvPr>
          <p:cNvSpPr txBox="1"/>
          <p:nvPr/>
        </p:nvSpPr>
        <p:spPr>
          <a:xfrm>
            <a:off x="4417256" y="0"/>
            <a:ext cx="375607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Falacias</a:t>
            </a:r>
          </a:p>
          <a:p>
            <a:endParaRPr lang="es-PE" sz="8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CD21C6-3046-B235-2E11-710E02E4E10A}"/>
              </a:ext>
            </a:extLst>
          </p:cNvPr>
          <p:cNvSpPr txBox="1"/>
          <p:nvPr/>
        </p:nvSpPr>
        <p:spPr>
          <a:xfrm>
            <a:off x="634802" y="1643031"/>
            <a:ext cx="10922393" cy="507831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3600" b="1" dirty="0">
                <a:solidFill>
                  <a:schemeClr val="bg1"/>
                </a:solidFill>
              </a:rPr>
              <a:t>En política:</a:t>
            </a:r>
            <a:r>
              <a:rPr lang="es-MX" sz="3600" dirty="0">
                <a:solidFill>
                  <a:schemeClr val="bg1"/>
                </a:solidFill>
              </a:rPr>
              <a:t> Se usan para manipular emociones y desviar la atención de los hechos.</a:t>
            </a:r>
          </a:p>
          <a:p>
            <a:endParaRPr lang="es-MX" sz="3600" dirty="0">
              <a:solidFill>
                <a:schemeClr val="bg1"/>
              </a:solidFill>
            </a:endParaRPr>
          </a:p>
          <a:p>
            <a:r>
              <a:rPr lang="es-MX" sz="3600" b="1" dirty="0">
                <a:solidFill>
                  <a:schemeClr val="bg1"/>
                </a:solidFill>
              </a:rPr>
              <a:t>En debates cotidianos:</a:t>
            </a:r>
            <a:r>
              <a:rPr lang="es-MX" sz="3600" dirty="0">
                <a:solidFill>
                  <a:schemeClr val="bg1"/>
                </a:solidFill>
              </a:rPr>
              <a:t> Pueden sonar convincentes y confundir, por eso es clave reconocerlas.</a:t>
            </a:r>
          </a:p>
          <a:p>
            <a:endParaRPr lang="es-MX" sz="3600" dirty="0">
              <a:solidFill>
                <a:schemeClr val="bg1"/>
              </a:solidFill>
            </a:endParaRPr>
          </a:p>
          <a:p>
            <a:r>
              <a:rPr lang="es-MX" sz="3600" b="1" dirty="0">
                <a:solidFill>
                  <a:schemeClr val="bg1"/>
                </a:solidFill>
              </a:rPr>
              <a:t>En ciencia y filosofía:</a:t>
            </a:r>
            <a:r>
              <a:rPr lang="es-MX" sz="3600" dirty="0">
                <a:solidFill>
                  <a:schemeClr val="bg1"/>
                </a:solidFill>
              </a:rPr>
              <a:t> Identificarlas ayuda a mantener la rigurosidad lógica y evitar conclusiones engañosas.</a:t>
            </a:r>
          </a:p>
          <a:p>
            <a:endParaRPr lang="es-MX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623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A6728-EDEF-EECC-B0DB-D0AFAD1D3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B0BDEC-2F83-AAB9-0DCE-2E07742C2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1245"/>
            <a:ext cx="12192000" cy="68692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ADAFC6-2395-A9FB-1BC2-DC41ADE9CABC}"/>
              </a:ext>
            </a:extLst>
          </p:cNvPr>
          <p:cNvSpPr txBox="1"/>
          <p:nvPr/>
        </p:nvSpPr>
        <p:spPr>
          <a:xfrm>
            <a:off x="4417256" y="0"/>
            <a:ext cx="375607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Falacias</a:t>
            </a:r>
          </a:p>
          <a:p>
            <a:endParaRPr lang="es-PE" sz="8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5F22BE-18E9-29E7-7A44-8AF70BB744FB}"/>
              </a:ext>
            </a:extLst>
          </p:cNvPr>
          <p:cNvSpPr txBox="1"/>
          <p:nvPr/>
        </p:nvSpPr>
        <p:spPr>
          <a:xfrm>
            <a:off x="634802" y="1643031"/>
            <a:ext cx="10922393" cy="4708981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4800" dirty="0">
                <a:solidFill>
                  <a:schemeClr val="bg1"/>
                </a:solidFill>
              </a:rPr>
              <a:t>Las falacias son trampas del razonamiento que afectan nuestra capacidad crítica. </a:t>
            </a:r>
          </a:p>
          <a:p>
            <a:endParaRPr lang="es-MX" sz="6000" dirty="0">
              <a:solidFill>
                <a:schemeClr val="bg1"/>
              </a:solidFill>
            </a:endParaRPr>
          </a:p>
          <a:p>
            <a:r>
              <a:rPr lang="es-MX" sz="4800" dirty="0">
                <a:solidFill>
                  <a:schemeClr val="bg1"/>
                </a:solidFill>
              </a:rPr>
              <a:t>Aprender a detectarlas fortalece el pensamiento crítico y nos protege de la manipulación.</a:t>
            </a:r>
          </a:p>
        </p:txBody>
      </p:sp>
    </p:spTree>
    <p:extLst>
      <p:ext uri="{BB962C8B-B14F-4D97-AF65-F5344CB8AC3E}">
        <p14:creationId xmlns:p14="http://schemas.microsoft.com/office/powerpoint/2010/main" val="3182794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1683-AE90-B1D1-9605-AB351CE0A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7B1B02-D7A6-B565-900B-0D98BB32F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1245"/>
            <a:ext cx="12192000" cy="686924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92EDC5-249B-C9C7-AD08-EF7B9DB45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582035"/>
              </p:ext>
            </p:extLst>
          </p:nvPr>
        </p:nvGraphicFramePr>
        <p:xfrm>
          <a:off x="0" y="0"/>
          <a:ext cx="12192000" cy="6858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68403760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8052940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06294892"/>
                    </a:ext>
                  </a:extLst>
                </a:gridCol>
              </a:tblGrid>
              <a:tr h="733027">
                <a:tc>
                  <a:txBody>
                    <a:bodyPr/>
                    <a:lstStyle/>
                    <a:p>
                      <a:pPr algn="ctr"/>
                      <a:r>
                        <a:rPr lang="es-MX" sz="2400" u="sng" dirty="0">
                          <a:solidFill>
                            <a:srgbClr val="FF0000"/>
                          </a:solidFill>
                        </a:rPr>
                        <a:t>Falacias</a:t>
                      </a:r>
                      <a:endParaRPr lang="es-PE" sz="2400" u="sng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u="sng" dirty="0">
                          <a:solidFill>
                            <a:srgbClr val="FF0000"/>
                          </a:solidFill>
                        </a:rPr>
                        <a:t>Definición</a:t>
                      </a:r>
                      <a:endParaRPr lang="es-PE" sz="2400" u="sng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u="sng" dirty="0">
                          <a:solidFill>
                            <a:srgbClr val="FF0000"/>
                          </a:solidFill>
                        </a:rPr>
                        <a:t>Ejemplo</a:t>
                      </a:r>
                      <a:endParaRPr lang="es-PE" sz="2400" u="sng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28053"/>
                  </a:ext>
                </a:extLst>
              </a:tr>
              <a:tr h="827086">
                <a:tc>
                  <a:txBody>
                    <a:bodyPr/>
                    <a:lstStyle/>
                    <a:p>
                      <a:r>
                        <a:rPr lang="es-PE" sz="2000" b="1" dirty="0"/>
                        <a:t>Ad hominem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Atacar a la persona en lugar del argumento.</a:t>
                      </a:r>
                      <a:endParaRPr lang="es-P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“No escuches a Juan sobre economía, ni siquiera terminó la universidad.”</a:t>
                      </a:r>
                      <a:endParaRPr lang="es-P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011176"/>
                  </a:ext>
                </a:extLst>
              </a:tr>
              <a:tr h="827086">
                <a:tc>
                  <a:txBody>
                    <a:bodyPr/>
                    <a:lstStyle/>
                    <a:p>
                      <a:r>
                        <a:rPr lang="es-MX" sz="2000" b="1" dirty="0"/>
                        <a:t>Ad </a:t>
                      </a:r>
                      <a:r>
                        <a:rPr lang="es-MX" sz="2000" b="1" dirty="0" err="1"/>
                        <a:t>populum</a:t>
                      </a:r>
                      <a:r>
                        <a:rPr lang="es-MX" sz="2000" b="1" dirty="0"/>
                        <a:t> </a:t>
                      </a:r>
                      <a:r>
                        <a:rPr lang="es-MX" sz="2000" dirty="0"/>
                        <a:t>(apelación a la mayoría)</a:t>
                      </a:r>
                      <a:endParaRPr lang="es-P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Se afirma que algo es cierto porque mucha gente lo cree.</a:t>
                      </a:r>
                      <a:endParaRPr lang="es-P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000" dirty="0"/>
                        <a:t>“Todos piensan que este candidato es honesto, así que debe serlo.”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803678"/>
                  </a:ext>
                </a:extLst>
              </a:tr>
              <a:tr h="827086">
                <a:tc>
                  <a:txBody>
                    <a:bodyPr/>
                    <a:lstStyle/>
                    <a:p>
                      <a:r>
                        <a:rPr lang="es-PE" sz="2000" b="1" dirty="0"/>
                        <a:t>Generalización apresurada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2000" dirty="0"/>
                        <a:t>Concluir a partir de pocos casos.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“Conocí a dos políticos corruptos, por lo tanto todos los políticos lo son.”</a:t>
                      </a:r>
                      <a:endParaRPr lang="es-P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247853"/>
                  </a:ext>
                </a:extLst>
              </a:tr>
              <a:tr h="1162459">
                <a:tc>
                  <a:txBody>
                    <a:bodyPr/>
                    <a:lstStyle/>
                    <a:p>
                      <a:r>
                        <a:rPr lang="es-PE" sz="2000" b="1" dirty="0"/>
                        <a:t>Petición de principio </a:t>
                      </a:r>
                      <a:r>
                        <a:rPr lang="es-PE" sz="2000" dirty="0"/>
                        <a:t>(circular)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La conclusión se repite en las premisas.</a:t>
                      </a:r>
                      <a:endParaRPr lang="es-P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000" dirty="0"/>
                        <a:t>“Dios existe porque la Biblia lo dice, y la Biblia es verdadera porque es palabra de Dios.”</a:t>
                      </a:r>
                      <a:endParaRPr lang="es-P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0272"/>
                  </a:ext>
                </a:extLst>
              </a:tr>
              <a:tr h="827086">
                <a:tc>
                  <a:txBody>
                    <a:bodyPr/>
                    <a:lstStyle/>
                    <a:p>
                      <a:r>
                        <a:rPr lang="es-PE" sz="2000" b="1" dirty="0"/>
                        <a:t>Falsa causa </a:t>
                      </a:r>
                      <a:r>
                        <a:rPr lang="es-PE" sz="2000" dirty="0"/>
                        <a:t>(post hoc)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Se atribuye una relación causal sin pruebas.</a:t>
                      </a:r>
                      <a:endParaRPr lang="es-P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“Me puse esta pulsera y luego gané el partido, la pulsera me dio suerte.”</a:t>
                      </a:r>
                      <a:endParaRPr lang="es-P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654033"/>
                  </a:ext>
                </a:extLst>
              </a:tr>
              <a:tr h="827086">
                <a:tc>
                  <a:txBody>
                    <a:bodyPr/>
                    <a:lstStyle/>
                    <a:p>
                      <a:r>
                        <a:rPr lang="es-PE" sz="2000" b="1" dirty="0"/>
                        <a:t>Falacia del francotirador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Se seleccionan solo los datos que apoyan la conclusión.</a:t>
                      </a:r>
                      <a:endParaRPr lang="es-P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“De diez predicciones, acerté tres, así que soy un gran adivino.”</a:t>
                      </a:r>
                      <a:endParaRPr lang="es-P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823889"/>
                  </a:ext>
                </a:extLst>
              </a:tr>
              <a:tr h="827086">
                <a:tc>
                  <a:txBody>
                    <a:bodyPr/>
                    <a:lstStyle/>
                    <a:p>
                      <a:r>
                        <a:rPr lang="es-PE" sz="2000" b="1" dirty="0"/>
                        <a:t>Apelación a la autoridad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Se considera verdadero solo porque lo dice alguien con prestigio.</a:t>
                      </a:r>
                      <a:endParaRPr lang="es-P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“Este actor famoso recomienda la dieta, así que debe ser saludable.”</a:t>
                      </a:r>
                      <a:endParaRPr lang="es-P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78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166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4D8ED-CD95-E876-DF3C-1C7CDBFF9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AE27B2-99C7-B6C2-B264-ADF3D2AF3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605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78DE0-BD82-BD4C-C850-3ADA2961E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36138F-D606-01FC-02E6-B7F5751E0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E71CD6-C2DB-F040-4E78-2E84456FC411}"/>
              </a:ext>
            </a:extLst>
          </p:cNvPr>
          <p:cNvSpPr txBox="1"/>
          <p:nvPr/>
        </p:nvSpPr>
        <p:spPr>
          <a:xfrm>
            <a:off x="657727" y="1074821"/>
            <a:ext cx="40586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La </a:t>
            </a:r>
            <a:r>
              <a:rPr lang="es-MX" dirty="0" err="1"/>
              <a:t>inatingencia</a:t>
            </a:r>
            <a:r>
              <a:rPr lang="es-MX" dirty="0"/>
              <a:t> es un criterio de razonamiento verbal utilizado para eliminar oraciones en un texto cuando no guardan relación con el tema central, se desvían de él o contradicen la idea general. Es la falta de atinencia o conexión temática entre un enunciado y el contexto establecido.</a:t>
            </a:r>
            <a:endParaRPr lang="es-P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001E4-626E-37E2-1E82-3AA3CA7C2540}"/>
              </a:ext>
            </a:extLst>
          </p:cNvPr>
          <p:cNvSpPr txBox="1"/>
          <p:nvPr/>
        </p:nvSpPr>
        <p:spPr>
          <a:xfrm>
            <a:off x="7234989" y="1074821"/>
            <a:ext cx="47324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La ambigüedad es la cualidad de una expresión o idea que puede interpretarse de múltiples maneras, generando confusión, duda o incertidumbre. Ocurre cuando el significado correcto no queda claro, ya sea por fallos en la estructura sintáctica, el léxico empleado o el contexto. Se considera un defecto en la comunicación eficaz, aunque a veces es usada intencionalmente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5031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2B691-AED7-304A-9141-29CF32ADA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B88036-4189-C0D2-E976-F540F1E9B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08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DBB4D-C755-3A0E-11A9-9157C1902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BEE545-5066-7A8E-61ED-311D40874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76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A170A-70AA-F9CE-B245-E1EFFF2A5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4472A7-21E7-9224-8465-46672A785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416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7451A-9F13-A06F-B2EA-F25E22758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517BEC-21A6-0E38-4D71-7F9762853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224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7F6D8-E4DB-761A-66CC-29D433BAB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1B1F92-30FB-75CA-A6C6-47A78F1F6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7" y="83612"/>
            <a:ext cx="11935326" cy="669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490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BF5EF-852A-7C27-DB21-39AD22A25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D708CE-D404-4AD8-F088-CD2C55A09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457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40667-5743-9AC3-0156-08DF3C0D2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A1462D-F157-B43F-17E6-A22B24882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03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17A55-2300-055F-9C4D-C114538A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3C3447-9F40-F3DE-BB0A-E55978E38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235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598B-304A-BA45-D7D6-BDE8091ED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396E2A-BA94-CDF2-DF7D-19132D386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728"/>
            <a:ext cx="12063663" cy="644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142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506A5-6692-077A-EC28-5D72D8B55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E2FD39-6B2A-7F43-1B69-E8F1F5DEA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89" y="2006516"/>
            <a:ext cx="11151221" cy="24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96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155A7-85B3-9014-8BB2-A64CD734F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D33063-0635-00BB-C0FA-D1E041D07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35773" cy="66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741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70D7-C65C-ACD5-DFB0-9FE6256F9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4BF62A-D73F-D023-5A88-B27F91D09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160" y="223838"/>
            <a:ext cx="6583680" cy="46272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A0ED7B-93B2-2AB4-281A-987B32970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456" y="4851099"/>
            <a:ext cx="521017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6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6EFC0-AD3D-D3D6-F7C4-740DCEF72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515885-8CC6-4BC4-E4DF-A8B137B3C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035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5648C-1C20-316B-24DC-F44C9E930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6D2E7C-9F42-4A2A-12E0-4313D2252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2" y="0"/>
            <a:ext cx="121759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21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E05CB-6EEA-882A-A836-277D18EA8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368822-E30A-FFD3-489F-051EC15D1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96" y="236621"/>
            <a:ext cx="11867607" cy="638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81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4EEC6A-ABD1-C67A-4D3A-853906F4A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254" y="3144069"/>
            <a:ext cx="7135492" cy="33531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A965E5-6C61-01B9-950B-0AE9303D5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61" y="0"/>
            <a:ext cx="11058053" cy="279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23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D37F7-9739-5220-0F81-78337D04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E723EA-8608-88AA-F468-E5271660B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6339"/>
            <a:ext cx="11897641" cy="600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144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6A7B0-2C0F-3B39-4935-FF13040B1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17AEBC-9F0F-BB52-B74B-5AAC765C3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7" y="148389"/>
            <a:ext cx="11935326" cy="656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968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4F2E8-6AA4-25EE-9B47-D14F79908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FC4C57-42B0-6AD0-DF6B-DEEE4F512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8590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2E4EE-AA12-EDB4-4AC1-194648313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EE0345-65F2-09FF-25DE-849B74D2E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2009775"/>
            <a:ext cx="5838825" cy="2838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174F46-E978-0BC0-ADEA-F52F71DB4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229" y="2009775"/>
            <a:ext cx="2905125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80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07666-2675-393E-56CD-03CCC1A9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98FF60-7EDB-59FA-097E-7CE256FE7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870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829D4-4336-85AB-8B51-0BE50AA80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B35058-767A-BA5C-AA7E-8830C47CF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896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2DBE5-A577-5ABF-8355-749AFBF7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B6AFF0-16ED-AC06-78BA-2B9B07F38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906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0E723-BF76-AB04-B7F8-FB20C27EE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2AAF60-7A1E-38FC-A62A-76AFD1C34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7940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D8390-5BA9-376E-3CE5-E368F1F80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68F666-231B-E1BC-CACB-8C69D98BA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2557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5D325-95A0-03F5-3676-7DD7CA5F7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855ED3-2263-A0D3-59A0-5E4D2BD02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074" y="522951"/>
            <a:ext cx="10233851" cy="58120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8EAB18-1F2D-09CB-F8AF-9948E5258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821" y="266449"/>
            <a:ext cx="1152525" cy="178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8880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A0291-EF85-42C6-96BF-A1F9D6C59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Ejercicios dirigidos (ojalá, con tablas aumentadas)</a:t>
            </a:r>
            <a:endParaRPr lang="es-P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CEC740-0B13-DD9B-B9F2-9A2406C7D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84" y="2002004"/>
            <a:ext cx="7984958" cy="431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6210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D44B7-36E7-3B37-B88C-7CF376283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Nivel 1: un esfuerzo conjunto</a:t>
            </a:r>
            <a:endParaRPr lang="es-P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C33898-C887-0829-6F48-FCC576F15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109" y="2376488"/>
            <a:ext cx="5190122" cy="322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6025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11CAE-0F22-AEEF-B111-3D9007AB5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6BB2EB-78D6-5604-0534-7F388CCF9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27" y="178308"/>
            <a:ext cx="10081156" cy="60213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8007E6-CFDE-BA2C-A523-9D6B5AB74952}"/>
              </a:ext>
            </a:extLst>
          </p:cNvPr>
          <p:cNvSpPr/>
          <p:nvPr/>
        </p:nvSpPr>
        <p:spPr>
          <a:xfrm>
            <a:off x="5965657" y="2140905"/>
            <a:ext cx="1755648" cy="347472"/>
          </a:xfrm>
          <a:prstGeom prst="rect">
            <a:avLst/>
          </a:prstGeom>
          <a:solidFill>
            <a:schemeClr val="bg2">
              <a:lumMod val="90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ECDE43-2B9A-308A-8D3A-05A255DAC358}"/>
              </a:ext>
            </a:extLst>
          </p:cNvPr>
          <p:cNvSpPr/>
          <p:nvPr/>
        </p:nvSpPr>
        <p:spPr>
          <a:xfrm>
            <a:off x="6508583" y="2820532"/>
            <a:ext cx="1755648" cy="347472"/>
          </a:xfrm>
          <a:prstGeom prst="rect">
            <a:avLst/>
          </a:prstGeom>
          <a:solidFill>
            <a:schemeClr val="bg2">
              <a:lumMod val="90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C2CB02-0AAA-BA74-DB92-CC34A0BFA6EB}"/>
              </a:ext>
            </a:extLst>
          </p:cNvPr>
          <p:cNvSpPr/>
          <p:nvPr/>
        </p:nvSpPr>
        <p:spPr>
          <a:xfrm>
            <a:off x="3667338" y="3565230"/>
            <a:ext cx="2107819" cy="219692"/>
          </a:xfrm>
          <a:prstGeom prst="rect">
            <a:avLst/>
          </a:prstGeom>
          <a:solidFill>
            <a:schemeClr val="bg2">
              <a:lumMod val="90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15E4A1-3CDF-36BE-8021-DEAD07F4315B}"/>
              </a:ext>
            </a:extLst>
          </p:cNvPr>
          <p:cNvSpPr/>
          <p:nvPr/>
        </p:nvSpPr>
        <p:spPr>
          <a:xfrm>
            <a:off x="4000500" y="4162568"/>
            <a:ext cx="1903805" cy="347472"/>
          </a:xfrm>
          <a:prstGeom prst="rect">
            <a:avLst/>
          </a:prstGeom>
          <a:solidFill>
            <a:schemeClr val="bg2">
              <a:lumMod val="90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67C296-EA72-BDDB-EF87-58D8BE01EAC2}"/>
              </a:ext>
            </a:extLst>
          </p:cNvPr>
          <p:cNvSpPr/>
          <p:nvPr/>
        </p:nvSpPr>
        <p:spPr>
          <a:xfrm>
            <a:off x="1247117" y="4965628"/>
            <a:ext cx="2539637" cy="347472"/>
          </a:xfrm>
          <a:prstGeom prst="rect">
            <a:avLst/>
          </a:prstGeom>
          <a:solidFill>
            <a:schemeClr val="bg2">
              <a:lumMod val="90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Creo que esta mal</a:t>
            </a:r>
            <a:endParaRPr lang="es-P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AE445D-E1A6-1848-388F-2419937EB825}"/>
              </a:ext>
            </a:extLst>
          </p:cNvPr>
          <p:cNvSpPr/>
          <p:nvPr/>
        </p:nvSpPr>
        <p:spPr>
          <a:xfrm>
            <a:off x="3256547" y="5582630"/>
            <a:ext cx="3514417" cy="481286"/>
          </a:xfrm>
          <a:prstGeom prst="rect">
            <a:avLst/>
          </a:prstGeom>
          <a:solidFill>
            <a:schemeClr val="bg2">
              <a:lumMod val="90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786696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0856C-9577-47D8-F3B0-DBEE48E05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5EAF0-F48D-86C5-1477-E5955886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Nivel 2: un repaso rápido</a:t>
            </a:r>
            <a:endParaRPr lang="es-P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FD7377-8363-C789-D947-17D80835D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109" y="2376488"/>
            <a:ext cx="5190122" cy="322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4958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65F91-EBB8-351C-D5A7-06ED2A513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86AA76-340F-6B81-58A0-EFF8365ED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62" y="785812"/>
            <a:ext cx="11638875" cy="473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8268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C137A-EC49-7EE3-F26D-C2B9B5A63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37257E-E541-9B5E-9D7E-1121F33CE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42" y="2184463"/>
            <a:ext cx="11380515" cy="289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245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50816-39E9-9E61-36E8-8B673810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36A418-B95F-0018-8850-552BF3C83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14985"/>
            <a:ext cx="8673652" cy="22099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430210-DD4B-098C-FB49-040BD679B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07606" cy="30149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889AAA-E975-920D-F93D-D4F56C73B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475" y="4604084"/>
            <a:ext cx="6838320" cy="196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953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4605F-A90A-4E59-CBEA-EE6F1EFA7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6BAD-5A93-93A2-BE54-7F11D0BBD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Nivel 3: sin respuestas</a:t>
            </a:r>
            <a:endParaRPr lang="es-P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9EC5A3-3500-942C-117B-9A54187F7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109" y="2376488"/>
            <a:ext cx="5190122" cy="322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6966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E9B0F-AF4F-43CE-472F-2D3BD3237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B41B99-B3F7-01C3-8423-C3CB6A938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909" y="464931"/>
            <a:ext cx="9076182" cy="592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5486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1D3EA-C4A3-6763-62A7-781E747CE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1B043D-C7E9-4EAF-D46B-ED440CD1A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357" y="508571"/>
            <a:ext cx="8761286" cy="584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093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ADC97-A89E-20DB-803C-A4F338232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266CFC-EAD7-DC0B-4F26-3F34D9BC1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333" y="791354"/>
            <a:ext cx="9149334" cy="527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8022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9FC45-A16D-3DF8-DC5E-79C0BAF4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6958BC-C5B6-366E-A792-97B7A5A16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477" y="243722"/>
            <a:ext cx="9127046" cy="637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410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9E577-AB71-9AE8-7E8D-25EC4EC6C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CC97D5-0B8D-825E-08EA-8F14D7884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217" y="429939"/>
            <a:ext cx="9481566" cy="599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020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04472-A24F-2082-5DD0-BE9510BD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0538E3-1203-C371-9525-E84D686CE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821" y="394335"/>
            <a:ext cx="8198358" cy="570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200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D2CAD-0438-E15C-7261-77172EB89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7021E-AC75-E849-F4C1-906A605A0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Nivel 4: más y más ejercicios rápidos</a:t>
            </a:r>
            <a:endParaRPr lang="es-P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55BF1-5A62-446B-F04F-B08A89DA9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109" y="2376488"/>
            <a:ext cx="5190122" cy="322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8549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087C335-3EAC-7F4C-9FF6-7ADF8A04F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726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AECCBAE-6B6E-95F2-8BAE-4336DDF9E443}"/>
              </a:ext>
            </a:extLst>
          </p:cNvPr>
          <p:cNvSpPr/>
          <p:nvPr/>
        </p:nvSpPr>
        <p:spPr>
          <a:xfrm>
            <a:off x="353961" y="0"/>
            <a:ext cx="2197510" cy="471948"/>
          </a:xfrm>
          <a:prstGeom prst="rect">
            <a:avLst/>
          </a:prstGeom>
          <a:solidFill>
            <a:srgbClr val="FFFF00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496B6F-1558-3438-4C7C-86A38121FB7B}"/>
              </a:ext>
            </a:extLst>
          </p:cNvPr>
          <p:cNvSpPr/>
          <p:nvPr/>
        </p:nvSpPr>
        <p:spPr>
          <a:xfrm>
            <a:off x="240890" y="1052051"/>
            <a:ext cx="2197510" cy="471948"/>
          </a:xfrm>
          <a:prstGeom prst="rect">
            <a:avLst/>
          </a:prstGeom>
          <a:solidFill>
            <a:srgbClr val="FFFF00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8DD6A2-D32D-8CD1-E71C-E3B49BEAC54F}"/>
              </a:ext>
            </a:extLst>
          </p:cNvPr>
          <p:cNvSpPr/>
          <p:nvPr/>
        </p:nvSpPr>
        <p:spPr>
          <a:xfrm>
            <a:off x="471948" y="2045108"/>
            <a:ext cx="2571136" cy="471948"/>
          </a:xfrm>
          <a:prstGeom prst="rect">
            <a:avLst/>
          </a:prstGeom>
          <a:solidFill>
            <a:srgbClr val="FFFF00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32B9C-77A6-D984-A494-58D3259FCD11}"/>
              </a:ext>
            </a:extLst>
          </p:cNvPr>
          <p:cNvSpPr/>
          <p:nvPr/>
        </p:nvSpPr>
        <p:spPr>
          <a:xfrm>
            <a:off x="471948" y="3097159"/>
            <a:ext cx="3868994" cy="471948"/>
          </a:xfrm>
          <a:prstGeom prst="rect">
            <a:avLst/>
          </a:prstGeom>
          <a:solidFill>
            <a:srgbClr val="FFFF00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37FC00-5DC1-340C-26CD-17F3B1B73ED6}"/>
              </a:ext>
            </a:extLst>
          </p:cNvPr>
          <p:cNvSpPr/>
          <p:nvPr/>
        </p:nvSpPr>
        <p:spPr>
          <a:xfrm>
            <a:off x="471948" y="4043150"/>
            <a:ext cx="1966452" cy="471948"/>
          </a:xfrm>
          <a:prstGeom prst="rect">
            <a:avLst/>
          </a:prstGeom>
          <a:solidFill>
            <a:srgbClr val="FFFF00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D22E9C-CAC4-C351-7761-9981303DEBD1}"/>
              </a:ext>
            </a:extLst>
          </p:cNvPr>
          <p:cNvSpPr/>
          <p:nvPr/>
        </p:nvSpPr>
        <p:spPr>
          <a:xfrm>
            <a:off x="471947" y="4989141"/>
            <a:ext cx="3613355" cy="471948"/>
          </a:xfrm>
          <a:prstGeom prst="rect">
            <a:avLst/>
          </a:prstGeom>
          <a:solidFill>
            <a:srgbClr val="FFFF00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E1E062-26B7-8D2D-442B-87D46AC23514}"/>
              </a:ext>
            </a:extLst>
          </p:cNvPr>
          <p:cNvSpPr/>
          <p:nvPr/>
        </p:nvSpPr>
        <p:spPr>
          <a:xfrm>
            <a:off x="471947" y="5982198"/>
            <a:ext cx="2462982" cy="471948"/>
          </a:xfrm>
          <a:prstGeom prst="rect">
            <a:avLst/>
          </a:prstGeom>
          <a:solidFill>
            <a:srgbClr val="FFFF00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20614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1C575-5CBC-C365-E4A8-41761E364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9ED1-0A39-96B2-E9BC-255C348FB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Nivel 5: 12 hombres sin piedad</a:t>
            </a:r>
            <a:endParaRPr lang="es-P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DC3B57-313E-05AC-2F24-0482C3779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109" y="2376488"/>
            <a:ext cx="5190122" cy="322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410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E30F9-7A8E-2971-2084-8C8372C8D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8A8740-9C4A-A11A-4F83-1076EBE21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1245"/>
            <a:ext cx="12192000" cy="68692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3AC685-2F40-8B15-6D4E-D6DFE95DC637}"/>
              </a:ext>
            </a:extLst>
          </p:cNvPr>
          <p:cNvSpPr txBox="1"/>
          <p:nvPr/>
        </p:nvSpPr>
        <p:spPr>
          <a:xfrm>
            <a:off x="4417256" y="0"/>
            <a:ext cx="375607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Falacias</a:t>
            </a:r>
          </a:p>
          <a:p>
            <a:endParaRPr lang="es-PE" sz="8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DB798-DE57-04F6-FC1D-B267EA75DEF7}"/>
              </a:ext>
            </a:extLst>
          </p:cNvPr>
          <p:cNvSpPr txBox="1"/>
          <p:nvPr/>
        </p:nvSpPr>
        <p:spPr>
          <a:xfrm>
            <a:off x="634802" y="1643031"/>
            <a:ext cx="10922393" cy="4708981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4800" dirty="0">
                <a:solidFill>
                  <a:schemeClr val="bg1"/>
                </a:solidFill>
              </a:rPr>
              <a:t>Las falacias son trampas del razonamiento que afectan nuestra capacidad crítica. </a:t>
            </a:r>
          </a:p>
          <a:p>
            <a:endParaRPr lang="es-MX" sz="6000" dirty="0">
              <a:solidFill>
                <a:schemeClr val="bg1"/>
              </a:solidFill>
            </a:endParaRPr>
          </a:p>
          <a:p>
            <a:r>
              <a:rPr lang="es-MX" sz="4800" dirty="0">
                <a:solidFill>
                  <a:schemeClr val="bg1"/>
                </a:solidFill>
              </a:rPr>
              <a:t>Aprender a detectarlas fortalece el pensamiento crítico y nos protege de la manipulación.</a:t>
            </a:r>
          </a:p>
        </p:txBody>
      </p:sp>
    </p:spTree>
    <p:extLst>
      <p:ext uri="{BB962C8B-B14F-4D97-AF65-F5344CB8AC3E}">
        <p14:creationId xmlns:p14="http://schemas.microsoft.com/office/powerpoint/2010/main" val="37998337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B94266-5C48-D340-B072-07E7738D7773}"/>
              </a:ext>
            </a:extLst>
          </p:cNvPr>
          <p:cNvSpPr txBox="1"/>
          <p:nvPr/>
        </p:nvSpPr>
        <p:spPr>
          <a:xfrm>
            <a:off x="520504" y="379826"/>
            <a:ext cx="11352628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Fuentes revisadas: </a:t>
            </a:r>
          </a:p>
          <a:p>
            <a:endParaRPr lang="es-MX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Lógica Proposicional</a:t>
            </a:r>
          </a:p>
          <a:p>
            <a:r>
              <a:rPr lang="es-PE" sz="2800" dirty="0">
                <a:hlinkClick r:id="rId2"/>
              </a:rPr>
              <a:t>https://www.youtube.com/watch?v=q3TyIQuyOc0</a:t>
            </a:r>
            <a:endParaRPr lang="es-P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2800" dirty="0" err="1"/>
              <a:t>Ppts</a:t>
            </a:r>
            <a:r>
              <a:rPr lang="es-PE" sz="2800" dirty="0"/>
              <a:t> de Dino Hinostroza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2800" dirty="0" err="1"/>
              <a:t>Ppts</a:t>
            </a:r>
            <a:r>
              <a:rPr lang="es-PE" sz="2800" dirty="0"/>
              <a:t> y materiales didácticos de Raymond Herrera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2800" dirty="0" err="1"/>
              <a:t>Copi</a:t>
            </a:r>
            <a:r>
              <a:rPr lang="es-PE" sz="2800" dirty="0"/>
              <a:t>, I &amp; Cohen, C. (2007) Introducción a la lógica. Universidad de Michigan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2800" dirty="0"/>
              <a:t>Rosales, D. (1994) Introducción a la lógica. Ed. Amaru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TABLAS DE VERDAD - LÓGICA PROPOSICIONAL - MATEMÁTICA - TABLA DE VERDAD -PROPOSICIONES LOGICAS</a:t>
            </a:r>
            <a:endParaRPr lang="es-PE" sz="2800" dirty="0"/>
          </a:p>
          <a:p>
            <a:r>
              <a:rPr lang="es-PE" sz="2800" dirty="0">
                <a:hlinkClick r:id="rId3"/>
              </a:rPr>
              <a:t>https://www.youtube.com/watch?v=n_t1f0xa3D0&amp;t=763s</a:t>
            </a:r>
            <a:endParaRPr lang="es-P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2800" dirty="0"/>
              <a:t>Simbolización o formalización de proposiciones</a:t>
            </a:r>
          </a:p>
          <a:p>
            <a:r>
              <a:rPr lang="es-PE" sz="2800" dirty="0">
                <a:hlinkClick r:id="rId4"/>
              </a:rPr>
              <a:t>https://www.youtube.com/watch?v=n2uhEJQlD-g&amp;t</a:t>
            </a:r>
            <a:r>
              <a:rPr lang="es-PE" sz="2800">
                <a:hlinkClick r:id="rId4"/>
              </a:rPr>
              <a:t>=530s</a:t>
            </a:r>
            <a:endParaRPr lang="es-PE" sz="2800" dirty="0"/>
          </a:p>
          <a:p>
            <a:endParaRPr lang="es-PE" sz="2800" dirty="0"/>
          </a:p>
          <a:p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1265813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762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1314</TotalTime>
  <Words>699</Words>
  <Application>Microsoft Office PowerPoint</Application>
  <PresentationFormat>Widescreen</PresentationFormat>
  <Paragraphs>72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Ejercicios dirigidos (ojalá, con tablas aumentadas)</vt:lpstr>
      <vt:lpstr>Nivel 1: un esfuerzo conjunto</vt:lpstr>
      <vt:lpstr>PowerPoint Presentation</vt:lpstr>
      <vt:lpstr>Nivel 2: un repaso rápido</vt:lpstr>
      <vt:lpstr>PowerPoint Presentation</vt:lpstr>
      <vt:lpstr>PowerPoint Presentation</vt:lpstr>
      <vt:lpstr>PowerPoint Presentation</vt:lpstr>
      <vt:lpstr>Nivel 3: sin respuestas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Nivel 4: más y más ejercicios rápidos</vt:lpstr>
      <vt:lpstr>PowerPoint Presentation</vt:lpstr>
      <vt:lpstr>Nivel 5: 12 hombres sin piedad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F. Garcìa Alcalà</dc:creator>
  <cp:lastModifiedBy>F. Garcìa Alcalà</cp:lastModifiedBy>
  <cp:revision>66</cp:revision>
  <dcterms:created xsi:type="dcterms:W3CDTF">2024-10-23T03:42:00Z</dcterms:created>
  <dcterms:modified xsi:type="dcterms:W3CDTF">2026-04-15T23:50:05Z</dcterms:modified>
</cp:coreProperties>
</file>