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60" r:id="rId5"/>
    <p:sldId id="259" r:id="rId6"/>
    <p:sldId id="261" r:id="rId7"/>
    <p:sldId id="262" r:id="rId8"/>
    <p:sldId id="264" r:id="rId9"/>
    <p:sldId id="265" r:id="rId10"/>
    <p:sldId id="266" r:id="rId11"/>
    <p:sldId id="267" r:id="rId12"/>
    <p:sldId id="268" r:id="rId13"/>
    <p:sldId id="269" r:id="rId14"/>
    <p:sldId id="272" r:id="rId15"/>
    <p:sldId id="263" r:id="rId16"/>
    <p:sldId id="270" r:id="rId17"/>
    <p:sldId id="314" r:id="rId18"/>
    <p:sldId id="300" r:id="rId19"/>
    <p:sldId id="303" r:id="rId20"/>
    <p:sldId id="305" r:id="rId21"/>
    <p:sldId id="307" r:id="rId22"/>
    <p:sldId id="315" r:id="rId2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55" autoAdjust="0"/>
    <p:restoredTop sz="94660"/>
  </p:normalViewPr>
  <p:slideViewPr>
    <p:cSldViewPr snapToGrid="0">
      <p:cViewPr varScale="1">
        <p:scale>
          <a:sx n="43" d="100"/>
          <a:sy n="43" d="100"/>
        </p:scale>
        <p:origin x="54" y="4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DBE5CE-57FA-46BF-B46A-5F5A67B0CA3B}" type="datetimeFigureOut">
              <a:rPr lang="es-PE" smtClean="0"/>
              <a:t>17/06/2026</a:t>
            </a:fld>
            <a:endParaRPr lang="es-P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06A681-0DF5-4CF8-BFC3-1F32D3EF093D}" type="slidenum">
              <a:rPr lang="es-PE" smtClean="0"/>
              <a:t>‹#›</a:t>
            </a:fld>
            <a:endParaRPr lang="es-PE"/>
          </a:p>
        </p:txBody>
      </p:sp>
    </p:spTree>
    <p:extLst>
      <p:ext uri="{BB962C8B-B14F-4D97-AF65-F5344CB8AC3E}">
        <p14:creationId xmlns:p14="http://schemas.microsoft.com/office/powerpoint/2010/main" val="1860148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PE" dirty="0"/>
          </a:p>
        </p:txBody>
      </p:sp>
      <p:sp>
        <p:nvSpPr>
          <p:cNvPr id="4" name="Slide Number Placeholder 3"/>
          <p:cNvSpPr>
            <a:spLocks noGrp="1"/>
          </p:cNvSpPr>
          <p:nvPr>
            <p:ph type="sldNum" sz="quarter" idx="5"/>
          </p:nvPr>
        </p:nvSpPr>
        <p:spPr/>
        <p:txBody>
          <a:bodyPr/>
          <a:lstStyle/>
          <a:p>
            <a:fld id="{8206A681-0DF5-4CF8-BFC3-1F32D3EF093D}" type="slidenum">
              <a:rPr lang="es-PE" smtClean="0"/>
              <a:t>3</a:t>
            </a:fld>
            <a:endParaRPr lang="es-PE"/>
          </a:p>
        </p:txBody>
      </p:sp>
    </p:spTree>
    <p:extLst>
      <p:ext uri="{BB962C8B-B14F-4D97-AF65-F5344CB8AC3E}">
        <p14:creationId xmlns:p14="http://schemas.microsoft.com/office/powerpoint/2010/main" val="3781107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9F9A2-6871-30F7-B9AC-1F37AA666B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PE"/>
          </a:p>
        </p:txBody>
      </p:sp>
      <p:sp>
        <p:nvSpPr>
          <p:cNvPr id="3" name="Subtitle 2">
            <a:extLst>
              <a:ext uri="{FF2B5EF4-FFF2-40B4-BE49-F238E27FC236}">
                <a16:creationId xmlns:a16="http://schemas.microsoft.com/office/drawing/2014/main" id="{381040D0-E1E0-A9DA-2871-84730B05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PE"/>
          </a:p>
        </p:txBody>
      </p:sp>
      <p:sp>
        <p:nvSpPr>
          <p:cNvPr id="4" name="Date Placeholder 3">
            <a:extLst>
              <a:ext uri="{FF2B5EF4-FFF2-40B4-BE49-F238E27FC236}">
                <a16:creationId xmlns:a16="http://schemas.microsoft.com/office/drawing/2014/main" id="{1E0B2943-8574-C878-3F27-5865E6E48511}"/>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5" name="Footer Placeholder 4">
            <a:extLst>
              <a:ext uri="{FF2B5EF4-FFF2-40B4-BE49-F238E27FC236}">
                <a16:creationId xmlns:a16="http://schemas.microsoft.com/office/drawing/2014/main" id="{8D147C56-230E-2C39-2540-FCFD97F44EEB}"/>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0CE647B1-76E2-4214-0892-C1C3F95C37C7}"/>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274393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EA387-2FB5-881A-0578-DD376DA7F4FB}"/>
              </a:ext>
            </a:extLst>
          </p:cNvPr>
          <p:cNvSpPr>
            <a:spLocks noGrp="1"/>
          </p:cNvSpPr>
          <p:nvPr>
            <p:ph type="title"/>
          </p:nvPr>
        </p:nvSpPr>
        <p:spPr/>
        <p:txBody>
          <a:bodyPr/>
          <a:lstStyle/>
          <a:p>
            <a:r>
              <a:rPr lang="en-US"/>
              <a:t>Click to edit Master title style</a:t>
            </a:r>
            <a:endParaRPr lang="es-PE"/>
          </a:p>
        </p:txBody>
      </p:sp>
      <p:sp>
        <p:nvSpPr>
          <p:cNvPr id="3" name="Content Placeholder 2">
            <a:extLst>
              <a:ext uri="{FF2B5EF4-FFF2-40B4-BE49-F238E27FC236}">
                <a16:creationId xmlns:a16="http://schemas.microsoft.com/office/drawing/2014/main" id="{52B260B1-1EB0-328C-CA12-2E8202C2E4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64AAEF90-CA9B-17AE-C87C-2196B45A3269}"/>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5" name="Footer Placeholder 4">
            <a:extLst>
              <a:ext uri="{FF2B5EF4-FFF2-40B4-BE49-F238E27FC236}">
                <a16:creationId xmlns:a16="http://schemas.microsoft.com/office/drawing/2014/main" id="{24B1583E-5172-5A65-C711-C939A9058101}"/>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2D706C50-91B0-1857-4E71-CB3589EBDF30}"/>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986154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B4A8C-F82A-6193-36EE-EA23524BF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PE"/>
          </a:p>
        </p:txBody>
      </p:sp>
      <p:sp>
        <p:nvSpPr>
          <p:cNvPr id="3" name="Text Placeholder 2">
            <a:extLst>
              <a:ext uri="{FF2B5EF4-FFF2-40B4-BE49-F238E27FC236}">
                <a16:creationId xmlns:a16="http://schemas.microsoft.com/office/drawing/2014/main" id="{2066F565-23AD-C598-7487-06F6922A71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BE7D0B-638B-2AB0-F937-404E18147079}"/>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5" name="Footer Placeholder 4">
            <a:extLst>
              <a:ext uri="{FF2B5EF4-FFF2-40B4-BE49-F238E27FC236}">
                <a16:creationId xmlns:a16="http://schemas.microsoft.com/office/drawing/2014/main" id="{E7C433D1-AEF1-1849-8D29-37A39005302E}"/>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DB1956D1-DB45-B292-AE1A-C9968CE53E94}"/>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3766281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ED47C-B702-2B4E-E571-EE0DC759B9AF}"/>
              </a:ext>
            </a:extLst>
          </p:cNvPr>
          <p:cNvSpPr>
            <a:spLocks noGrp="1"/>
          </p:cNvSpPr>
          <p:nvPr>
            <p:ph type="title"/>
          </p:nvPr>
        </p:nvSpPr>
        <p:spPr/>
        <p:txBody>
          <a:bodyPr/>
          <a:lstStyle/>
          <a:p>
            <a:r>
              <a:rPr lang="en-US"/>
              <a:t>Click to edit Master title style</a:t>
            </a:r>
            <a:endParaRPr lang="es-PE"/>
          </a:p>
        </p:txBody>
      </p:sp>
      <p:sp>
        <p:nvSpPr>
          <p:cNvPr id="3" name="Content Placeholder 2">
            <a:extLst>
              <a:ext uri="{FF2B5EF4-FFF2-40B4-BE49-F238E27FC236}">
                <a16:creationId xmlns:a16="http://schemas.microsoft.com/office/drawing/2014/main" id="{A0BD4379-9D7F-F204-3D9B-F47C9AD0B9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Content Placeholder 3">
            <a:extLst>
              <a:ext uri="{FF2B5EF4-FFF2-40B4-BE49-F238E27FC236}">
                <a16:creationId xmlns:a16="http://schemas.microsoft.com/office/drawing/2014/main" id="{AB1DAFB5-820E-36E7-E53C-05C9E6D00C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5" name="Date Placeholder 4">
            <a:extLst>
              <a:ext uri="{FF2B5EF4-FFF2-40B4-BE49-F238E27FC236}">
                <a16:creationId xmlns:a16="http://schemas.microsoft.com/office/drawing/2014/main" id="{5ACF9589-F827-ECD8-1012-8497B2DC8E57}"/>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6" name="Footer Placeholder 5">
            <a:extLst>
              <a:ext uri="{FF2B5EF4-FFF2-40B4-BE49-F238E27FC236}">
                <a16:creationId xmlns:a16="http://schemas.microsoft.com/office/drawing/2014/main" id="{EB4DDF10-1FF5-28ED-D954-A5262BBF9FAB}"/>
              </a:ext>
            </a:extLst>
          </p:cNvPr>
          <p:cNvSpPr>
            <a:spLocks noGrp="1"/>
          </p:cNvSpPr>
          <p:nvPr>
            <p:ph type="ftr" sz="quarter" idx="11"/>
          </p:nvPr>
        </p:nvSpPr>
        <p:spPr/>
        <p:txBody>
          <a:bodyPr/>
          <a:lstStyle/>
          <a:p>
            <a:endParaRPr lang="es-PE"/>
          </a:p>
        </p:txBody>
      </p:sp>
      <p:sp>
        <p:nvSpPr>
          <p:cNvPr id="7" name="Slide Number Placeholder 6">
            <a:extLst>
              <a:ext uri="{FF2B5EF4-FFF2-40B4-BE49-F238E27FC236}">
                <a16:creationId xmlns:a16="http://schemas.microsoft.com/office/drawing/2014/main" id="{9BFAF63B-6082-9227-0AB7-186077F47F8F}"/>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2875149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332E0-169F-D366-3138-EB2920AEA280}"/>
              </a:ext>
            </a:extLst>
          </p:cNvPr>
          <p:cNvSpPr>
            <a:spLocks noGrp="1"/>
          </p:cNvSpPr>
          <p:nvPr>
            <p:ph type="title"/>
          </p:nvPr>
        </p:nvSpPr>
        <p:spPr>
          <a:xfrm>
            <a:off x="839788" y="365125"/>
            <a:ext cx="10515600" cy="1325563"/>
          </a:xfrm>
        </p:spPr>
        <p:txBody>
          <a:bodyPr/>
          <a:lstStyle/>
          <a:p>
            <a:r>
              <a:rPr lang="en-US"/>
              <a:t>Click to edit Master title style</a:t>
            </a:r>
            <a:endParaRPr lang="es-PE"/>
          </a:p>
        </p:txBody>
      </p:sp>
      <p:sp>
        <p:nvSpPr>
          <p:cNvPr id="3" name="Text Placeholder 2">
            <a:extLst>
              <a:ext uri="{FF2B5EF4-FFF2-40B4-BE49-F238E27FC236}">
                <a16:creationId xmlns:a16="http://schemas.microsoft.com/office/drawing/2014/main" id="{AEF8F84E-402E-97CC-C453-B6D206BE8B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74E7E6-5FD5-82FC-436A-FD99BF60ED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5" name="Text Placeholder 4">
            <a:extLst>
              <a:ext uri="{FF2B5EF4-FFF2-40B4-BE49-F238E27FC236}">
                <a16:creationId xmlns:a16="http://schemas.microsoft.com/office/drawing/2014/main" id="{BA348DE7-6694-FC4F-BD6E-138240FD0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497358-7AA4-91FF-A5DD-81C3599C97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7" name="Date Placeholder 6">
            <a:extLst>
              <a:ext uri="{FF2B5EF4-FFF2-40B4-BE49-F238E27FC236}">
                <a16:creationId xmlns:a16="http://schemas.microsoft.com/office/drawing/2014/main" id="{8E56FED0-535A-2C49-5BDD-4D6BF19DEC48}"/>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8" name="Footer Placeholder 7">
            <a:extLst>
              <a:ext uri="{FF2B5EF4-FFF2-40B4-BE49-F238E27FC236}">
                <a16:creationId xmlns:a16="http://schemas.microsoft.com/office/drawing/2014/main" id="{214584F4-47E8-57B8-BFE5-4323097E2B29}"/>
              </a:ext>
            </a:extLst>
          </p:cNvPr>
          <p:cNvSpPr>
            <a:spLocks noGrp="1"/>
          </p:cNvSpPr>
          <p:nvPr>
            <p:ph type="ftr" sz="quarter" idx="11"/>
          </p:nvPr>
        </p:nvSpPr>
        <p:spPr/>
        <p:txBody>
          <a:bodyPr/>
          <a:lstStyle/>
          <a:p>
            <a:endParaRPr lang="es-PE"/>
          </a:p>
        </p:txBody>
      </p:sp>
      <p:sp>
        <p:nvSpPr>
          <p:cNvPr id="9" name="Slide Number Placeholder 8">
            <a:extLst>
              <a:ext uri="{FF2B5EF4-FFF2-40B4-BE49-F238E27FC236}">
                <a16:creationId xmlns:a16="http://schemas.microsoft.com/office/drawing/2014/main" id="{538C7DDA-4AF2-0499-6A47-A1282E0FD964}"/>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3829687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1E531-4B50-0B17-4226-F6F61FEEDEA6}"/>
              </a:ext>
            </a:extLst>
          </p:cNvPr>
          <p:cNvSpPr>
            <a:spLocks noGrp="1"/>
          </p:cNvSpPr>
          <p:nvPr>
            <p:ph type="title"/>
          </p:nvPr>
        </p:nvSpPr>
        <p:spPr/>
        <p:txBody>
          <a:bodyPr/>
          <a:lstStyle/>
          <a:p>
            <a:r>
              <a:rPr lang="en-US"/>
              <a:t>Click to edit Master title style</a:t>
            </a:r>
            <a:endParaRPr lang="es-PE"/>
          </a:p>
        </p:txBody>
      </p:sp>
      <p:sp>
        <p:nvSpPr>
          <p:cNvPr id="3" name="Date Placeholder 2">
            <a:extLst>
              <a:ext uri="{FF2B5EF4-FFF2-40B4-BE49-F238E27FC236}">
                <a16:creationId xmlns:a16="http://schemas.microsoft.com/office/drawing/2014/main" id="{2B722AEA-067A-364E-3F2C-54B756F12E1E}"/>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4" name="Footer Placeholder 3">
            <a:extLst>
              <a:ext uri="{FF2B5EF4-FFF2-40B4-BE49-F238E27FC236}">
                <a16:creationId xmlns:a16="http://schemas.microsoft.com/office/drawing/2014/main" id="{2143FECE-A7BB-9075-682A-F8B7BBDB31C6}"/>
              </a:ext>
            </a:extLst>
          </p:cNvPr>
          <p:cNvSpPr>
            <a:spLocks noGrp="1"/>
          </p:cNvSpPr>
          <p:nvPr>
            <p:ph type="ftr" sz="quarter" idx="11"/>
          </p:nvPr>
        </p:nvSpPr>
        <p:spPr/>
        <p:txBody>
          <a:bodyPr/>
          <a:lstStyle/>
          <a:p>
            <a:endParaRPr lang="es-PE"/>
          </a:p>
        </p:txBody>
      </p:sp>
      <p:sp>
        <p:nvSpPr>
          <p:cNvPr id="5" name="Slide Number Placeholder 4">
            <a:extLst>
              <a:ext uri="{FF2B5EF4-FFF2-40B4-BE49-F238E27FC236}">
                <a16:creationId xmlns:a16="http://schemas.microsoft.com/office/drawing/2014/main" id="{7E632E44-991B-5E10-CD66-0F61EF3FDE73}"/>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3002629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3F48D5-0FDF-291E-FDE3-EB87FAE9D59D}"/>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3" name="Footer Placeholder 2">
            <a:extLst>
              <a:ext uri="{FF2B5EF4-FFF2-40B4-BE49-F238E27FC236}">
                <a16:creationId xmlns:a16="http://schemas.microsoft.com/office/drawing/2014/main" id="{B3ECA9C4-3BBE-DCC4-E016-F0FE1A95697C}"/>
              </a:ext>
            </a:extLst>
          </p:cNvPr>
          <p:cNvSpPr>
            <a:spLocks noGrp="1"/>
          </p:cNvSpPr>
          <p:nvPr>
            <p:ph type="ftr" sz="quarter" idx="11"/>
          </p:nvPr>
        </p:nvSpPr>
        <p:spPr/>
        <p:txBody>
          <a:bodyPr/>
          <a:lstStyle/>
          <a:p>
            <a:endParaRPr lang="es-PE"/>
          </a:p>
        </p:txBody>
      </p:sp>
      <p:sp>
        <p:nvSpPr>
          <p:cNvPr id="4" name="Slide Number Placeholder 3">
            <a:extLst>
              <a:ext uri="{FF2B5EF4-FFF2-40B4-BE49-F238E27FC236}">
                <a16:creationId xmlns:a16="http://schemas.microsoft.com/office/drawing/2014/main" id="{27E1879D-60D5-0F98-4F99-1DBB58D288D4}"/>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2915356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DA3CE-4DD9-3DF8-9E31-958AD6CF82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PE"/>
          </a:p>
        </p:txBody>
      </p:sp>
      <p:sp>
        <p:nvSpPr>
          <p:cNvPr id="3" name="Content Placeholder 2">
            <a:extLst>
              <a:ext uri="{FF2B5EF4-FFF2-40B4-BE49-F238E27FC236}">
                <a16:creationId xmlns:a16="http://schemas.microsoft.com/office/drawing/2014/main" id="{34019605-B0F8-B076-BE7B-D2004834AE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Text Placeholder 3">
            <a:extLst>
              <a:ext uri="{FF2B5EF4-FFF2-40B4-BE49-F238E27FC236}">
                <a16:creationId xmlns:a16="http://schemas.microsoft.com/office/drawing/2014/main" id="{77C0509D-6AA4-F7EE-52EF-D7AB1BF27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C008AA-A6DB-D09E-3E12-44583ED5D80D}"/>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6" name="Footer Placeholder 5">
            <a:extLst>
              <a:ext uri="{FF2B5EF4-FFF2-40B4-BE49-F238E27FC236}">
                <a16:creationId xmlns:a16="http://schemas.microsoft.com/office/drawing/2014/main" id="{288F920C-3C48-1183-18EE-64A282A7257A}"/>
              </a:ext>
            </a:extLst>
          </p:cNvPr>
          <p:cNvSpPr>
            <a:spLocks noGrp="1"/>
          </p:cNvSpPr>
          <p:nvPr>
            <p:ph type="ftr" sz="quarter" idx="11"/>
          </p:nvPr>
        </p:nvSpPr>
        <p:spPr/>
        <p:txBody>
          <a:bodyPr/>
          <a:lstStyle/>
          <a:p>
            <a:endParaRPr lang="es-PE"/>
          </a:p>
        </p:txBody>
      </p:sp>
      <p:sp>
        <p:nvSpPr>
          <p:cNvPr id="7" name="Slide Number Placeholder 6">
            <a:extLst>
              <a:ext uri="{FF2B5EF4-FFF2-40B4-BE49-F238E27FC236}">
                <a16:creationId xmlns:a16="http://schemas.microsoft.com/office/drawing/2014/main" id="{07A71B38-45C6-C68F-0A23-A434A5154CB2}"/>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691025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13BF-AA42-AD35-F1E6-6BCB296A48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PE"/>
          </a:p>
        </p:txBody>
      </p:sp>
      <p:sp>
        <p:nvSpPr>
          <p:cNvPr id="3" name="Picture Placeholder 2">
            <a:extLst>
              <a:ext uri="{FF2B5EF4-FFF2-40B4-BE49-F238E27FC236}">
                <a16:creationId xmlns:a16="http://schemas.microsoft.com/office/drawing/2014/main" id="{9D4CCCAC-ECC1-D816-61D9-31C403F106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Text Placeholder 3">
            <a:extLst>
              <a:ext uri="{FF2B5EF4-FFF2-40B4-BE49-F238E27FC236}">
                <a16:creationId xmlns:a16="http://schemas.microsoft.com/office/drawing/2014/main" id="{E9612DB4-5807-A971-9A28-EF8567B86B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B9BB1E-0F84-F9A6-18A5-3578022C3EF1}"/>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6" name="Footer Placeholder 5">
            <a:extLst>
              <a:ext uri="{FF2B5EF4-FFF2-40B4-BE49-F238E27FC236}">
                <a16:creationId xmlns:a16="http://schemas.microsoft.com/office/drawing/2014/main" id="{24A36024-C2C7-9969-30C6-EDFF8FC5ABC9}"/>
              </a:ext>
            </a:extLst>
          </p:cNvPr>
          <p:cNvSpPr>
            <a:spLocks noGrp="1"/>
          </p:cNvSpPr>
          <p:nvPr>
            <p:ph type="ftr" sz="quarter" idx="11"/>
          </p:nvPr>
        </p:nvSpPr>
        <p:spPr/>
        <p:txBody>
          <a:bodyPr/>
          <a:lstStyle/>
          <a:p>
            <a:endParaRPr lang="es-PE"/>
          </a:p>
        </p:txBody>
      </p:sp>
      <p:sp>
        <p:nvSpPr>
          <p:cNvPr id="7" name="Slide Number Placeholder 6">
            <a:extLst>
              <a:ext uri="{FF2B5EF4-FFF2-40B4-BE49-F238E27FC236}">
                <a16:creationId xmlns:a16="http://schemas.microsoft.com/office/drawing/2014/main" id="{4CAF3479-412C-E192-A385-2EE61208373F}"/>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771104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A4C98-4D5D-619D-636D-7766C6EDE4A0}"/>
              </a:ext>
            </a:extLst>
          </p:cNvPr>
          <p:cNvSpPr>
            <a:spLocks noGrp="1"/>
          </p:cNvSpPr>
          <p:nvPr>
            <p:ph type="title"/>
          </p:nvPr>
        </p:nvSpPr>
        <p:spPr/>
        <p:txBody>
          <a:bodyPr/>
          <a:lstStyle/>
          <a:p>
            <a:r>
              <a:rPr lang="en-US"/>
              <a:t>Click to edit Master title style</a:t>
            </a:r>
            <a:endParaRPr lang="es-PE"/>
          </a:p>
        </p:txBody>
      </p:sp>
      <p:sp>
        <p:nvSpPr>
          <p:cNvPr id="3" name="Vertical Text Placeholder 2">
            <a:extLst>
              <a:ext uri="{FF2B5EF4-FFF2-40B4-BE49-F238E27FC236}">
                <a16:creationId xmlns:a16="http://schemas.microsoft.com/office/drawing/2014/main" id="{F349580C-D357-2C77-4A89-3D16550541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8E016F92-FB5C-5C2A-EFD2-E18F22BE8B2E}"/>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5" name="Footer Placeholder 4">
            <a:extLst>
              <a:ext uri="{FF2B5EF4-FFF2-40B4-BE49-F238E27FC236}">
                <a16:creationId xmlns:a16="http://schemas.microsoft.com/office/drawing/2014/main" id="{6CF16CD9-F77E-C1FC-1386-6C9FBF26ECB9}"/>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E6033767-6920-583F-D8B0-36F1A3FC6098}"/>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112795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D5E651-0E7B-C8EF-3C1A-7BE21177D9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PE"/>
          </a:p>
        </p:txBody>
      </p:sp>
      <p:sp>
        <p:nvSpPr>
          <p:cNvPr id="3" name="Vertical Text Placeholder 2">
            <a:extLst>
              <a:ext uri="{FF2B5EF4-FFF2-40B4-BE49-F238E27FC236}">
                <a16:creationId xmlns:a16="http://schemas.microsoft.com/office/drawing/2014/main" id="{977EEA2A-0C49-9C15-69EB-936F0BF988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16019ACD-21BF-9073-E457-ABAC5D3963AE}"/>
              </a:ext>
            </a:extLst>
          </p:cNvPr>
          <p:cNvSpPr>
            <a:spLocks noGrp="1"/>
          </p:cNvSpPr>
          <p:nvPr>
            <p:ph type="dt" sz="half" idx="10"/>
          </p:nvPr>
        </p:nvSpPr>
        <p:spPr/>
        <p:txBody>
          <a:bodyPr/>
          <a:lstStyle/>
          <a:p>
            <a:fld id="{E2A81A9F-C5D5-4D40-9F7E-7A562A3E2F39}" type="datetimeFigureOut">
              <a:rPr lang="es-PE" smtClean="0"/>
              <a:t>17/06/2026</a:t>
            </a:fld>
            <a:endParaRPr lang="es-PE"/>
          </a:p>
        </p:txBody>
      </p:sp>
      <p:sp>
        <p:nvSpPr>
          <p:cNvPr id="5" name="Footer Placeholder 4">
            <a:extLst>
              <a:ext uri="{FF2B5EF4-FFF2-40B4-BE49-F238E27FC236}">
                <a16:creationId xmlns:a16="http://schemas.microsoft.com/office/drawing/2014/main" id="{BEA7889A-F6C3-423E-E5C1-8E7F8F11B3AC}"/>
              </a:ext>
            </a:extLst>
          </p:cNvPr>
          <p:cNvSpPr>
            <a:spLocks noGrp="1"/>
          </p:cNvSpPr>
          <p:nvPr>
            <p:ph type="ftr" sz="quarter" idx="11"/>
          </p:nvPr>
        </p:nvSpPr>
        <p:spPr/>
        <p:txBody>
          <a:bodyPr/>
          <a:lstStyle/>
          <a:p>
            <a:endParaRPr lang="es-PE"/>
          </a:p>
        </p:txBody>
      </p:sp>
      <p:sp>
        <p:nvSpPr>
          <p:cNvPr id="6" name="Slide Number Placeholder 5">
            <a:extLst>
              <a:ext uri="{FF2B5EF4-FFF2-40B4-BE49-F238E27FC236}">
                <a16:creationId xmlns:a16="http://schemas.microsoft.com/office/drawing/2014/main" id="{841190AF-FB46-9377-98F4-BC675BBFBD65}"/>
              </a:ext>
            </a:extLst>
          </p:cNvPr>
          <p:cNvSpPr>
            <a:spLocks noGrp="1"/>
          </p:cNvSpPr>
          <p:nvPr>
            <p:ph type="sldNum" sz="quarter" idx="12"/>
          </p:nvPr>
        </p:nvSpPr>
        <p:spPr/>
        <p:txBody>
          <a:bodyPr/>
          <a:lstStyle/>
          <a:p>
            <a:fld id="{0ECA6D24-EDD2-476C-990E-E2C62C987AE5}" type="slidenum">
              <a:rPr lang="es-PE" smtClean="0"/>
              <a:t>‹#›</a:t>
            </a:fld>
            <a:endParaRPr lang="es-PE"/>
          </a:p>
        </p:txBody>
      </p:sp>
    </p:spTree>
    <p:extLst>
      <p:ext uri="{BB962C8B-B14F-4D97-AF65-F5344CB8AC3E}">
        <p14:creationId xmlns:p14="http://schemas.microsoft.com/office/powerpoint/2010/main" val="749945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7238E1-CB1A-33E7-A3AE-F2688F92E5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PE"/>
          </a:p>
        </p:txBody>
      </p:sp>
      <p:sp>
        <p:nvSpPr>
          <p:cNvPr id="3" name="Text Placeholder 2">
            <a:extLst>
              <a:ext uri="{FF2B5EF4-FFF2-40B4-BE49-F238E27FC236}">
                <a16:creationId xmlns:a16="http://schemas.microsoft.com/office/drawing/2014/main" id="{1A79823D-D68D-35A2-7211-9979413F11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PE"/>
          </a:p>
        </p:txBody>
      </p:sp>
      <p:sp>
        <p:nvSpPr>
          <p:cNvPr id="4" name="Date Placeholder 3">
            <a:extLst>
              <a:ext uri="{FF2B5EF4-FFF2-40B4-BE49-F238E27FC236}">
                <a16:creationId xmlns:a16="http://schemas.microsoft.com/office/drawing/2014/main" id="{2EF0B379-542F-23A5-FD6D-005352247A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A81A9F-C5D5-4D40-9F7E-7A562A3E2F39}" type="datetimeFigureOut">
              <a:rPr lang="es-PE" smtClean="0"/>
              <a:t>17/06/2026</a:t>
            </a:fld>
            <a:endParaRPr lang="es-PE"/>
          </a:p>
        </p:txBody>
      </p:sp>
      <p:sp>
        <p:nvSpPr>
          <p:cNvPr id="5" name="Footer Placeholder 4">
            <a:extLst>
              <a:ext uri="{FF2B5EF4-FFF2-40B4-BE49-F238E27FC236}">
                <a16:creationId xmlns:a16="http://schemas.microsoft.com/office/drawing/2014/main" id="{B606D55D-7C1F-7033-1DB1-52C81EAE11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Slide Number Placeholder 5">
            <a:extLst>
              <a:ext uri="{FF2B5EF4-FFF2-40B4-BE49-F238E27FC236}">
                <a16:creationId xmlns:a16="http://schemas.microsoft.com/office/drawing/2014/main" id="{A1226BD6-204A-C1D1-EE14-1594BBDE1E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CA6D24-EDD2-476C-990E-E2C62C987AE5}" type="slidenum">
              <a:rPr lang="es-PE" smtClean="0"/>
              <a:t>‹#›</a:t>
            </a:fld>
            <a:endParaRPr lang="es-PE"/>
          </a:p>
        </p:txBody>
      </p:sp>
    </p:spTree>
    <p:extLst>
      <p:ext uri="{BB962C8B-B14F-4D97-AF65-F5344CB8AC3E}">
        <p14:creationId xmlns:p14="http://schemas.microsoft.com/office/powerpoint/2010/main" val="3988168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4AA411-754A-AC21-4B01-C7B311DFA094}"/>
              </a:ext>
            </a:extLst>
          </p:cNvPr>
          <p:cNvSpPr txBox="1"/>
          <p:nvPr/>
        </p:nvSpPr>
        <p:spPr>
          <a:xfrm>
            <a:off x="1377043" y="457201"/>
            <a:ext cx="9437914" cy="2123658"/>
          </a:xfrm>
          <a:prstGeom prst="rect">
            <a:avLst/>
          </a:prstGeom>
          <a:noFill/>
        </p:spPr>
        <p:txBody>
          <a:bodyPr wrap="square" rtlCol="0">
            <a:spAutoFit/>
          </a:bodyPr>
          <a:lstStyle/>
          <a:p>
            <a:pPr algn="ctr"/>
            <a:r>
              <a:rPr lang="es-MX" sz="6600" dirty="0"/>
              <a:t>Tradiciones éticas en la historia de la filosofía</a:t>
            </a:r>
            <a:endParaRPr lang="es-PE" sz="6600" dirty="0"/>
          </a:p>
        </p:txBody>
      </p:sp>
      <p:pic>
        <p:nvPicPr>
          <p:cNvPr id="6" name="Picture 5">
            <a:extLst>
              <a:ext uri="{FF2B5EF4-FFF2-40B4-BE49-F238E27FC236}">
                <a16:creationId xmlns:a16="http://schemas.microsoft.com/office/drawing/2014/main" id="{9A32840F-6320-2293-5C85-64124FAF4B26}"/>
              </a:ext>
            </a:extLst>
          </p:cNvPr>
          <p:cNvPicPr>
            <a:picLocks noChangeAspect="1"/>
          </p:cNvPicPr>
          <p:nvPr/>
        </p:nvPicPr>
        <p:blipFill>
          <a:blip r:embed="rId2"/>
          <a:stretch>
            <a:fillRect/>
          </a:stretch>
        </p:blipFill>
        <p:spPr>
          <a:xfrm>
            <a:off x="2854098" y="2876708"/>
            <a:ext cx="6044974" cy="3524091"/>
          </a:xfrm>
          <a:prstGeom prst="rect">
            <a:avLst/>
          </a:prstGeom>
        </p:spPr>
      </p:pic>
    </p:spTree>
    <p:extLst>
      <p:ext uri="{BB962C8B-B14F-4D97-AF65-F5344CB8AC3E}">
        <p14:creationId xmlns:p14="http://schemas.microsoft.com/office/powerpoint/2010/main" val="2202871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611499-CD50-7689-5EF9-FC14C59F506E}"/>
              </a:ext>
            </a:extLst>
          </p:cNvPr>
          <p:cNvSpPr>
            <a:spLocks noGrp="1"/>
          </p:cNvSpPr>
          <p:nvPr>
            <p:ph idx="1"/>
          </p:nvPr>
        </p:nvSpPr>
        <p:spPr>
          <a:xfrm>
            <a:off x="609600" y="388709"/>
            <a:ext cx="5040086" cy="5979433"/>
          </a:xfrm>
        </p:spPr>
        <p:txBody>
          <a:bodyPr>
            <a:normAutofit lnSpcReduction="10000"/>
          </a:bodyPr>
          <a:lstStyle/>
          <a:p>
            <a:pPr marL="0" indent="0">
              <a:buNone/>
            </a:pPr>
            <a:r>
              <a:rPr lang="es-MX" sz="3600" dirty="0"/>
              <a:t>Las </a:t>
            </a:r>
            <a:r>
              <a:rPr lang="es-MX" sz="3600" dirty="0">
                <a:solidFill>
                  <a:srgbClr val="FF0000"/>
                </a:solidFill>
              </a:rPr>
              <a:t>tradiciones éticas </a:t>
            </a:r>
            <a:r>
              <a:rPr lang="es-MX" sz="3600" dirty="0"/>
              <a:t>giran en torno a ciertos intereses:</a:t>
            </a:r>
          </a:p>
          <a:p>
            <a:pPr marL="0" indent="0">
              <a:buNone/>
            </a:pPr>
            <a:endParaRPr lang="es-MX" sz="3600" dirty="0"/>
          </a:p>
          <a:p>
            <a:pPr>
              <a:buFontTx/>
              <a:buChar char="-"/>
            </a:pPr>
            <a:r>
              <a:rPr lang="es-MX" sz="3600" dirty="0"/>
              <a:t>Entender el </a:t>
            </a:r>
            <a:r>
              <a:rPr lang="es-MX" sz="3600" dirty="0">
                <a:solidFill>
                  <a:srgbClr val="FF0000"/>
                </a:solidFill>
              </a:rPr>
              <a:t>bien</a:t>
            </a:r>
          </a:p>
          <a:p>
            <a:pPr>
              <a:buFontTx/>
              <a:buChar char="-"/>
            </a:pPr>
            <a:r>
              <a:rPr lang="es-MX" sz="3600" dirty="0"/>
              <a:t>Definir </a:t>
            </a:r>
            <a:r>
              <a:rPr lang="es-MX" sz="3200" dirty="0"/>
              <a:t>la</a:t>
            </a:r>
            <a:r>
              <a:rPr lang="es-MX" sz="3600" dirty="0"/>
              <a:t> </a:t>
            </a:r>
            <a:r>
              <a:rPr lang="es-MX" sz="3600" dirty="0">
                <a:solidFill>
                  <a:srgbClr val="FF0000"/>
                </a:solidFill>
              </a:rPr>
              <a:t>virtud</a:t>
            </a:r>
            <a:endParaRPr lang="es-MX" sz="5400" dirty="0">
              <a:solidFill>
                <a:srgbClr val="FF0000"/>
              </a:solidFill>
            </a:endParaRPr>
          </a:p>
          <a:p>
            <a:pPr>
              <a:buFontTx/>
              <a:buChar char="-"/>
            </a:pPr>
            <a:r>
              <a:rPr lang="es-MX" sz="3600" dirty="0"/>
              <a:t>Buscar la </a:t>
            </a:r>
            <a:r>
              <a:rPr lang="es-MX" sz="3600" dirty="0">
                <a:solidFill>
                  <a:srgbClr val="FF0000"/>
                </a:solidFill>
              </a:rPr>
              <a:t>felicidad</a:t>
            </a:r>
          </a:p>
          <a:p>
            <a:pPr>
              <a:buFontTx/>
              <a:buChar char="-"/>
            </a:pPr>
            <a:endParaRPr lang="es-MX" sz="3600" dirty="0"/>
          </a:p>
          <a:p>
            <a:pPr marL="0" indent="0">
              <a:buNone/>
            </a:pPr>
            <a:r>
              <a:rPr lang="es-MX" sz="3600" dirty="0"/>
              <a:t>Sabemos qué es vivir. La ética se pregunta: ¿</a:t>
            </a:r>
            <a:r>
              <a:rPr lang="es-MX" sz="3600" dirty="0">
                <a:solidFill>
                  <a:srgbClr val="FF0000"/>
                </a:solidFill>
              </a:rPr>
              <a:t>cómo vivir bien</a:t>
            </a:r>
            <a:r>
              <a:rPr lang="es-MX" sz="3600" dirty="0"/>
              <a:t>?</a:t>
            </a:r>
            <a:endParaRPr lang="es-PE" sz="3600" dirty="0"/>
          </a:p>
        </p:txBody>
      </p:sp>
      <p:pic>
        <p:nvPicPr>
          <p:cNvPr id="5" name="Picture 4">
            <a:extLst>
              <a:ext uri="{FF2B5EF4-FFF2-40B4-BE49-F238E27FC236}">
                <a16:creationId xmlns:a16="http://schemas.microsoft.com/office/drawing/2014/main" id="{6B5F119D-71E5-ED18-026F-DC16B2DEE832}"/>
              </a:ext>
            </a:extLst>
          </p:cNvPr>
          <p:cNvPicPr>
            <a:picLocks noChangeAspect="1"/>
          </p:cNvPicPr>
          <p:nvPr/>
        </p:nvPicPr>
        <p:blipFill>
          <a:blip r:embed="rId2"/>
          <a:stretch>
            <a:fillRect/>
          </a:stretch>
        </p:blipFill>
        <p:spPr>
          <a:xfrm>
            <a:off x="5782356" y="1141299"/>
            <a:ext cx="5992301" cy="4575402"/>
          </a:xfrm>
          <a:prstGeom prst="rect">
            <a:avLst/>
          </a:prstGeom>
        </p:spPr>
      </p:pic>
    </p:spTree>
    <p:extLst>
      <p:ext uri="{BB962C8B-B14F-4D97-AF65-F5344CB8AC3E}">
        <p14:creationId xmlns:p14="http://schemas.microsoft.com/office/powerpoint/2010/main" val="2784952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6740131-81A7-CD39-62C9-501AD6194C71}"/>
              </a:ext>
            </a:extLst>
          </p:cNvPr>
          <p:cNvCxnSpPr/>
          <p:nvPr/>
        </p:nvCxnSpPr>
        <p:spPr>
          <a:xfrm>
            <a:off x="1175657" y="3429000"/>
            <a:ext cx="10417629"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9887093-4AAD-2B59-DED5-D2446038FF1B}"/>
              </a:ext>
            </a:extLst>
          </p:cNvPr>
          <p:cNvCxnSpPr>
            <a:cxnSpLocks/>
          </p:cNvCxnSpPr>
          <p:nvPr/>
        </p:nvCxnSpPr>
        <p:spPr>
          <a:xfrm flipV="1">
            <a:off x="6096000" y="3200400"/>
            <a:ext cx="0" cy="39732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D931985-E2F8-EBE5-50C5-42F1F482C8B1}"/>
              </a:ext>
            </a:extLst>
          </p:cNvPr>
          <p:cNvSpPr txBox="1"/>
          <p:nvPr/>
        </p:nvSpPr>
        <p:spPr>
          <a:xfrm>
            <a:off x="193765" y="2716768"/>
            <a:ext cx="5079275" cy="369332"/>
          </a:xfrm>
          <a:prstGeom prst="rect">
            <a:avLst/>
          </a:prstGeom>
          <a:noFill/>
        </p:spPr>
        <p:txBody>
          <a:bodyPr wrap="square" rtlCol="0">
            <a:spAutoFit/>
          </a:bodyPr>
          <a:lstStyle/>
          <a:p>
            <a:r>
              <a:rPr lang="es-MX" dirty="0"/>
              <a:t>Diógenes – Epicuro - Sócrates – Platón – Aristóteles</a:t>
            </a:r>
            <a:endParaRPr lang="es-PE" dirty="0"/>
          </a:p>
        </p:txBody>
      </p:sp>
      <p:sp>
        <p:nvSpPr>
          <p:cNvPr id="10" name="TextBox 9">
            <a:extLst>
              <a:ext uri="{FF2B5EF4-FFF2-40B4-BE49-F238E27FC236}">
                <a16:creationId xmlns:a16="http://schemas.microsoft.com/office/drawing/2014/main" id="{5AF5387A-C974-5705-FCFA-3833084D6C86}"/>
              </a:ext>
            </a:extLst>
          </p:cNvPr>
          <p:cNvSpPr txBox="1"/>
          <p:nvPr/>
        </p:nvSpPr>
        <p:spPr>
          <a:xfrm>
            <a:off x="5105400" y="2417802"/>
            <a:ext cx="5471160" cy="369332"/>
          </a:xfrm>
          <a:prstGeom prst="rect">
            <a:avLst/>
          </a:prstGeom>
          <a:noFill/>
        </p:spPr>
        <p:txBody>
          <a:bodyPr wrap="square" rtlCol="0">
            <a:spAutoFit/>
          </a:bodyPr>
          <a:lstStyle/>
          <a:p>
            <a:r>
              <a:rPr lang="es-MX" dirty="0"/>
              <a:t>Helenismo – </a:t>
            </a:r>
            <a:r>
              <a:rPr lang="es-MX" dirty="0" err="1"/>
              <a:t>MarcoAurelio</a:t>
            </a:r>
            <a:r>
              <a:rPr lang="es-MX" dirty="0"/>
              <a:t> – Epicteto – Agustín - Tomás</a:t>
            </a:r>
            <a:endParaRPr lang="es-PE" dirty="0"/>
          </a:p>
        </p:txBody>
      </p:sp>
      <p:sp>
        <p:nvSpPr>
          <p:cNvPr id="11" name="TextBox 10">
            <a:extLst>
              <a:ext uri="{FF2B5EF4-FFF2-40B4-BE49-F238E27FC236}">
                <a16:creationId xmlns:a16="http://schemas.microsoft.com/office/drawing/2014/main" id="{235353AD-049F-9F27-6298-75D6599E1998}"/>
              </a:ext>
            </a:extLst>
          </p:cNvPr>
          <p:cNvSpPr txBox="1"/>
          <p:nvPr/>
        </p:nvSpPr>
        <p:spPr>
          <a:xfrm>
            <a:off x="10014856" y="1934170"/>
            <a:ext cx="2055224" cy="369332"/>
          </a:xfrm>
          <a:prstGeom prst="rect">
            <a:avLst/>
          </a:prstGeom>
          <a:noFill/>
        </p:spPr>
        <p:txBody>
          <a:bodyPr wrap="square" rtlCol="0">
            <a:spAutoFit/>
          </a:bodyPr>
          <a:lstStyle/>
          <a:p>
            <a:r>
              <a:rPr lang="es-MX" dirty="0"/>
              <a:t>Mill – Kant …. Etc.</a:t>
            </a:r>
            <a:endParaRPr lang="es-PE" dirty="0"/>
          </a:p>
        </p:txBody>
      </p:sp>
      <p:pic>
        <p:nvPicPr>
          <p:cNvPr id="13" name="Picture 12">
            <a:extLst>
              <a:ext uri="{FF2B5EF4-FFF2-40B4-BE49-F238E27FC236}">
                <a16:creationId xmlns:a16="http://schemas.microsoft.com/office/drawing/2014/main" id="{3AF15158-051D-CDE1-7AAB-8803CBD8C864}"/>
              </a:ext>
            </a:extLst>
          </p:cNvPr>
          <p:cNvPicPr>
            <a:picLocks noChangeAspect="1"/>
          </p:cNvPicPr>
          <p:nvPr/>
        </p:nvPicPr>
        <p:blipFill>
          <a:blip r:embed="rId3"/>
          <a:stretch>
            <a:fillRect/>
          </a:stretch>
        </p:blipFill>
        <p:spPr>
          <a:xfrm>
            <a:off x="1039177" y="3771901"/>
            <a:ext cx="3304223" cy="2733614"/>
          </a:xfrm>
          <a:prstGeom prst="rect">
            <a:avLst/>
          </a:prstGeom>
        </p:spPr>
      </p:pic>
      <p:pic>
        <p:nvPicPr>
          <p:cNvPr id="15" name="Picture 14">
            <a:extLst>
              <a:ext uri="{FF2B5EF4-FFF2-40B4-BE49-F238E27FC236}">
                <a16:creationId xmlns:a16="http://schemas.microsoft.com/office/drawing/2014/main" id="{F8B48631-9CC8-F872-6666-088B87E218FA}"/>
              </a:ext>
            </a:extLst>
          </p:cNvPr>
          <p:cNvPicPr>
            <a:picLocks noChangeAspect="1"/>
          </p:cNvPicPr>
          <p:nvPr/>
        </p:nvPicPr>
        <p:blipFill>
          <a:blip r:embed="rId4"/>
          <a:stretch>
            <a:fillRect/>
          </a:stretch>
        </p:blipFill>
        <p:spPr>
          <a:xfrm>
            <a:off x="5105399" y="3726644"/>
            <a:ext cx="2468877" cy="2778871"/>
          </a:xfrm>
          <a:prstGeom prst="rect">
            <a:avLst/>
          </a:prstGeom>
        </p:spPr>
      </p:pic>
      <p:pic>
        <p:nvPicPr>
          <p:cNvPr id="17" name="Picture 16">
            <a:extLst>
              <a:ext uri="{FF2B5EF4-FFF2-40B4-BE49-F238E27FC236}">
                <a16:creationId xmlns:a16="http://schemas.microsoft.com/office/drawing/2014/main" id="{F9C36A44-B5B3-21B3-9016-A485AC656970}"/>
              </a:ext>
            </a:extLst>
          </p:cNvPr>
          <p:cNvPicPr>
            <a:picLocks noChangeAspect="1"/>
          </p:cNvPicPr>
          <p:nvPr/>
        </p:nvPicPr>
        <p:blipFill>
          <a:blip r:embed="rId5"/>
          <a:stretch>
            <a:fillRect/>
          </a:stretch>
        </p:blipFill>
        <p:spPr>
          <a:xfrm>
            <a:off x="8516568" y="3597728"/>
            <a:ext cx="2913432" cy="3059104"/>
          </a:xfrm>
          <a:prstGeom prst="rect">
            <a:avLst/>
          </a:prstGeom>
        </p:spPr>
      </p:pic>
      <p:pic>
        <p:nvPicPr>
          <p:cNvPr id="19" name="Picture 18">
            <a:extLst>
              <a:ext uri="{FF2B5EF4-FFF2-40B4-BE49-F238E27FC236}">
                <a16:creationId xmlns:a16="http://schemas.microsoft.com/office/drawing/2014/main" id="{ED0B66F6-C6B4-E29F-8604-6E110C23B024}"/>
              </a:ext>
            </a:extLst>
          </p:cNvPr>
          <p:cNvPicPr>
            <a:picLocks noChangeAspect="1"/>
          </p:cNvPicPr>
          <p:nvPr/>
        </p:nvPicPr>
        <p:blipFill>
          <a:blip r:embed="rId6"/>
          <a:stretch>
            <a:fillRect/>
          </a:stretch>
        </p:blipFill>
        <p:spPr>
          <a:xfrm>
            <a:off x="1615440" y="167760"/>
            <a:ext cx="2331720" cy="2534862"/>
          </a:xfrm>
          <a:prstGeom prst="rect">
            <a:avLst/>
          </a:prstGeom>
        </p:spPr>
      </p:pic>
      <p:pic>
        <p:nvPicPr>
          <p:cNvPr id="21" name="Picture 20">
            <a:extLst>
              <a:ext uri="{FF2B5EF4-FFF2-40B4-BE49-F238E27FC236}">
                <a16:creationId xmlns:a16="http://schemas.microsoft.com/office/drawing/2014/main" id="{2E943CAC-14AF-6337-5A84-76C8FFA35F14}"/>
              </a:ext>
            </a:extLst>
          </p:cNvPr>
          <p:cNvPicPr>
            <a:picLocks noChangeAspect="1"/>
          </p:cNvPicPr>
          <p:nvPr/>
        </p:nvPicPr>
        <p:blipFill>
          <a:blip r:embed="rId7"/>
          <a:stretch>
            <a:fillRect/>
          </a:stretch>
        </p:blipFill>
        <p:spPr>
          <a:xfrm>
            <a:off x="5356858" y="254486"/>
            <a:ext cx="2055225" cy="2049016"/>
          </a:xfrm>
          <a:prstGeom prst="rect">
            <a:avLst/>
          </a:prstGeom>
        </p:spPr>
      </p:pic>
      <p:pic>
        <p:nvPicPr>
          <p:cNvPr id="23" name="Picture 22">
            <a:extLst>
              <a:ext uri="{FF2B5EF4-FFF2-40B4-BE49-F238E27FC236}">
                <a16:creationId xmlns:a16="http://schemas.microsoft.com/office/drawing/2014/main" id="{A189D04F-B936-6A7F-B3CF-878D14BD4D77}"/>
              </a:ext>
            </a:extLst>
          </p:cNvPr>
          <p:cNvPicPr>
            <a:picLocks noChangeAspect="1"/>
          </p:cNvPicPr>
          <p:nvPr/>
        </p:nvPicPr>
        <p:blipFill>
          <a:blip r:embed="rId8"/>
          <a:stretch>
            <a:fillRect/>
          </a:stretch>
        </p:blipFill>
        <p:spPr>
          <a:xfrm>
            <a:off x="8039252" y="254486"/>
            <a:ext cx="1975604" cy="1975604"/>
          </a:xfrm>
          <a:prstGeom prst="rect">
            <a:avLst/>
          </a:prstGeom>
        </p:spPr>
      </p:pic>
    </p:spTree>
    <p:extLst>
      <p:ext uri="{BB962C8B-B14F-4D97-AF65-F5344CB8AC3E}">
        <p14:creationId xmlns:p14="http://schemas.microsoft.com/office/powerpoint/2010/main" val="2049015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013AF-369C-E7C5-AA34-49ACB7AA305C}"/>
              </a:ext>
            </a:extLst>
          </p:cNvPr>
          <p:cNvSpPr>
            <a:spLocks noGrp="1"/>
          </p:cNvSpPr>
          <p:nvPr>
            <p:ph type="title"/>
          </p:nvPr>
        </p:nvSpPr>
        <p:spPr/>
        <p:txBody>
          <a:bodyPr/>
          <a:lstStyle/>
          <a:p>
            <a:r>
              <a:rPr lang="es-MX" dirty="0"/>
              <a:t>Diógenes de </a:t>
            </a:r>
            <a:r>
              <a:rPr lang="es-MX" dirty="0" err="1"/>
              <a:t>Sínope</a:t>
            </a:r>
            <a:endParaRPr lang="es-PE" dirty="0"/>
          </a:p>
        </p:txBody>
      </p:sp>
      <p:sp>
        <p:nvSpPr>
          <p:cNvPr id="3" name="Content Placeholder 2">
            <a:extLst>
              <a:ext uri="{FF2B5EF4-FFF2-40B4-BE49-F238E27FC236}">
                <a16:creationId xmlns:a16="http://schemas.microsoft.com/office/drawing/2014/main" id="{85425519-5A51-BB06-B74D-2EACBEEBA6C7}"/>
              </a:ext>
            </a:extLst>
          </p:cNvPr>
          <p:cNvSpPr>
            <a:spLocks noGrp="1"/>
          </p:cNvSpPr>
          <p:nvPr>
            <p:ph idx="1"/>
          </p:nvPr>
        </p:nvSpPr>
        <p:spPr/>
        <p:txBody>
          <a:bodyPr/>
          <a:lstStyle/>
          <a:p>
            <a:r>
              <a:rPr lang="es-MX" dirty="0"/>
              <a:t>Rechaza las riquezas, las convenciones sociales, las instituciones y los bienes materiales.</a:t>
            </a:r>
          </a:p>
          <a:p>
            <a:r>
              <a:rPr lang="es-MX" dirty="0"/>
              <a:t>Vivir conforme a la naturaleza</a:t>
            </a:r>
          </a:p>
          <a:p>
            <a:r>
              <a:rPr lang="es-MX" dirty="0"/>
              <a:t>Virtud = Ataraxia = Imperturbabilidad</a:t>
            </a:r>
          </a:p>
          <a:p>
            <a:r>
              <a:rPr lang="es-MX" dirty="0"/>
              <a:t>Virtud = Autarquía = Autogobierno/Independencia/Autosuficiencia</a:t>
            </a:r>
          </a:p>
          <a:p>
            <a:r>
              <a:rPr lang="es-MX" dirty="0"/>
              <a:t>Virtud = </a:t>
            </a:r>
            <a:r>
              <a:rPr lang="es-MX" dirty="0" err="1"/>
              <a:t>Parresía</a:t>
            </a:r>
            <a:r>
              <a:rPr lang="es-MX" dirty="0"/>
              <a:t> = Franqueza, verdad </a:t>
            </a:r>
          </a:p>
          <a:p>
            <a:r>
              <a:rPr lang="es-PE" dirty="0"/>
              <a:t>La razón es como un dios.</a:t>
            </a:r>
          </a:p>
          <a:p>
            <a:r>
              <a:rPr lang="es-PE" dirty="0"/>
              <a:t>Cinismo y estoicismo</a:t>
            </a:r>
          </a:p>
          <a:p>
            <a:endParaRPr lang="es-PE" dirty="0"/>
          </a:p>
        </p:txBody>
      </p:sp>
    </p:spTree>
    <p:extLst>
      <p:ext uri="{BB962C8B-B14F-4D97-AF65-F5344CB8AC3E}">
        <p14:creationId xmlns:p14="http://schemas.microsoft.com/office/powerpoint/2010/main" val="3712420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B837D-1D66-6571-1355-C0EC3C66A7B0}"/>
              </a:ext>
            </a:extLst>
          </p:cNvPr>
          <p:cNvSpPr>
            <a:spLocks noGrp="1"/>
          </p:cNvSpPr>
          <p:nvPr>
            <p:ph type="title"/>
          </p:nvPr>
        </p:nvSpPr>
        <p:spPr/>
        <p:txBody>
          <a:bodyPr/>
          <a:lstStyle/>
          <a:p>
            <a:r>
              <a:rPr lang="es-MX" dirty="0"/>
              <a:t>Epicuro</a:t>
            </a:r>
            <a:endParaRPr lang="es-PE" dirty="0"/>
          </a:p>
        </p:txBody>
      </p:sp>
      <p:sp>
        <p:nvSpPr>
          <p:cNvPr id="3" name="Content Placeholder 2">
            <a:extLst>
              <a:ext uri="{FF2B5EF4-FFF2-40B4-BE49-F238E27FC236}">
                <a16:creationId xmlns:a16="http://schemas.microsoft.com/office/drawing/2014/main" id="{69EB00C8-0B82-1DD9-B194-E2D5C8A6AA36}"/>
              </a:ext>
            </a:extLst>
          </p:cNvPr>
          <p:cNvSpPr>
            <a:spLocks noGrp="1"/>
          </p:cNvSpPr>
          <p:nvPr>
            <p:ph idx="1"/>
          </p:nvPr>
        </p:nvSpPr>
        <p:spPr/>
        <p:txBody>
          <a:bodyPr/>
          <a:lstStyle/>
          <a:p>
            <a:r>
              <a:rPr lang="es-MX" dirty="0"/>
              <a:t>Lo que está bien es el placer = ausencia del dolor</a:t>
            </a:r>
          </a:p>
          <a:p>
            <a:r>
              <a:rPr lang="es-MX" dirty="0"/>
              <a:t>Pero no el placer mundano, sino el placer elevado del alma.</a:t>
            </a:r>
          </a:p>
          <a:p>
            <a:r>
              <a:rPr lang="es-MX" dirty="0"/>
              <a:t>Tranquilidad del alma / imperturbabilidad</a:t>
            </a:r>
          </a:p>
          <a:p>
            <a:r>
              <a:rPr lang="es-MX" dirty="0"/>
              <a:t>Vida sencilla</a:t>
            </a:r>
          </a:p>
          <a:p>
            <a:r>
              <a:rPr lang="es-MX" dirty="0"/>
              <a:t>Cultivar amistad </a:t>
            </a:r>
          </a:p>
          <a:p>
            <a:r>
              <a:rPr lang="es-MX" dirty="0"/>
              <a:t>Buscar el conocimiento</a:t>
            </a:r>
          </a:p>
          <a:p>
            <a:r>
              <a:rPr lang="es-MX" dirty="0"/>
              <a:t>Rechazar miedos irracionales : muerte, dioses</a:t>
            </a:r>
          </a:p>
          <a:p>
            <a:r>
              <a:rPr lang="es-MX" dirty="0"/>
              <a:t>Hedonismo</a:t>
            </a:r>
            <a:endParaRPr lang="es-PE" dirty="0"/>
          </a:p>
        </p:txBody>
      </p:sp>
    </p:spTree>
    <p:extLst>
      <p:ext uri="{BB962C8B-B14F-4D97-AF65-F5344CB8AC3E}">
        <p14:creationId xmlns:p14="http://schemas.microsoft.com/office/powerpoint/2010/main" val="389062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6607C-332A-68CD-50CB-C26E65CDC93C}"/>
              </a:ext>
            </a:extLst>
          </p:cNvPr>
          <p:cNvSpPr>
            <a:spLocks noGrp="1"/>
          </p:cNvSpPr>
          <p:nvPr>
            <p:ph type="title"/>
          </p:nvPr>
        </p:nvSpPr>
        <p:spPr/>
        <p:txBody>
          <a:bodyPr/>
          <a:lstStyle/>
          <a:p>
            <a:r>
              <a:rPr lang="es-MX" dirty="0"/>
              <a:t>Sócrates</a:t>
            </a:r>
            <a:endParaRPr lang="es-PE" dirty="0"/>
          </a:p>
        </p:txBody>
      </p:sp>
      <p:sp>
        <p:nvSpPr>
          <p:cNvPr id="3" name="Content Placeholder 2">
            <a:extLst>
              <a:ext uri="{FF2B5EF4-FFF2-40B4-BE49-F238E27FC236}">
                <a16:creationId xmlns:a16="http://schemas.microsoft.com/office/drawing/2014/main" id="{DB251FCE-A985-9ECE-A60F-7A006FE8D8B5}"/>
              </a:ext>
            </a:extLst>
          </p:cNvPr>
          <p:cNvSpPr>
            <a:spLocks noGrp="1"/>
          </p:cNvSpPr>
          <p:nvPr>
            <p:ph idx="1"/>
          </p:nvPr>
        </p:nvSpPr>
        <p:spPr/>
        <p:txBody>
          <a:bodyPr/>
          <a:lstStyle/>
          <a:p>
            <a:r>
              <a:rPr lang="es-MX" dirty="0"/>
              <a:t>Existen valores objetivos y universales. (Ideas)</a:t>
            </a:r>
          </a:p>
          <a:p>
            <a:r>
              <a:rPr lang="es-MX" dirty="0"/>
              <a:t>El bien no es relativo ni depende de la retórica.</a:t>
            </a:r>
          </a:p>
          <a:p>
            <a:r>
              <a:rPr lang="es-MX" dirty="0"/>
              <a:t>Quien conoce el bien, lo hace.</a:t>
            </a:r>
            <a:endParaRPr lang="es-PE" dirty="0"/>
          </a:p>
          <a:p>
            <a:r>
              <a:rPr lang="es-PE" dirty="0"/>
              <a:t>La vida buena: una vida con examen. </a:t>
            </a:r>
          </a:p>
          <a:p>
            <a:r>
              <a:rPr lang="es-PE" dirty="0"/>
              <a:t>La filosofía es una preparación en vida para la muerte.</a:t>
            </a:r>
          </a:p>
          <a:p>
            <a:r>
              <a:rPr lang="es-PE" dirty="0"/>
              <a:t>La virtud es conocimiento. </a:t>
            </a:r>
            <a:endParaRPr lang="es-MX" dirty="0"/>
          </a:p>
        </p:txBody>
      </p:sp>
    </p:spTree>
    <p:extLst>
      <p:ext uri="{BB962C8B-B14F-4D97-AF65-F5344CB8AC3E}">
        <p14:creationId xmlns:p14="http://schemas.microsoft.com/office/powerpoint/2010/main" val="2183699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46BF-9ADB-0B08-07BE-5737C489E30C}"/>
              </a:ext>
            </a:extLst>
          </p:cNvPr>
          <p:cNvSpPr>
            <a:spLocks noGrp="1"/>
          </p:cNvSpPr>
          <p:nvPr>
            <p:ph type="title"/>
          </p:nvPr>
        </p:nvSpPr>
        <p:spPr/>
        <p:txBody>
          <a:bodyPr/>
          <a:lstStyle/>
          <a:p>
            <a:r>
              <a:rPr lang="es-MX" dirty="0"/>
              <a:t>Platón</a:t>
            </a:r>
            <a:endParaRPr lang="es-PE" dirty="0"/>
          </a:p>
        </p:txBody>
      </p:sp>
      <p:sp>
        <p:nvSpPr>
          <p:cNvPr id="3" name="Content Placeholder 2">
            <a:extLst>
              <a:ext uri="{FF2B5EF4-FFF2-40B4-BE49-F238E27FC236}">
                <a16:creationId xmlns:a16="http://schemas.microsoft.com/office/drawing/2014/main" id="{B1EDB09C-CA5C-ADD7-B96E-9A941473B6D6}"/>
              </a:ext>
            </a:extLst>
          </p:cNvPr>
          <p:cNvSpPr>
            <a:spLocks noGrp="1"/>
          </p:cNvSpPr>
          <p:nvPr>
            <p:ph idx="1"/>
          </p:nvPr>
        </p:nvSpPr>
        <p:spPr/>
        <p:txBody>
          <a:bodyPr/>
          <a:lstStyle/>
          <a:p>
            <a:r>
              <a:rPr lang="es-MX" dirty="0"/>
              <a:t>El alma tiene tres partes: racional, irascible y concupiscible. </a:t>
            </a:r>
          </a:p>
          <a:p>
            <a:r>
              <a:rPr lang="es-MX" dirty="0"/>
              <a:t>La justicia es la armonía racional entre estas partes, en el sujeto y en la </a:t>
            </a:r>
            <a:r>
              <a:rPr lang="es-MX" dirty="0" err="1"/>
              <a:t>pólis</a:t>
            </a:r>
            <a:r>
              <a:rPr lang="es-MX" dirty="0"/>
              <a:t>. </a:t>
            </a:r>
          </a:p>
          <a:p>
            <a:r>
              <a:rPr lang="es-MX" dirty="0"/>
              <a:t>El bien articula todo: epistemológicamente, permite que las cosas sean inteligibles. Ontológicamente, todo tiende al bien. Éticamente, ser bueno es ser justo.</a:t>
            </a:r>
          </a:p>
          <a:p>
            <a:r>
              <a:rPr lang="es-MX" dirty="0"/>
              <a:t>El bien es como el sol.</a:t>
            </a:r>
          </a:p>
          <a:p>
            <a:r>
              <a:rPr lang="es-MX" dirty="0"/>
              <a:t>Quien contempla el bien, conoce el bien. </a:t>
            </a:r>
          </a:p>
          <a:p>
            <a:r>
              <a:rPr lang="es-MX" dirty="0"/>
              <a:t>Lo bueno: lo verdadero, lo bello, lo justo.</a:t>
            </a:r>
            <a:endParaRPr lang="es-PE" dirty="0"/>
          </a:p>
        </p:txBody>
      </p:sp>
    </p:spTree>
    <p:extLst>
      <p:ext uri="{BB962C8B-B14F-4D97-AF65-F5344CB8AC3E}">
        <p14:creationId xmlns:p14="http://schemas.microsoft.com/office/powerpoint/2010/main" val="129843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D653D-6D25-451F-1DEB-E6BC8C3D612E}"/>
              </a:ext>
            </a:extLst>
          </p:cNvPr>
          <p:cNvSpPr>
            <a:spLocks noGrp="1"/>
          </p:cNvSpPr>
          <p:nvPr>
            <p:ph type="title"/>
          </p:nvPr>
        </p:nvSpPr>
        <p:spPr/>
        <p:txBody>
          <a:bodyPr/>
          <a:lstStyle/>
          <a:p>
            <a:r>
              <a:rPr lang="es-MX" dirty="0"/>
              <a:t>Aristóteles</a:t>
            </a:r>
            <a:endParaRPr lang="es-PE" dirty="0"/>
          </a:p>
        </p:txBody>
      </p:sp>
      <p:sp>
        <p:nvSpPr>
          <p:cNvPr id="3" name="Content Placeholder 2">
            <a:extLst>
              <a:ext uri="{FF2B5EF4-FFF2-40B4-BE49-F238E27FC236}">
                <a16:creationId xmlns:a16="http://schemas.microsoft.com/office/drawing/2014/main" id="{CBDAD4C8-5198-6C48-007B-B8E4F58F39AC}"/>
              </a:ext>
            </a:extLst>
          </p:cNvPr>
          <p:cNvSpPr>
            <a:spLocks noGrp="1"/>
          </p:cNvSpPr>
          <p:nvPr>
            <p:ph idx="1"/>
          </p:nvPr>
        </p:nvSpPr>
        <p:spPr/>
        <p:txBody>
          <a:bodyPr/>
          <a:lstStyle/>
          <a:p>
            <a:r>
              <a:rPr lang="es-MX" dirty="0"/>
              <a:t>Todo ser humano racional busca la felicidad o plenitud. </a:t>
            </a:r>
          </a:p>
          <a:p>
            <a:r>
              <a:rPr lang="es-MX" dirty="0" err="1"/>
              <a:t>Eudaimonismo</a:t>
            </a:r>
            <a:r>
              <a:rPr lang="es-MX" dirty="0"/>
              <a:t> = fin último</a:t>
            </a:r>
          </a:p>
          <a:p>
            <a:r>
              <a:rPr lang="es-MX" dirty="0"/>
              <a:t>La virtud es un hábito sostenido. </a:t>
            </a:r>
          </a:p>
          <a:p>
            <a:r>
              <a:rPr lang="es-MX" dirty="0"/>
              <a:t>La virtud es el justo medio no matemático entre el exceso y el defecto. </a:t>
            </a:r>
          </a:p>
          <a:p>
            <a:r>
              <a:rPr lang="es-MX" dirty="0"/>
              <a:t>Una de las virtudes más importantes es la prudencia, como un juicio práctico. </a:t>
            </a:r>
            <a:endParaRPr lang="es-PE" dirty="0"/>
          </a:p>
        </p:txBody>
      </p:sp>
    </p:spTree>
    <p:extLst>
      <p:ext uri="{BB962C8B-B14F-4D97-AF65-F5344CB8AC3E}">
        <p14:creationId xmlns:p14="http://schemas.microsoft.com/office/powerpoint/2010/main" val="3358159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2313F-4B76-D160-C87A-7BD0318A0BF3}"/>
              </a:ext>
            </a:extLst>
          </p:cNvPr>
          <p:cNvSpPr>
            <a:spLocks noGrp="1"/>
          </p:cNvSpPr>
          <p:nvPr>
            <p:ph type="title"/>
          </p:nvPr>
        </p:nvSpPr>
        <p:spPr/>
        <p:txBody>
          <a:bodyPr>
            <a:normAutofit/>
          </a:bodyPr>
          <a:lstStyle/>
          <a:p>
            <a:r>
              <a:rPr lang="es-MX" sz="4000" dirty="0"/>
              <a:t>Helenismo = vida individual y serenidad interior</a:t>
            </a:r>
            <a:endParaRPr lang="es-PE" sz="4000" dirty="0"/>
          </a:p>
        </p:txBody>
      </p:sp>
      <p:sp>
        <p:nvSpPr>
          <p:cNvPr id="3" name="Content Placeholder 2">
            <a:extLst>
              <a:ext uri="{FF2B5EF4-FFF2-40B4-BE49-F238E27FC236}">
                <a16:creationId xmlns:a16="http://schemas.microsoft.com/office/drawing/2014/main" id="{3A6304F4-C366-6DAC-25CE-B515F7360E7E}"/>
              </a:ext>
            </a:extLst>
          </p:cNvPr>
          <p:cNvSpPr>
            <a:spLocks noGrp="1"/>
          </p:cNvSpPr>
          <p:nvPr>
            <p:ph idx="1"/>
          </p:nvPr>
        </p:nvSpPr>
        <p:spPr/>
        <p:txBody>
          <a:bodyPr/>
          <a:lstStyle/>
          <a:p>
            <a:r>
              <a:rPr lang="es-MX" dirty="0"/>
              <a:t>Estoicismo: El bien y la virtud es vivir conforme a lo natural. Hay que aceptar el destino y controlar lo que pueda ser controlable; sobre lo otro no debemos preocuparnos y debemos ser indiferentes. </a:t>
            </a:r>
          </a:p>
          <a:p>
            <a:r>
              <a:rPr lang="es-MX" dirty="0"/>
              <a:t>Epicureísmo: Se busca la tranquilidad del alma o imperturbabilidad, la ausencia de dolor, a través del placer moderado y racional.</a:t>
            </a:r>
          </a:p>
          <a:p>
            <a:r>
              <a:rPr lang="es-MX" dirty="0"/>
              <a:t>Cinismo: Rechaza convenciones sociales y los bienes materiales. Busca una vida autónoma y austera. </a:t>
            </a:r>
            <a:endParaRPr lang="es-PE" dirty="0"/>
          </a:p>
        </p:txBody>
      </p:sp>
    </p:spTree>
    <p:extLst>
      <p:ext uri="{BB962C8B-B14F-4D97-AF65-F5344CB8AC3E}">
        <p14:creationId xmlns:p14="http://schemas.microsoft.com/office/powerpoint/2010/main" val="744663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52077-424C-116B-1BE8-20ADD5142A21}"/>
              </a:ext>
            </a:extLst>
          </p:cNvPr>
          <p:cNvSpPr>
            <a:spLocks noGrp="1"/>
          </p:cNvSpPr>
          <p:nvPr>
            <p:ph type="title"/>
          </p:nvPr>
        </p:nvSpPr>
        <p:spPr/>
        <p:txBody>
          <a:bodyPr/>
          <a:lstStyle/>
          <a:p>
            <a:r>
              <a:rPr lang="es-MX" dirty="0"/>
              <a:t>Marco Aurelio</a:t>
            </a:r>
            <a:endParaRPr lang="es-PE" dirty="0"/>
          </a:p>
        </p:txBody>
      </p:sp>
      <p:sp>
        <p:nvSpPr>
          <p:cNvPr id="3" name="Content Placeholder 2">
            <a:extLst>
              <a:ext uri="{FF2B5EF4-FFF2-40B4-BE49-F238E27FC236}">
                <a16:creationId xmlns:a16="http://schemas.microsoft.com/office/drawing/2014/main" id="{B730AF0C-BC1A-159A-F27F-E068561BDE15}"/>
              </a:ext>
            </a:extLst>
          </p:cNvPr>
          <p:cNvSpPr>
            <a:spLocks noGrp="1"/>
          </p:cNvSpPr>
          <p:nvPr>
            <p:ph idx="1"/>
          </p:nvPr>
        </p:nvSpPr>
        <p:spPr/>
        <p:txBody>
          <a:bodyPr/>
          <a:lstStyle/>
          <a:p>
            <a:r>
              <a:rPr lang="es-MX" dirty="0"/>
              <a:t>La vida debe seguir a la razón universal.</a:t>
            </a:r>
          </a:p>
          <a:p>
            <a:r>
              <a:rPr lang="es-MX" dirty="0"/>
              <a:t>La virtud = aceptar destino con serenidad.</a:t>
            </a:r>
          </a:p>
          <a:p>
            <a:r>
              <a:rPr lang="es-MX" dirty="0"/>
              <a:t>Meditaciones</a:t>
            </a:r>
          </a:p>
          <a:p>
            <a:r>
              <a:rPr lang="es-MX" dirty="0"/>
              <a:t>Practicar autodisciplina y la reflexión constante.</a:t>
            </a:r>
            <a:endParaRPr lang="es-PE" dirty="0"/>
          </a:p>
        </p:txBody>
      </p:sp>
    </p:spTree>
    <p:extLst>
      <p:ext uri="{BB962C8B-B14F-4D97-AF65-F5344CB8AC3E}">
        <p14:creationId xmlns:p14="http://schemas.microsoft.com/office/powerpoint/2010/main" val="3597254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6E07D-7B0E-3E90-0146-B0F9DFB96E97}"/>
              </a:ext>
            </a:extLst>
          </p:cNvPr>
          <p:cNvSpPr>
            <a:spLocks noGrp="1"/>
          </p:cNvSpPr>
          <p:nvPr>
            <p:ph type="title"/>
          </p:nvPr>
        </p:nvSpPr>
        <p:spPr/>
        <p:txBody>
          <a:bodyPr/>
          <a:lstStyle/>
          <a:p>
            <a:r>
              <a:rPr lang="es-MX" dirty="0"/>
              <a:t>Epicteto</a:t>
            </a:r>
            <a:endParaRPr lang="es-PE" dirty="0"/>
          </a:p>
        </p:txBody>
      </p:sp>
      <p:sp>
        <p:nvSpPr>
          <p:cNvPr id="3" name="Content Placeholder 2">
            <a:extLst>
              <a:ext uri="{FF2B5EF4-FFF2-40B4-BE49-F238E27FC236}">
                <a16:creationId xmlns:a16="http://schemas.microsoft.com/office/drawing/2014/main" id="{73D87892-FA43-D3FB-C3DB-FB82CCE9593E}"/>
              </a:ext>
            </a:extLst>
          </p:cNvPr>
          <p:cNvSpPr>
            <a:spLocks noGrp="1"/>
          </p:cNvSpPr>
          <p:nvPr>
            <p:ph idx="1"/>
          </p:nvPr>
        </p:nvSpPr>
        <p:spPr/>
        <p:txBody>
          <a:bodyPr/>
          <a:lstStyle/>
          <a:p>
            <a:r>
              <a:rPr lang="es-MX" dirty="0"/>
              <a:t>Lo que depende de nosotros = juicios, deseos, elecciones</a:t>
            </a:r>
          </a:p>
          <a:p>
            <a:r>
              <a:rPr lang="es-MX" dirty="0"/>
              <a:t>Lo que no depende de nosotros = riqueza, salud, fama, </a:t>
            </a:r>
            <a:r>
              <a:rPr lang="es-MX" dirty="0" err="1"/>
              <a:t>etc</a:t>
            </a:r>
            <a:endParaRPr lang="es-MX" dirty="0"/>
          </a:p>
          <a:p>
            <a:r>
              <a:rPr lang="es-MX" dirty="0"/>
              <a:t>Debemos preocuparnos sólo por lo que depende de nosotros.</a:t>
            </a:r>
          </a:p>
          <a:p>
            <a:r>
              <a:rPr lang="es-MX" dirty="0"/>
              <a:t>Libertad interior = controlar lo que depende, aceptar lo que no depende.</a:t>
            </a:r>
          </a:p>
          <a:p>
            <a:r>
              <a:rPr lang="es-MX" dirty="0"/>
              <a:t>La virtud = vivir conforme a la naturaleza y a la razón.</a:t>
            </a:r>
            <a:endParaRPr lang="es-PE" dirty="0"/>
          </a:p>
        </p:txBody>
      </p:sp>
    </p:spTree>
    <p:extLst>
      <p:ext uri="{BB962C8B-B14F-4D97-AF65-F5344CB8AC3E}">
        <p14:creationId xmlns:p14="http://schemas.microsoft.com/office/powerpoint/2010/main" val="2121308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2F96-7184-156E-156B-FA9A024FBF65}"/>
              </a:ext>
            </a:extLst>
          </p:cNvPr>
          <p:cNvSpPr>
            <a:spLocks noGrp="1"/>
          </p:cNvSpPr>
          <p:nvPr>
            <p:ph type="title"/>
          </p:nvPr>
        </p:nvSpPr>
        <p:spPr/>
        <p:txBody>
          <a:bodyPr/>
          <a:lstStyle/>
          <a:p>
            <a:r>
              <a:rPr lang="es-MX" dirty="0"/>
              <a:t>San Agustín</a:t>
            </a:r>
            <a:endParaRPr lang="es-PE" dirty="0"/>
          </a:p>
        </p:txBody>
      </p:sp>
      <p:sp>
        <p:nvSpPr>
          <p:cNvPr id="3" name="Content Placeholder 2">
            <a:extLst>
              <a:ext uri="{FF2B5EF4-FFF2-40B4-BE49-F238E27FC236}">
                <a16:creationId xmlns:a16="http://schemas.microsoft.com/office/drawing/2014/main" id="{9E6D9E96-5065-B7D6-2E9A-E3C9B06790C2}"/>
              </a:ext>
            </a:extLst>
          </p:cNvPr>
          <p:cNvSpPr>
            <a:spLocks noGrp="1"/>
          </p:cNvSpPr>
          <p:nvPr>
            <p:ph idx="1"/>
          </p:nvPr>
        </p:nvSpPr>
        <p:spPr/>
        <p:txBody>
          <a:bodyPr/>
          <a:lstStyle/>
          <a:p>
            <a:r>
              <a:rPr lang="es-MX" dirty="0"/>
              <a:t>El bien supremo es Dios.</a:t>
            </a:r>
          </a:p>
          <a:p>
            <a:r>
              <a:rPr lang="es-MX" dirty="0"/>
              <a:t>La felicidad plena, sólo con Dios</a:t>
            </a:r>
          </a:p>
          <a:p>
            <a:r>
              <a:rPr lang="es-MX" dirty="0"/>
              <a:t>La moral se orienta a la vida eterna.</a:t>
            </a:r>
          </a:p>
          <a:p>
            <a:r>
              <a:rPr lang="es-MX" dirty="0"/>
              <a:t>El mal es ausencia del bien.</a:t>
            </a:r>
          </a:p>
          <a:p>
            <a:r>
              <a:rPr lang="es-MX" dirty="0"/>
              <a:t>La voluntad necesita de la gracia divina para ser recta. (Lutero)</a:t>
            </a:r>
          </a:p>
          <a:p>
            <a:r>
              <a:rPr lang="es-MX" dirty="0"/>
              <a:t>La ciudad de Dios</a:t>
            </a:r>
            <a:endParaRPr lang="es-PE" dirty="0"/>
          </a:p>
        </p:txBody>
      </p:sp>
    </p:spTree>
    <p:extLst>
      <p:ext uri="{BB962C8B-B14F-4D97-AF65-F5344CB8AC3E}">
        <p14:creationId xmlns:p14="http://schemas.microsoft.com/office/powerpoint/2010/main" val="3792776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3DCAD-D507-2234-A94D-753424F684E4}"/>
              </a:ext>
            </a:extLst>
          </p:cNvPr>
          <p:cNvSpPr>
            <a:spLocks noGrp="1"/>
          </p:cNvSpPr>
          <p:nvPr>
            <p:ph type="title"/>
          </p:nvPr>
        </p:nvSpPr>
        <p:spPr/>
        <p:txBody>
          <a:bodyPr/>
          <a:lstStyle/>
          <a:p>
            <a:r>
              <a:rPr lang="es-MX" dirty="0"/>
              <a:t>Santo Tomás</a:t>
            </a:r>
            <a:endParaRPr lang="es-PE" dirty="0"/>
          </a:p>
        </p:txBody>
      </p:sp>
      <p:sp>
        <p:nvSpPr>
          <p:cNvPr id="3" name="Content Placeholder 2">
            <a:extLst>
              <a:ext uri="{FF2B5EF4-FFF2-40B4-BE49-F238E27FC236}">
                <a16:creationId xmlns:a16="http://schemas.microsoft.com/office/drawing/2014/main" id="{5B78EEB2-D70F-C170-B622-96094B38C8ED}"/>
              </a:ext>
            </a:extLst>
          </p:cNvPr>
          <p:cNvSpPr>
            <a:spLocks noGrp="1"/>
          </p:cNvSpPr>
          <p:nvPr>
            <p:ph idx="1"/>
          </p:nvPr>
        </p:nvSpPr>
        <p:spPr/>
        <p:txBody>
          <a:bodyPr/>
          <a:lstStyle/>
          <a:p>
            <a:r>
              <a:rPr lang="es-MX" dirty="0"/>
              <a:t>Cristianismo + Aristóteles</a:t>
            </a:r>
          </a:p>
          <a:p>
            <a:r>
              <a:rPr lang="es-MX" dirty="0"/>
              <a:t>Una ley natural (la razón) guía la conducta hacia el bien común.</a:t>
            </a:r>
          </a:p>
          <a:p>
            <a:r>
              <a:rPr lang="es-MX" dirty="0"/>
              <a:t>Virtudes cardinales / virtudes teologales = fe, esperanza, caridad </a:t>
            </a:r>
            <a:endParaRPr lang="es-PE" dirty="0"/>
          </a:p>
        </p:txBody>
      </p:sp>
    </p:spTree>
    <p:extLst>
      <p:ext uri="{BB962C8B-B14F-4D97-AF65-F5344CB8AC3E}">
        <p14:creationId xmlns:p14="http://schemas.microsoft.com/office/powerpoint/2010/main" val="60463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24BC3-E6CC-C2D8-6EAA-73B8B9B701A5}"/>
              </a:ext>
            </a:extLst>
          </p:cNvPr>
          <p:cNvSpPr>
            <a:spLocks noGrp="1"/>
          </p:cNvSpPr>
          <p:nvPr>
            <p:ph type="title"/>
          </p:nvPr>
        </p:nvSpPr>
        <p:spPr>
          <a:xfrm>
            <a:off x="838200" y="1"/>
            <a:ext cx="10515600" cy="1503878"/>
          </a:xfrm>
        </p:spPr>
        <p:txBody>
          <a:bodyPr>
            <a:normAutofit/>
          </a:bodyPr>
          <a:lstStyle/>
          <a:p>
            <a:pPr algn="ctr"/>
            <a:r>
              <a:rPr lang="es-MX" sz="6000" dirty="0">
                <a:solidFill>
                  <a:srgbClr val="FF0000"/>
                </a:solidFill>
              </a:rPr>
              <a:t>Deontología vs Utilitarismo</a:t>
            </a:r>
            <a:endParaRPr lang="es-PE" sz="6000" dirty="0">
              <a:solidFill>
                <a:srgbClr val="FF0000"/>
              </a:solidFill>
            </a:endParaRPr>
          </a:p>
        </p:txBody>
      </p:sp>
      <p:pic>
        <p:nvPicPr>
          <p:cNvPr id="5" name="Picture 4">
            <a:extLst>
              <a:ext uri="{FF2B5EF4-FFF2-40B4-BE49-F238E27FC236}">
                <a16:creationId xmlns:a16="http://schemas.microsoft.com/office/drawing/2014/main" id="{6A13FED6-3D8E-07B1-F4B1-EED6BD5C16CE}"/>
              </a:ext>
            </a:extLst>
          </p:cNvPr>
          <p:cNvPicPr>
            <a:picLocks noChangeAspect="1"/>
          </p:cNvPicPr>
          <p:nvPr/>
        </p:nvPicPr>
        <p:blipFill>
          <a:blip r:embed="rId2"/>
          <a:stretch>
            <a:fillRect/>
          </a:stretch>
        </p:blipFill>
        <p:spPr>
          <a:xfrm>
            <a:off x="1090723" y="1503879"/>
            <a:ext cx="10263077" cy="4988996"/>
          </a:xfrm>
          <a:prstGeom prst="rect">
            <a:avLst/>
          </a:prstGeom>
        </p:spPr>
      </p:pic>
    </p:spTree>
    <p:extLst>
      <p:ext uri="{BB962C8B-B14F-4D97-AF65-F5344CB8AC3E}">
        <p14:creationId xmlns:p14="http://schemas.microsoft.com/office/powerpoint/2010/main" val="4150103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F7211-A8C6-9F3C-EC4E-41A99A5CCBE4}"/>
              </a:ext>
            </a:extLst>
          </p:cNvPr>
          <p:cNvSpPr>
            <a:spLocks noGrp="1"/>
          </p:cNvSpPr>
          <p:nvPr>
            <p:ph type="title"/>
          </p:nvPr>
        </p:nvSpPr>
        <p:spPr/>
        <p:txBody>
          <a:bodyPr/>
          <a:lstStyle/>
          <a:p>
            <a:r>
              <a:rPr lang="es-MX" dirty="0"/>
              <a:t>Mill </a:t>
            </a:r>
            <a:endParaRPr lang="es-PE" dirty="0"/>
          </a:p>
        </p:txBody>
      </p:sp>
      <p:sp>
        <p:nvSpPr>
          <p:cNvPr id="3" name="Content Placeholder 2">
            <a:extLst>
              <a:ext uri="{FF2B5EF4-FFF2-40B4-BE49-F238E27FC236}">
                <a16:creationId xmlns:a16="http://schemas.microsoft.com/office/drawing/2014/main" id="{DBE7F276-BB4B-C043-489D-1F4A69290BA3}"/>
              </a:ext>
            </a:extLst>
          </p:cNvPr>
          <p:cNvSpPr>
            <a:spLocks noGrp="1"/>
          </p:cNvSpPr>
          <p:nvPr>
            <p:ph idx="1"/>
          </p:nvPr>
        </p:nvSpPr>
        <p:spPr/>
        <p:txBody>
          <a:bodyPr>
            <a:normAutofit lnSpcReduction="10000"/>
          </a:bodyPr>
          <a:lstStyle/>
          <a:p>
            <a:r>
              <a:rPr lang="es-MX" dirty="0"/>
              <a:t>Consecuencialismo o utilitarismo</a:t>
            </a:r>
          </a:p>
          <a:p>
            <a:r>
              <a:rPr lang="es-MX" dirty="0"/>
              <a:t>Lo bueno es lo que produce mayor felicidad para el mayor número.</a:t>
            </a:r>
          </a:p>
          <a:p>
            <a:r>
              <a:rPr lang="es-MX" dirty="0"/>
              <a:t>Importa el resultado.</a:t>
            </a:r>
          </a:p>
          <a:p>
            <a:r>
              <a:rPr lang="es-MX" dirty="0"/>
              <a:t>Se evalúa en términos de placer y ausencia de sufrimiento.</a:t>
            </a:r>
          </a:p>
          <a:p>
            <a:r>
              <a:rPr lang="es-MX" dirty="0"/>
              <a:t>Placeres superiores = intelectuales, espirituales</a:t>
            </a:r>
          </a:p>
          <a:p>
            <a:r>
              <a:rPr lang="es-MX" dirty="0"/>
              <a:t>Placeres inferiores = sensuales.</a:t>
            </a:r>
          </a:p>
          <a:p>
            <a:r>
              <a:rPr lang="es-MX" dirty="0"/>
              <a:t>Las libertades (de expresión, de acción, de confesión) son necesarias para el progreso moral .</a:t>
            </a:r>
          </a:p>
          <a:p>
            <a:r>
              <a:rPr lang="es-MX" dirty="0"/>
              <a:t>No es tan simple como parece.</a:t>
            </a:r>
          </a:p>
          <a:p>
            <a:endParaRPr lang="es-PE" dirty="0"/>
          </a:p>
        </p:txBody>
      </p:sp>
    </p:spTree>
    <p:extLst>
      <p:ext uri="{BB962C8B-B14F-4D97-AF65-F5344CB8AC3E}">
        <p14:creationId xmlns:p14="http://schemas.microsoft.com/office/powerpoint/2010/main" val="3577991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1F8EC-BDEE-197A-CBD9-B098BC8F53C6}"/>
              </a:ext>
            </a:extLst>
          </p:cNvPr>
          <p:cNvSpPr>
            <a:spLocks noGrp="1"/>
          </p:cNvSpPr>
          <p:nvPr>
            <p:ph type="title"/>
          </p:nvPr>
        </p:nvSpPr>
        <p:spPr/>
        <p:txBody>
          <a:bodyPr/>
          <a:lstStyle/>
          <a:p>
            <a:r>
              <a:rPr lang="es-MX" dirty="0"/>
              <a:t>Kant</a:t>
            </a:r>
            <a:endParaRPr lang="es-PE" dirty="0"/>
          </a:p>
        </p:txBody>
      </p:sp>
      <p:sp>
        <p:nvSpPr>
          <p:cNvPr id="3" name="Content Placeholder 2">
            <a:extLst>
              <a:ext uri="{FF2B5EF4-FFF2-40B4-BE49-F238E27FC236}">
                <a16:creationId xmlns:a16="http://schemas.microsoft.com/office/drawing/2014/main" id="{B6D72C4B-376B-18C1-F9F6-B602F607E281}"/>
              </a:ext>
            </a:extLst>
          </p:cNvPr>
          <p:cNvSpPr>
            <a:spLocks noGrp="1"/>
          </p:cNvSpPr>
          <p:nvPr>
            <p:ph idx="1"/>
          </p:nvPr>
        </p:nvSpPr>
        <p:spPr/>
        <p:txBody>
          <a:bodyPr/>
          <a:lstStyle/>
          <a:p>
            <a:r>
              <a:rPr lang="es-MX" dirty="0"/>
              <a:t>Ética formal : ideas prácticas normativas</a:t>
            </a:r>
          </a:p>
          <a:p>
            <a:r>
              <a:rPr lang="es-MX" dirty="0"/>
              <a:t>Deontología: el deber ser</a:t>
            </a:r>
          </a:p>
          <a:p>
            <a:r>
              <a:rPr lang="es-MX" dirty="0"/>
              <a:t>La moral no depende de las consecuencias</a:t>
            </a:r>
          </a:p>
          <a:p>
            <a:r>
              <a:rPr lang="es-MX" dirty="0"/>
              <a:t>La moral depende la intención</a:t>
            </a:r>
          </a:p>
          <a:p>
            <a:r>
              <a:rPr lang="es-MX" dirty="0"/>
              <a:t>Imperativo categórico = actúa de modo que tu acto se pueda convertir en una ley universal. Tratar a las personas como fines y no como medios. </a:t>
            </a:r>
          </a:p>
          <a:p>
            <a:r>
              <a:rPr lang="es-MX" dirty="0"/>
              <a:t>Libertad interna = autonomía</a:t>
            </a:r>
          </a:p>
          <a:p>
            <a:r>
              <a:rPr lang="es-MX" dirty="0"/>
              <a:t>Libertad externa = derecho y política</a:t>
            </a:r>
            <a:endParaRPr lang="es-PE" dirty="0"/>
          </a:p>
        </p:txBody>
      </p:sp>
    </p:spTree>
    <p:extLst>
      <p:ext uri="{BB962C8B-B14F-4D97-AF65-F5344CB8AC3E}">
        <p14:creationId xmlns:p14="http://schemas.microsoft.com/office/powerpoint/2010/main" val="3902432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2EC304-856A-4C91-B4BD-070AD6DC73FC}"/>
              </a:ext>
            </a:extLst>
          </p:cNvPr>
          <p:cNvSpPr>
            <a:spLocks noGrp="1"/>
          </p:cNvSpPr>
          <p:nvPr>
            <p:ph type="title"/>
          </p:nvPr>
        </p:nvSpPr>
        <p:spPr/>
        <p:txBody>
          <a:bodyPr/>
          <a:lstStyle/>
          <a:p>
            <a:r>
              <a:rPr lang="es-MX" dirty="0">
                <a:solidFill>
                  <a:srgbClr val="FF0000"/>
                </a:solidFill>
              </a:rPr>
              <a:t>Tarea para la sesión práctica de la semana 13</a:t>
            </a:r>
            <a:endParaRPr lang="es-PE" dirty="0">
              <a:solidFill>
                <a:srgbClr val="FF0000"/>
              </a:solidFill>
            </a:endParaRPr>
          </a:p>
        </p:txBody>
      </p:sp>
      <p:sp>
        <p:nvSpPr>
          <p:cNvPr id="3" name="Marcador de contenido 2">
            <a:extLst>
              <a:ext uri="{FF2B5EF4-FFF2-40B4-BE49-F238E27FC236}">
                <a16:creationId xmlns:a16="http://schemas.microsoft.com/office/drawing/2014/main" id="{6977A2A1-0584-4854-8AC8-D6432C5B23E7}"/>
              </a:ext>
            </a:extLst>
          </p:cNvPr>
          <p:cNvSpPr>
            <a:spLocks noGrp="1"/>
          </p:cNvSpPr>
          <p:nvPr>
            <p:ph idx="1"/>
          </p:nvPr>
        </p:nvSpPr>
        <p:spPr/>
        <p:txBody>
          <a:bodyPr/>
          <a:lstStyle/>
          <a:p>
            <a:pPr marL="0" indent="0">
              <a:buNone/>
            </a:pPr>
            <a:r>
              <a:rPr lang="es-MX" dirty="0">
                <a:solidFill>
                  <a:srgbClr val="FF0000"/>
                </a:solidFill>
              </a:rPr>
              <a:t>Con sus grupos de trabajo, lean las páginas 12-22 de ¿Qué es el utilitarismo? de J. S. Mill. A continuación, desarrollen los siguientes ítems:</a:t>
            </a:r>
          </a:p>
          <a:p>
            <a:pPr marL="571500" indent="-571500">
              <a:buAutoNum type="romanLcPeriod"/>
            </a:pPr>
            <a:r>
              <a:rPr lang="es-PE" dirty="0">
                <a:solidFill>
                  <a:srgbClr val="FF0000"/>
                </a:solidFill>
              </a:rPr>
              <a:t>Detallen las tres críticas al utilitarismo que señala Mill.</a:t>
            </a:r>
          </a:p>
          <a:p>
            <a:pPr marL="571500" indent="-571500">
              <a:buAutoNum type="romanLcPeriod"/>
            </a:pPr>
            <a:r>
              <a:rPr lang="es-MX" dirty="0">
                <a:solidFill>
                  <a:srgbClr val="FF0000"/>
                </a:solidFill>
              </a:rPr>
              <a:t>D</a:t>
            </a:r>
            <a:r>
              <a:rPr lang="es-PE" dirty="0" err="1">
                <a:solidFill>
                  <a:srgbClr val="FF0000"/>
                </a:solidFill>
              </a:rPr>
              <a:t>etallen</a:t>
            </a:r>
            <a:r>
              <a:rPr lang="es-PE" dirty="0">
                <a:solidFill>
                  <a:srgbClr val="FF0000"/>
                </a:solidFill>
              </a:rPr>
              <a:t> las respuestas de Mill a dichas críticas.</a:t>
            </a:r>
          </a:p>
          <a:p>
            <a:pPr marL="0" indent="0">
              <a:buNone/>
            </a:pPr>
            <a:endParaRPr lang="es-MX" dirty="0">
              <a:solidFill>
                <a:srgbClr val="FF0000"/>
              </a:solidFill>
            </a:endParaRPr>
          </a:p>
          <a:p>
            <a:pPr marL="0" indent="0">
              <a:buNone/>
            </a:pPr>
            <a:r>
              <a:rPr lang="es-MX" dirty="0">
                <a:solidFill>
                  <a:srgbClr val="FF0000"/>
                </a:solidFill>
              </a:rPr>
              <a:t>En el desarrollo de estos ítems deben utilizar ejemplos propios.</a:t>
            </a:r>
          </a:p>
        </p:txBody>
      </p:sp>
    </p:spTree>
    <p:extLst>
      <p:ext uri="{BB962C8B-B14F-4D97-AF65-F5344CB8AC3E}">
        <p14:creationId xmlns:p14="http://schemas.microsoft.com/office/powerpoint/2010/main" val="1106362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981579-F4BC-1142-BA10-3F4F0E3341E9}"/>
              </a:ext>
            </a:extLst>
          </p:cNvPr>
          <p:cNvSpPr>
            <a:spLocks noGrp="1"/>
          </p:cNvSpPr>
          <p:nvPr>
            <p:ph type="title"/>
          </p:nvPr>
        </p:nvSpPr>
        <p:spPr/>
        <p:txBody>
          <a:bodyPr/>
          <a:lstStyle/>
          <a:p>
            <a:r>
              <a:rPr lang="es-ES_tradnl" b="1" dirty="0"/>
              <a:t>Críticas al utilitarismo</a:t>
            </a:r>
          </a:p>
        </p:txBody>
      </p:sp>
      <p:sp>
        <p:nvSpPr>
          <p:cNvPr id="3" name="Marcador de contenido 2">
            <a:extLst>
              <a:ext uri="{FF2B5EF4-FFF2-40B4-BE49-F238E27FC236}">
                <a16:creationId xmlns:a16="http://schemas.microsoft.com/office/drawing/2014/main" id="{93F4D7FC-66A0-B84A-A298-13D640713E83}"/>
              </a:ext>
            </a:extLst>
          </p:cNvPr>
          <p:cNvSpPr>
            <a:spLocks noGrp="1"/>
          </p:cNvSpPr>
          <p:nvPr>
            <p:ph idx="1"/>
          </p:nvPr>
        </p:nvSpPr>
        <p:spPr/>
        <p:txBody>
          <a:bodyPr>
            <a:normAutofit/>
          </a:bodyPr>
          <a:lstStyle/>
          <a:p>
            <a:pPr marL="514350" indent="-514350" algn="just">
              <a:buAutoNum type="arabicPeriod"/>
            </a:pPr>
            <a:r>
              <a:rPr lang="es-ES_tradnl" b="1" dirty="0"/>
              <a:t>Demanda demasiado del ser humano: demanda que la motivación de nuestras acciones sea el deber respecto a la felicidad universal</a:t>
            </a:r>
          </a:p>
          <a:p>
            <a:pPr marL="0" indent="0">
              <a:buNone/>
            </a:pPr>
            <a:endParaRPr lang="es-ES_tradnl" b="1" dirty="0"/>
          </a:p>
          <a:p>
            <a:pPr marL="0" indent="0" algn="just">
              <a:buNone/>
            </a:pPr>
            <a:r>
              <a:rPr lang="es-ES_tradnl" b="1" dirty="0"/>
              <a:t>Respuesta</a:t>
            </a:r>
            <a:endParaRPr lang="es-ES_tradnl" dirty="0"/>
          </a:p>
          <a:p>
            <a:pPr marL="1028700" lvl="1" indent="-571500" algn="just">
              <a:buFont typeface="+mj-lt"/>
              <a:buAutoNum type="romanLcPeriod"/>
            </a:pPr>
            <a:r>
              <a:rPr lang="es-ES_tradnl" dirty="0"/>
              <a:t>Lo único que demanda el utilitarismo es que las consecuencias de nuestras acciones aporten a la felicidad universal. Reconoce un deber respecto a la felicidad universal, pero no demanda que este sea el motivo de nuestras acciones.</a:t>
            </a:r>
          </a:p>
          <a:p>
            <a:pPr marL="1028700" lvl="1" indent="-571500" algn="just">
              <a:buFont typeface="+mj-lt"/>
              <a:buAutoNum type="romanLcPeriod"/>
            </a:pPr>
            <a:r>
              <a:rPr lang="es-ES_tradnl" dirty="0"/>
              <a:t>Incluso para quienes tienen por motivo ese deber, este no supone que cada acción suya logre beneficiar a la sociedad en conjunto, sino solo a quienes concierne la acción en particular.</a:t>
            </a:r>
            <a:endParaRPr lang="es-ES_tradnl" b="1" dirty="0"/>
          </a:p>
        </p:txBody>
      </p:sp>
    </p:spTree>
    <p:extLst>
      <p:ext uri="{BB962C8B-B14F-4D97-AF65-F5344CB8AC3E}">
        <p14:creationId xmlns:p14="http://schemas.microsoft.com/office/powerpoint/2010/main" val="120745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850BC8-7CCF-7640-A4DB-056330E044F3}"/>
              </a:ext>
            </a:extLst>
          </p:cNvPr>
          <p:cNvSpPr>
            <a:spLocks noGrp="1"/>
          </p:cNvSpPr>
          <p:nvPr>
            <p:ph type="title"/>
          </p:nvPr>
        </p:nvSpPr>
        <p:spPr/>
        <p:txBody>
          <a:bodyPr/>
          <a:lstStyle/>
          <a:p>
            <a:r>
              <a:rPr lang="es-ES_tradnl" b="1" dirty="0"/>
              <a:t>Críticas al utilitarismo</a:t>
            </a:r>
          </a:p>
        </p:txBody>
      </p:sp>
      <p:sp>
        <p:nvSpPr>
          <p:cNvPr id="3" name="Marcador de contenido 2">
            <a:extLst>
              <a:ext uri="{FF2B5EF4-FFF2-40B4-BE49-F238E27FC236}">
                <a16:creationId xmlns:a16="http://schemas.microsoft.com/office/drawing/2014/main" id="{30F8B15D-6930-B341-BB1C-E0838F4504B4}"/>
              </a:ext>
            </a:extLst>
          </p:cNvPr>
          <p:cNvSpPr>
            <a:spLocks noGrp="1"/>
          </p:cNvSpPr>
          <p:nvPr>
            <p:ph idx="1"/>
          </p:nvPr>
        </p:nvSpPr>
        <p:spPr/>
        <p:txBody>
          <a:bodyPr/>
          <a:lstStyle/>
          <a:p>
            <a:pPr marL="0" indent="0" algn="just">
              <a:buNone/>
            </a:pPr>
            <a:r>
              <a:rPr lang="es-ES_tradnl" b="1" dirty="0"/>
              <a:t>2. El utilitarismo se olvida del valor de las cualidades virtuosas de algunas personas y se concentra solo en el frío cálculo de utilidad en las acciones.</a:t>
            </a:r>
          </a:p>
          <a:p>
            <a:pPr marL="0" indent="0">
              <a:buNone/>
            </a:pPr>
            <a:endParaRPr lang="es-ES_tradnl" b="1" dirty="0"/>
          </a:p>
          <a:p>
            <a:pPr marL="0" indent="0" algn="just">
              <a:buNone/>
            </a:pPr>
            <a:r>
              <a:rPr lang="es-ES_tradnl" b="1" dirty="0"/>
              <a:t>Respuesta: </a:t>
            </a:r>
            <a:r>
              <a:rPr lang="es-ES_tradnl" dirty="0"/>
              <a:t>Cualquier teoría moral evalúa las acciones de los agentes morales, al margen de quién sea la persona específica que tome ese rol (y, evidentemente, al margen de si es virtuosa o no). El utilitarismo considera que hay objetos del deseo distintos de la virtud. La virtud y la acción correcta no están condicionadas mutuamente.</a:t>
            </a:r>
          </a:p>
        </p:txBody>
      </p:sp>
    </p:spTree>
    <p:extLst>
      <p:ext uri="{BB962C8B-B14F-4D97-AF65-F5344CB8AC3E}">
        <p14:creationId xmlns:p14="http://schemas.microsoft.com/office/powerpoint/2010/main" val="2359290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CE3391-6C9F-4947-8CA8-7CE83AB2533B}"/>
              </a:ext>
            </a:extLst>
          </p:cNvPr>
          <p:cNvSpPr>
            <a:spLocks noGrp="1"/>
          </p:cNvSpPr>
          <p:nvPr>
            <p:ph type="title"/>
          </p:nvPr>
        </p:nvSpPr>
        <p:spPr/>
        <p:txBody>
          <a:bodyPr/>
          <a:lstStyle/>
          <a:p>
            <a:r>
              <a:rPr lang="es-ES_tradnl" b="1" dirty="0"/>
              <a:t>Críticas al utilitarismo</a:t>
            </a:r>
          </a:p>
        </p:txBody>
      </p:sp>
      <p:sp>
        <p:nvSpPr>
          <p:cNvPr id="3" name="Marcador de contenido 2">
            <a:extLst>
              <a:ext uri="{FF2B5EF4-FFF2-40B4-BE49-F238E27FC236}">
                <a16:creationId xmlns:a16="http://schemas.microsoft.com/office/drawing/2014/main" id="{B29EAE03-1563-7E4C-8A75-4F1F2C2A508F}"/>
              </a:ext>
            </a:extLst>
          </p:cNvPr>
          <p:cNvSpPr>
            <a:spLocks noGrp="1"/>
          </p:cNvSpPr>
          <p:nvPr>
            <p:ph idx="1"/>
          </p:nvPr>
        </p:nvSpPr>
        <p:spPr/>
        <p:txBody>
          <a:bodyPr>
            <a:normAutofit/>
          </a:bodyPr>
          <a:lstStyle/>
          <a:p>
            <a:pPr marL="0" indent="0" algn="just">
              <a:buNone/>
            </a:pPr>
            <a:r>
              <a:rPr lang="es-ES_tradnl" b="1" dirty="0"/>
              <a:t>3. Es imposible calcular qué debe hacer un agente para generar mayor beneficio para todos los actores involucrados antes de cada acción.</a:t>
            </a:r>
          </a:p>
          <a:p>
            <a:pPr marL="0" indent="0" algn="just">
              <a:buNone/>
            </a:pPr>
            <a:endParaRPr lang="es-ES_tradnl" b="1" dirty="0"/>
          </a:p>
          <a:p>
            <a:pPr marL="0" indent="0" algn="just">
              <a:buNone/>
            </a:pPr>
            <a:r>
              <a:rPr lang="es-ES_tradnl" b="1" dirty="0"/>
              <a:t>Respuesta:</a:t>
            </a:r>
            <a:r>
              <a:rPr lang="es-ES_tradnl" dirty="0"/>
              <a:t> La experiencia no es individual, sino del género humano. Las reglas frente a las que tenemos deberes en cada acción particular son tales porque la experiencia de las civilizaciones ha probado que hay determinados deberes morales que detallan cómo se aplica el principio de utilidad en cada acción particular.</a:t>
            </a:r>
            <a:r>
              <a:rPr lang="es-ES_tradnl" b="1" dirty="0"/>
              <a:t> El utilitarismo tiene un principio fundamental y todo otro principio será derivado de aquel y, por tanto, secundario.</a:t>
            </a:r>
          </a:p>
          <a:p>
            <a:pPr marL="0" indent="0">
              <a:buNone/>
            </a:pPr>
            <a:endParaRPr lang="es-ES_tradnl" dirty="0"/>
          </a:p>
        </p:txBody>
      </p:sp>
    </p:spTree>
    <p:extLst>
      <p:ext uri="{BB962C8B-B14F-4D97-AF65-F5344CB8AC3E}">
        <p14:creationId xmlns:p14="http://schemas.microsoft.com/office/powerpoint/2010/main" val="1738497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FCDB40-6CA9-3841-ADDB-C70C89FF21DD}"/>
              </a:ext>
            </a:extLst>
          </p:cNvPr>
          <p:cNvSpPr>
            <a:spLocks noGrp="1"/>
          </p:cNvSpPr>
          <p:nvPr>
            <p:ph type="title"/>
          </p:nvPr>
        </p:nvSpPr>
        <p:spPr>
          <a:xfrm>
            <a:off x="838200" y="504825"/>
            <a:ext cx="10515600" cy="1325563"/>
          </a:xfrm>
        </p:spPr>
        <p:txBody>
          <a:bodyPr/>
          <a:lstStyle/>
          <a:p>
            <a:r>
              <a:rPr lang="es-ES_tradnl" b="1" dirty="0"/>
              <a:t>La postura utilitarista en contra de la deontología</a:t>
            </a:r>
          </a:p>
        </p:txBody>
      </p:sp>
      <p:sp>
        <p:nvSpPr>
          <p:cNvPr id="3" name="Marcador de contenido 2">
            <a:extLst>
              <a:ext uri="{FF2B5EF4-FFF2-40B4-BE49-F238E27FC236}">
                <a16:creationId xmlns:a16="http://schemas.microsoft.com/office/drawing/2014/main" id="{783AD02C-574E-C043-93C9-1BC6C0953830}"/>
              </a:ext>
            </a:extLst>
          </p:cNvPr>
          <p:cNvSpPr>
            <a:spLocks noGrp="1"/>
          </p:cNvSpPr>
          <p:nvPr>
            <p:ph idx="1"/>
          </p:nvPr>
        </p:nvSpPr>
        <p:spPr>
          <a:xfrm>
            <a:off x="838200" y="2560637"/>
            <a:ext cx="10515600" cy="2971800"/>
          </a:xfrm>
        </p:spPr>
        <p:txBody>
          <a:bodyPr>
            <a:normAutofit/>
          </a:bodyPr>
          <a:lstStyle/>
          <a:p>
            <a:pPr marL="0" indent="0" algn="just">
              <a:buNone/>
            </a:pPr>
            <a:r>
              <a:rPr lang="es-PE" dirty="0"/>
              <a:t>“Si la utilidad es la fuente última de la obligación moral, puede invocarse la utilidad para decidir entre derechos y obligaciones cuando las demandas de ambos son incompatibles. Aun cuando la aplicación del criterio pueda ser difícil, es mejor que carecer de criterio, pues ocurre que, en otros sistemas, al pretender todas las leyes morales autoridad independiente, no existe un poder común autorizado para poner orden entre ellas.” (96)</a:t>
            </a:r>
          </a:p>
          <a:p>
            <a:endParaRPr lang="es-ES_tradnl" dirty="0"/>
          </a:p>
        </p:txBody>
      </p:sp>
    </p:spTree>
    <p:extLst>
      <p:ext uri="{BB962C8B-B14F-4D97-AF65-F5344CB8AC3E}">
        <p14:creationId xmlns:p14="http://schemas.microsoft.com/office/powerpoint/2010/main" val="41547339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2C048-0967-5BE9-01CA-4E92B1F307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EDE2C8-6563-25B9-0749-922E92863240}"/>
              </a:ext>
            </a:extLst>
          </p:cNvPr>
          <p:cNvSpPr>
            <a:spLocks noGrp="1"/>
          </p:cNvSpPr>
          <p:nvPr>
            <p:ph type="title"/>
          </p:nvPr>
        </p:nvSpPr>
        <p:spPr>
          <a:xfrm>
            <a:off x="838200" y="504825"/>
            <a:ext cx="10515600" cy="1325563"/>
          </a:xfrm>
        </p:spPr>
        <p:txBody>
          <a:bodyPr/>
          <a:lstStyle/>
          <a:p>
            <a:r>
              <a:rPr lang="es-ES_tradnl" b="1" dirty="0"/>
              <a:t>La postura deontológica en contra del utilitarismo</a:t>
            </a:r>
          </a:p>
        </p:txBody>
      </p:sp>
      <p:sp>
        <p:nvSpPr>
          <p:cNvPr id="3" name="Marcador de contenido 2">
            <a:extLst>
              <a:ext uri="{FF2B5EF4-FFF2-40B4-BE49-F238E27FC236}">
                <a16:creationId xmlns:a16="http://schemas.microsoft.com/office/drawing/2014/main" id="{DA60D0FC-0F8B-ED5C-B52A-B31BD8616F2A}"/>
              </a:ext>
            </a:extLst>
          </p:cNvPr>
          <p:cNvSpPr>
            <a:spLocks noGrp="1"/>
          </p:cNvSpPr>
          <p:nvPr>
            <p:ph idx="1"/>
          </p:nvPr>
        </p:nvSpPr>
        <p:spPr>
          <a:xfrm>
            <a:off x="838200" y="2560637"/>
            <a:ext cx="10515600" cy="2971800"/>
          </a:xfrm>
        </p:spPr>
        <p:txBody>
          <a:bodyPr>
            <a:normAutofit/>
          </a:bodyPr>
          <a:lstStyle/>
          <a:p>
            <a:pPr marL="0" indent="0" algn="just">
              <a:buNone/>
            </a:pPr>
            <a:r>
              <a:rPr lang="es-PE" dirty="0"/>
              <a:t>Para eso nos toca revisar a Kant … (y leer a T. Nagel)</a:t>
            </a:r>
          </a:p>
          <a:p>
            <a:endParaRPr lang="es-ES_tradnl" dirty="0"/>
          </a:p>
        </p:txBody>
      </p:sp>
    </p:spTree>
    <p:extLst>
      <p:ext uri="{BB962C8B-B14F-4D97-AF65-F5344CB8AC3E}">
        <p14:creationId xmlns:p14="http://schemas.microsoft.com/office/powerpoint/2010/main" val="26979080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1229</Words>
  <Application>Microsoft Office PowerPoint</Application>
  <PresentationFormat>Widescreen</PresentationFormat>
  <Paragraphs>117</Paragraphs>
  <Slides>22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PowerPoint Presentation</vt:lpstr>
      <vt:lpstr>PowerPoint Presentation</vt:lpstr>
      <vt:lpstr>PowerPoint Presentation</vt:lpstr>
      <vt:lpstr>Diógenes de Sínope</vt:lpstr>
      <vt:lpstr>Epicuro</vt:lpstr>
      <vt:lpstr>Sócrates</vt:lpstr>
      <vt:lpstr>Platón</vt:lpstr>
      <vt:lpstr>Aristóteles</vt:lpstr>
      <vt:lpstr>Helenismo = vida individual y serenidad interior</vt:lpstr>
      <vt:lpstr>Marco Aurelio</vt:lpstr>
      <vt:lpstr>Epicteto</vt:lpstr>
      <vt:lpstr>San Agustín</vt:lpstr>
      <vt:lpstr>Santo Tomás</vt:lpstr>
      <vt:lpstr>Deontología vs Utilitarismo</vt:lpstr>
      <vt:lpstr>Mill </vt:lpstr>
      <vt:lpstr>Kant</vt:lpstr>
      <vt:lpstr>Tarea para la sesión práctica de la semana 13</vt:lpstr>
      <vt:lpstr>Críticas al utilitarismo</vt:lpstr>
      <vt:lpstr>Críticas al utilitarismo</vt:lpstr>
      <vt:lpstr>Críticas al utilitarismo</vt:lpstr>
      <vt:lpstr>La postura utilitarista en contra de la deontología</vt:lpstr>
      <vt:lpstr>La postura deontológica en contra del utilitarismo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 Garcìa Alcalà</dc:creator>
  <cp:lastModifiedBy>F. Garcìa Alcalà</cp:lastModifiedBy>
  <cp:revision>8</cp:revision>
  <dcterms:created xsi:type="dcterms:W3CDTF">2026-06-17T13:38:37Z</dcterms:created>
  <dcterms:modified xsi:type="dcterms:W3CDTF">2026-06-17T14:51:50Z</dcterms:modified>
</cp:coreProperties>
</file>