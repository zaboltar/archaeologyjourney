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0" r:id="rId7"/>
    <p:sldId id="263" r:id="rId8"/>
    <p:sldId id="264" r:id="rId9"/>
    <p:sldId id="265" r:id="rId10"/>
    <p:sldId id="340" r:id="rId11"/>
    <p:sldId id="329" r:id="rId12"/>
    <p:sldId id="266" r:id="rId13"/>
    <p:sldId id="267" r:id="rId14"/>
    <p:sldId id="270" r:id="rId15"/>
    <p:sldId id="271" r:id="rId16"/>
    <p:sldId id="272" r:id="rId17"/>
    <p:sldId id="273" r:id="rId18"/>
    <p:sldId id="274" r:id="rId19"/>
    <p:sldId id="277" r:id="rId20"/>
    <p:sldId id="278" r:id="rId21"/>
    <p:sldId id="280" r:id="rId22"/>
    <p:sldId id="268" r:id="rId23"/>
    <p:sldId id="353" r:id="rId24"/>
    <p:sldId id="348" r:id="rId25"/>
    <p:sldId id="261" r:id="rId26"/>
    <p:sldId id="282" r:id="rId27"/>
    <p:sldId id="281" r:id="rId28"/>
    <p:sldId id="354" r:id="rId29"/>
    <p:sldId id="283" r:id="rId30"/>
    <p:sldId id="355" r:id="rId31"/>
    <p:sldId id="284" r:id="rId32"/>
    <p:sldId id="341" r:id="rId33"/>
    <p:sldId id="342" r:id="rId34"/>
    <p:sldId id="343" r:id="rId35"/>
    <p:sldId id="344" r:id="rId36"/>
    <p:sldId id="345" r:id="rId37"/>
    <p:sldId id="349" r:id="rId38"/>
    <p:sldId id="346" r:id="rId39"/>
    <p:sldId id="347" r:id="rId40"/>
    <p:sldId id="350" r:id="rId41"/>
    <p:sldId id="351" r:id="rId42"/>
    <p:sldId id="352" r:id="rId43"/>
    <p:sldId id="287" r:id="rId44"/>
    <p:sldId id="285" r:id="rId45"/>
    <p:sldId id="286" r:id="rId46"/>
    <p:sldId id="356" r:id="rId47"/>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49" autoAdjust="0"/>
    <p:restoredTop sz="94660"/>
  </p:normalViewPr>
  <p:slideViewPr>
    <p:cSldViewPr snapToGrid="0">
      <p:cViewPr varScale="1">
        <p:scale>
          <a:sx n="52" d="100"/>
          <a:sy n="52" d="100"/>
        </p:scale>
        <p:origin x="114"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3C3CB-8EAD-C91D-5F07-786AF7E10A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PE"/>
          </a:p>
        </p:txBody>
      </p:sp>
      <p:sp>
        <p:nvSpPr>
          <p:cNvPr id="3" name="Subtitle 2">
            <a:extLst>
              <a:ext uri="{FF2B5EF4-FFF2-40B4-BE49-F238E27FC236}">
                <a16:creationId xmlns:a16="http://schemas.microsoft.com/office/drawing/2014/main" id="{48F1ACD1-E0EA-2CB6-D057-9D1B59064D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PE"/>
          </a:p>
        </p:txBody>
      </p:sp>
      <p:sp>
        <p:nvSpPr>
          <p:cNvPr id="4" name="Date Placeholder 3">
            <a:extLst>
              <a:ext uri="{FF2B5EF4-FFF2-40B4-BE49-F238E27FC236}">
                <a16:creationId xmlns:a16="http://schemas.microsoft.com/office/drawing/2014/main" id="{13BA691F-E020-9BF0-B307-DC4F0021E25F}"/>
              </a:ext>
            </a:extLst>
          </p:cNvPr>
          <p:cNvSpPr>
            <a:spLocks noGrp="1"/>
          </p:cNvSpPr>
          <p:nvPr>
            <p:ph type="dt" sz="half" idx="10"/>
          </p:nvPr>
        </p:nvSpPr>
        <p:spPr/>
        <p:txBody>
          <a:bodyPr/>
          <a:lstStyle/>
          <a:p>
            <a:fld id="{39DABB3F-5E6C-42AF-83E9-D6FF704FFD16}" type="datetimeFigureOut">
              <a:rPr lang="es-PE" smtClean="0"/>
              <a:t>25/05/2026</a:t>
            </a:fld>
            <a:endParaRPr lang="es-PE"/>
          </a:p>
        </p:txBody>
      </p:sp>
      <p:sp>
        <p:nvSpPr>
          <p:cNvPr id="5" name="Footer Placeholder 4">
            <a:extLst>
              <a:ext uri="{FF2B5EF4-FFF2-40B4-BE49-F238E27FC236}">
                <a16:creationId xmlns:a16="http://schemas.microsoft.com/office/drawing/2014/main" id="{772357CF-B423-F5FA-73DB-2F63C56B8E84}"/>
              </a:ext>
            </a:extLst>
          </p:cNvPr>
          <p:cNvSpPr>
            <a:spLocks noGrp="1"/>
          </p:cNvSpPr>
          <p:nvPr>
            <p:ph type="ftr" sz="quarter" idx="11"/>
          </p:nvPr>
        </p:nvSpPr>
        <p:spPr/>
        <p:txBody>
          <a:bodyPr/>
          <a:lstStyle/>
          <a:p>
            <a:endParaRPr lang="es-PE"/>
          </a:p>
        </p:txBody>
      </p:sp>
      <p:sp>
        <p:nvSpPr>
          <p:cNvPr id="6" name="Slide Number Placeholder 5">
            <a:extLst>
              <a:ext uri="{FF2B5EF4-FFF2-40B4-BE49-F238E27FC236}">
                <a16:creationId xmlns:a16="http://schemas.microsoft.com/office/drawing/2014/main" id="{9B408D73-AEF9-E27E-51A8-584BB68EC694}"/>
              </a:ext>
            </a:extLst>
          </p:cNvPr>
          <p:cNvSpPr>
            <a:spLocks noGrp="1"/>
          </p:cNvSpPr>
          <p:nvPr>
            <p:ph type="sldNum" sz="quarter" idx="12"/>
          </p:nvPr>
        </p:nvSpPr>
        <p:spPr/>
        <p:txBody>
          <a:bodyPr/>
          <a:lstStyle/>
          <a:p>
            <a:fld id="{45239A6F-6C64-4B8F-84E2-0B9799E54C41}" type="slidenum">
              <a:rPr lang="es-PE" smtClean="0"/>
              <a:t>‹#›</a:t>
            </a:fld>
            <a:endParaRPr lang="es-PE"/>
          </a:p>
        </p:txBody>
      </p:sp>
    </p:spTree>
    <p:extLst>
      <p:ext uri="{BB962C8B-B14F-4D97-AF65-F5344CB8AC3E}">
        <p14:creationId xmlns:p14="http://schemas.microsoft.com/office/powerpoint/2010/main" val="1732709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DD459-DB83-10CC-8B91-F848D8E7FD4B}"/>
              </a:ext>
            </a:extLst>
          </p:cNvPr>
          <p:cNvSpPr>
            <a:spLocks noGrp="1"/>
          </p:cNvSpPr>
          <p:nvPr>
            <p:ph type="title"/>
          </p:nvPr>
        </p:nvSpPr>
        <p:spPr/>
        <p:txBody>
          <a:bodyPr/>
          <a:lstStyle/>
          <a:p>
            <a:r>
              <a:rPr lang="en-US"/>
              <a:t>Click to edit Master title style</a:t>
            </a:r>
            <a:endParaRPr lang="es-PE"/>
          </a:p>
        </p:txBody>
      </p:sp>
      <p:sp>
        <p:nvSpPr>
          <p:cNvPr id="3" name="Content Placeholder 2">
            <a:extLst>
              <a:ext uri="{FF2B5EF4-FFF2-40B4-BE49-F238E27FC236}">
                <a16:creationId xmlns:a16="http://schemas.microsoft.com/office/drawing/2014/main" id="{AD84C823-BC43-E9F6-1BB4-CE4E15992A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Date Placeholder 3">
            <a:extLst>
              <a:ext uri="{FF2B5EF4-FFF2-40B4-BE49-F238E27FC236}">
                <a16:creationId xmlns:a16="http://schemas.microsoft.com/office/drawing/2014/main" id="{C8BFDCF3-B9DA-54A1-91DA-9F91AEA836F2}"/>
              </a:ext>
            </a:extLst>
          </p:cNvPr>
          <p:cNvSpPr>
            <a:spLocks noGrp="1"/>
          </p:cNvSpPr>
          <p:nvPr>
            <p:ph type="dt" sz="half" idx="10"/>
          </p:nvPr>
        </p:nvSpPr>
        <p:spPr/>
        <p:txBody>
          <a:bodyPr/>
          <a:lstStyle/>
          <a:p>
            <a:fld id="{39DABB3F-5E6C-42AF-83E9-D6FF704FFD16}" type="datetimeFigureOut">
              <a:rPr lang="es-PE" smtClean="0"/>
              <a:t>25/05/2026</a:t>
            </a:fld>
            <a:endParaRPr lang="es-PE"/>
          </a:p>
        </p:txBody>
      </p:sp>
      <p:sp>
        <p:nvSpPr>
          <p:cNvPr id="5" name="Footer Placeholder 4">
            <a:extLst>
              <a:ext uri="{FF2B5EF4-FFF2-40B4-BE49-F238E27FC236}">
                <a16:creationId xmlns:a16="http://schemas.microsoft.com/office/drawing/2014/main" id="{0528838B-FAD2-896E-76CD-91181812ED75}"/>
              </a:ext>
            </a:extLst>
          </p:cNvPr>
          <p:cNvSpPr>
            <a:spLocks noGrp="1"/>
          </p:cNvSpPr>
          <p:nvPr>
            <p:ph type="ftr" sz="quarter" idx="11"/>
          </p:nvPr>
        </p:nvSpPr>
        <p:spPr/>
        <p:txBody>
          <a:bodyPr/>
          <a:lstStyle/>
          <a:p>
            <a:endParaRPr lang="es-PE"/>
          </a:p>
        </p:txBody>
      </p:sp>
      <p:sp>
        <p:nvSpPr>
          <p:cNvPr id="6" name="Slide Number Placeholder 5">
            <a:extLst>
              <a:ext uri="{FF2B5EF4-FFF2-40B4-BE49-F238E27FC236}">
                <a16:creationId xmlns:a16="http://schemas.microsoft.com/office/drawing/2014/main" id="{65521E32-D663-4076-1F31-EEFEB92DE0B0}"/>
              </a:ext>
            </a:extLst>
          </p:cNvPr>
          <p:cNvSpPr>
            <a:spLocks noGrp="1"/>
          </p:cNvSpPr>
          <p:nvPr>
            <p:ph type="sldNum" sz="quarter" idx="12"/>
          </p:nvPr>
        </p:nvSpPr>
        <p:spPr/>
        <p:txBody>
          <a:bodyPr/>
          <a:lstStyle/>
          <a:p>
            <a:fld id="{45239A6F-6C64-4B8F-84E2-0B9799E54C41}" type="slidenum">
              <a:rPr lang="es-PE" smtClean="0"/>
              <a:t>‹#›</a:t>
            </a:fld>
            <a:endParaRPr lang="es-PE"/>
          </a:p>
        </p:txBody>
      </p:sp>
    </p:spTree>
    <p:extLst>
      <p:ext uri="{BB962C8B-B14F-4D97-AF65-F5344CB8AC3E}">
        <p14:creationId xmlns:p14="http://schemas.microsoft.com/office/powerpoint/2010/main" val="701005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4E52E-92EA-B49F-6CAD-0FE056FB54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PE"/>
          </a:p>
        </p:txBody>
      </p:sp>
      <p:sp>
        <p:nvSpPr>
          <p:cNvPr id="3" name="Text Placeholder 2">
            <a:extLst>
              <a:ext uri="{FF2B5EF4-FFF2-40B4-BE49-F238E27FC236}">
                <a16:creationId xmlns:a16="http://schemas.microsoft.com/office/drawing/2014/main" id="{D50F7B62-1BEF-897F-F968-E5B77FA0B8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C0B82B-8F37-5897-FBAF-854E29E4FB82}"/>
              </a:ext>
            </a:extLst>
          </p:cNvPr>
          <p:cNvSpPr>
            <a:spLocks noGrp="1"/>
          </p:cNvSpPr>
          <p:nvPr>
            <p:ph type="dt" sz="half" idx="10"/>
          </p:nvPr>
        </p:nvSpPr>
        <p:spPr/>
        <p:txBody>
          <a:bodyPr/>
          <a:lstStyle/>
          <a:p>
            <a:fld id="{39DABB3F-5E6C-42AF-83E9-D6FF704FFD16}" type="datetimeFigureOut">
              <a:rPr lang="es-PE" smtClean="0"/>
              <a:t>25/05/2026</a:t>
            </a:fld>
            <a:endParaRPr lang="es-PE"/>
          </a:p>
        </p:txBody>
      </p:sp>
      <p:sp>
        <p:nvSpPr>
          <p:cNvPr id="5" name="Footer Placeholder 4">
            <a:extLst>
              <a:ext uri="{FF2B5EF4-FFF2-40B4-BE49-F238E27FC236}">
                <a16:creationId xmlns:a16="http://schemas.microsoft.com/office/drawing/2014/main" id="{EC7CD060-C27E-26CF-77DF-1850E2ECDFFD}"/>
              </a:ext>
            </a:extLst>
          </p:cNvPr>
          <p:cNvSpPr>
            <a:spLocks noGrp="1"/>
          </p:cNvSpPr>
          <p:nvPr>
            <p:ph type="ftr" sz="quarter" idx="11"/>
          </p:nvPr>
        </p:nvSpPr>
        <p:spPr/>
        <p:txBody>
          <a:bodyPr/>
          <a:lstStyle/>
          <a:p>
            <a:endParaRPr lang="es-PE"/>
          </a:p>
        </p:txBody>
      </p:sp>
      <p:sp>
        <p:nvSpPr>
          <p:cNvPr id="6" name="Slide Number Placeholder 5">
            <a:extLst>
              <a:ext uri="{FF2B5EF4-FFF2-40B4-BE49-F238E27FC236}">
                <a16:creationId xmlns:a16="http://schemas.microsoft.com/office/drawing/2014/main" id="{6D478ACA-3376-CBA3-4635-8C46CAEAB994}"/>
              </a:ext>
            </a:extLst>
          </p:cNvPr>
          <p:cNvSpPr>
            <a:spLocks noGrp="1"/>
          </p:cNvSpPr>
          <p:nvPr>
            <p:ph type="sldNum" sz="quarter" idx="12"/>
          </p:nvPr>
        </p:nvSpPr>
        <p:spPr/>
        <p:txBody>
          <a:bodyPr/>
          <a:lstStyle/>
          <a:p>
            <a:fld id="{45239A6F-6C64-4B8F-84E2-0B9799E54C41}" type="slidenum">
              <a:rPr lang="es-PE" smtClean="0"/>
              <a:t>‹#›</a:t>
            </a:fld>
            <a:endParaRPr lang="es-PE"/>
          </a:p>
        </p:txBody>
      </p:sp>
    </p:spTree>
    <p:extLst>
      <p:ext uri="{BB962C8B-B14F-4D97-AF65-F5344CB8AC3E}">
        <p14:creationId xmlns:p14="http://schemas.microsoft.com/office/powerpoint/2010/main" val="197344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91A45-14E1-5854-AD53-BCF21DB7F93C}"/>
              </a:ext>
            </a:extLst>
          </p:cNvPr>
          <p:cNvSpPr>
            <a:spLocks noGrp="1"/>
          </p:cNvSpPr>
          <p:nvPr>
            <p:ph type="title"/>
          </p:nvPr>
        </p:nvSpPr>
        <p:spPr/>
        <p:txBody>
          <a:bodyPr/>
          <a:lstStyle/>
          <a:p>
            <a:r>
              <a:rPr lang="en-US"/>
              <a:t>Click to edit Master title style</a:t>
            </a:r>
            <a:endParaRPr lang="es-PE"/>
          </a:p>
        </p:txBody>
      </p:sp>
      <p:sp>
        <p:nvSpPr>
          <p:cNvPr id="3" name="Content Placeholder 2">
            <a:extLst>
              <a:ext uri="{FF2B5EF4-FFF2-40B4-BE49-F238E27FC236}">
                <a16:creationId xmlns:a16="http://schemas.microsoft.com/office/drawing/2014/main" id="{A02F46AE-F3AC-E974-6EEA-D49F3A14C0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Content Placeholder 3">
            <a:extLst>
              <a:ext uri="{FF2B5EF4-FFF2-40B4-BE49-F238E27FC236}">
                <a16:creationId xmlns:a16="http://schemas.microsoft.com/office/drawing/2014/main" id="{D66516AD-4B72-4AF7-48E3-30259D4F95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5" name="Date Placeholder 4">
            <a:extLst>
              <a:ext uri="{FF2B5EF4-FFF2-40B4-BE49-F238E27FC236}">
                <a16:creationId xmlns:a16="http://schemas.microsoft.com/office/drawing/2014/main" id="{2A9828E2-51EF-DE7D-43F8-7FC004A3691E}"/>
              </a:ext>
            </a:extLst>
          </p:cNvPr>
          <p:cNvSpPr>
            <a:spLocks noGrp="1"/>
          </p:cNvSpPr>
          <p:nvPr>
            <p:ph type="dt" sz="half" idx="10"/>
          </p:nvPr>
        </p:nvSpPr>
        <p:spPr/>
        <p:txBody>
          <a:bodyPr/>
          <a:lstStyle/>
          <a:p>
            <a:fld id="{39DABB3F-5E6C-42AF-83E9-D6FF704FFD16}" type="datetimeFigureOut">
              <a:rPr lang="es-PE" smtClean="0"/>
              <a:t>25/05/2026</a:t>
            </a:fld>
            <a:endParaRPr lang="es-PE"/>
          </a:p>
        </p:txBody>
      </p:sp>
      <p:sp>
        <p:nvSpPr>
          <p:cNvPr id="6" name="Footer Placeholder 5">
            <a:extLst>
              <a:ext uri="{FF2B5EF4-FFF2-40B4-BE49-F238E27FC236}">
                <a16:creationId xmlns:a16="http://schemas.microsoft.com/office/drawing/2014/main" id="{5D130EBB-3E80-973D-6CBA-B03F8010536C}"/>
              </a:ext>
            </a:extLst>
          </p:cNvPr>
          <p:cNvSpPr>
            <a:spLocks noGrp="1"/>
          </p:cNvSpPr>
          <p:nvPr>
            <p:ph type="ftr" sz="quarter" idx="11"/>
          </p:nvPr>
        </p:nvSpPr>
        <p:spPr/>
        <p:txBody>
          <a:bodyPr/>
          <a:lstStyle/>
          <a:p>
            <a:endParaRPr lang="es-PE"/>
          </a:p>
        </p:txBody>
      </p:sp>
      <p:sp>
        <p:nvSpPr>
          <p:cNvPr id="7" name="Slide Number Placeholder 6">
            <a:extLst>
              <a:ext uri="{FF2B5EF4-FFF2-40B4-BE49-F238E27FC236}">
                <a16:creationId xmlns:a16="http://schemas.microsoft.com/office/drawing/2014/main" id="{BF361A7C-A7FE-995B-BF9F-DA9052CCEC2E}"/>
              </a:ext>
            </a:extLst>
          </p:cNvPr>
          <p:cNvSpPr>
            <a:spLocks noGrp="1"/>
          </p:cNvSpPr>
          <p:nvPr>
            <p:ph type="sldNum" sz="quarter" idx="12"/>
          </p:nvPr>
        </p:nvSpPr>
        <p:spPr/>
        <p:txBody>
          <a:bodyPr/>
          <a:lstStyle/>
          <a:p>
            <a:fld id="{45239A6F-6C64-4B8F-84E2-0B9799E54C41}" type="slidenum">
              <a:rPr lang="es-PE" smtClean="0"/>
              <a:t>‹#›</a:t>
            </a:fld>
            <a:endParaRPr lang="es-PE"/>
          </a:p>
        </p:txBody>
      </p:sp>
    </p:spTree>
    <p:extLst>
      <p:ext uri="{BB962C8B-B14F-4D97-AF65-F5344CB8AC3E}">
        <p14:creationId xmlns:p14="http://schemas.microsoft.com/office/powerpoint/2010/main" val="980747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1CBB5-5126-7858-93F2-0B8740B7FA05}"/>
              </a:ext>
            </a:extLst>
          </p:cNvPr>
          <p:cNvSpPr>
            <a:spLocks noGrp="1"/>
          </p:cNvSpPr>
          <p:nvPr>
            <p:ph type="title"/>
          </p:nvPr>
        </p:nvSpPr>
        <p:spPr>
          <a:xfrm>
            <a:off x="839788" y="365125"/>
            <a:ext cx="10515600" cy="1325563"/>
          </a:xfrm>
        </p:spPr>
        <p:txBody>
          <a:bodyPr/>
          <a:lstStyle/>
          <a:p>
            <a:r>
              <a:rPr lang="en-US"/>
              <a:t>Click to edit Master title style</a:t>
            </a:r>
            <a:endParaRPr lang="es-PE"/>
          </a:p>
        </p:txBody>
      </p:sp>
      <p:sp>
        <p:nvSpPr>
          <p:cNvPr id="3" name="Text Placeholder 2">
            <a:extLst>
              <a:ext uri="{FF2B5EF4-FFF2-40B4-BE49-F238E27FC236}">
                <a16:creationId xmlns:a16="http://schemas.microsoft.com/office/drawing/2014/main" id="{EE1761BF-D7F3-4639-00C0-39D255C64D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55E4C9-F678-0A50-F5B0-2D11618660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5" name="Text Placeholder 4">
            <a:extLst>
              <a:ext uri="{FF2B5EF4-FFF2-40B4-BE49-F238E27FC236}">
                <a16:creationId xmlns:a16="http://schemas.microsoft.com/office/drawing/2014/main" id="{836187B7-21FE-777D-5418-24FE7B7124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9F9B88-3C4C-22CD-EBC7-B9A11C4913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7" name="Date Placeholder 6">
            <a:extLst>
              <a:ext uri="{FF2B5EF4-FFF2-40B4-BE49-F238E27FC236}">
                <a16:creationId xmlns:a16="http://schemas.microsoft.com/office/drawing/2014/main" id="{C2E8895E-F2AC-0C2D-CBC2-ED26B5CF25CC}"/>
              </a:ext>
            </a:extLst>
          </p:cNvPr>
          <p:cNvSpPr>
            <a:spLocks noGrp="1"/>
          </p:cNvSpPr>
          <p:nvPr>
            <p:ph type="dt" sz="half" idx="10"/>
          </p:nvPr>
        </p:nvSpPr>
        <p:spPr/>
        <p:txBody>
          <a:bodyPr/>
          <a:lstStyle/>
          <a:p>
            <a:fld id="{39DABB3F-5E6C-42AF-83E9-D6FF704FFD16}" type="datetimeFigureOut">
              <a:rPr lang="es-PE" smtClean="0"/>
              <a:t>25/05/2026</a:t>
            </a:fld>
            <a:endParaRPr lang="es-PE"/>
          </a:p>
        </p:txBody>
      </p:sp>
      <p:sp>
        <p:nvSpPr>
          <p:cNvPr id="8" name="Footer Placeholder 7">
            <a:extLst>
              <a:ext uri="{FF2B5EF4-FFF2-40B4-BE49-F238E27FC236}">
                <a16:creationId xmlns:a16="http://schemas.microsoft.com/office/drawing/2014/main" id="{BFA62B38-B85B-6D1D-25E6-C23F5DEE2160}"/>
              </a:ext>
            </a:extLst>
          </p:cNvPr>
          <p:cNvSpPr>
            <a:spLocks noGrp="1"/>
          </p:cNvSpPr>
          <p:nvPr>
            <p:ph type="ftr" sz="quarter" idx="11"/>
          </p:nvPr>
        </p:nvSpPr>
        <p:spPr/>
        <p:txBody>
          <a:bodyPr/>
          <a:lstStyle/>
          <a:p>
            <a:endParaRPr lang="es-PE"/>
          </a:p>
        </p:txBody>
      </p:sp>
      <p:sp>
        <p:nvSpPr>
          <p:cNvPr id="9" name="Slide Number Placeholder 8">
            <a:extLst>
              <a:ext uri="{FF2B5EF4-FFF2-40B4-BE49-F238E27FC236}">
                <a16:creationId xmlns:a16="http://schemas.microsoft.com/office/drawing/2014/main" id="{7459D27C-A757-6019-DE13-4FDF12489FC6}"/>
              </a:ext>
            </a:extLst>
          </p:cNvPr>
          <p:cNvSpPr>
            <a:spLocks noGrp="1"/>
          </p:cNvSpPr>
          <p:nvPr>
            <p:ph type="sldNum" sz="quarter" idx="12"/>
          </p:nvPr>
        </p:nvSpPr>
        <p:spPr/>
        <p:txBody>
          <a:bodyPr/>
          <a:lstStyle/>
          <a:p>
            <a:fld id="{45239A6F-6C64-4B8F-84E2-0B9799E54C41}" type="slidenum">
              <a:rPr lang="es-PE" smtClean="0"/>
              <a:t>‹#›</a:t>
            </a:fld>
            <a:endParaRPr lang="es-PE"/>
          </a:p>
        </p:txBody>
      </p:sp>
    </p:spTree>
    <p:extLst>
      <p:ext uri="{BB962C8B-B14F-4D97-AF65-F5344CB8AC3E}">
        <p14:creationId xmlns:p14="http://schemas.microsoft.com/office/powerpoint/2010/main" val="598796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806B-96A7-DB0A-DB08-4C53B803AB86}"/>
              </a:ext>
            </a:extLst>
          </p:cNvPr>
          <p:cNvSpPr>
            <a:spLocks noGrp="1"/>
          </p:cNvSpPr>
          <p:nvPr>
            <p:ph type="title"/>
          </p:nvPr>
        </p:nvSpPr>
        <p:spPr/>
        <p:txBody>
          <a:bodyPr/>
          <a:lstStyle/>
          <a:p>
            <a:r>
              <a:rPr lang="en-US"/>
              <a:t>Click to edit Master title style</a:t>
            </a:r>
            <a:endParaRPr lang="es-PE"/>
          </a:p>
        </p:txBody>
      </p:sp>
      <p:sp>
        <p:nvSpPr>
          <p:cNvPr id="3" name="Date Placeholder 2">
            <a:extLst>
              <a:ext uri="{FF2B5EF4-FFF2-40B4-BE49-F238E27FC236}">
                <a16:creationId xmlns:a16="http://schemas.microsoft.com/office/drawing/2014/main" id="{DA103A51-3677-1C95-B063-0FE91FEDE503}"/>
              </a:ext>
            </a:extLst>
          </p:cNvPr>
          <p:cNvSpPr>
            <a:spLocks noGrp="1"/>
          </p:cNvSpPr>
          <p:nvPr>
            <p:ph type="dt" sz="half" idx="10"/>
          </p:nvPr>
        </p:nvSpPr>
        <p:spPr/>
        <p:txBody>
          <a:bodyPr/>
          <a:lstStyle/>
          <a:p>
            <a:fld id="{39DABB3F-5E6C-42AF-83E9-D6FF704FFD16}" type="datetimeFigureOut">
              <a:rPr lang="es-PE" smtClean="0"/>
              <a:t>25/05/2026</a:t>
            </a:fld>
            <a:endParaRPr lang="es-PE"/>
          </a:p>
        </p:txBody>
      </p:sp>
      <p:sp>
        <p:nvSpPr>
          <p:cNvPr id="4" name="Footer Placeholder 3">
            <a:extLst>
              <a:ext uri="{FF2B5EF4-FFF2-40B4-BE49-F238E27FC236}">
                <a16:creationId xmlns:a16="http://schemas.microsoft.com/office/drawing/2014/main" id="{A47B1107-E2A9-64CB-82AA-59D19401CD39}"/>
              </a:ext>
            </a:extLst>
          </p:cNvPr>
          <p:cNvSpPr>
            <a:spLocks noGrp="1"/>
          </p:cNvSpPr>
          <p:nvPr>
            <p:ph type="ftr" sz="quarter" idx="11"/>
          </p:nvPr>
        </p:nvSpPr>
        <p:spPr/>
        <p:txBody>
          <a:bodyPr/>
          <a:lstStyle/>
          <a:p>
            <a:endParaRPr lang="es-PE"/>
          </a:p>
        </p:txBody>
      </p:sp>
      <p:sp>
        <p:nvSpPr>
          <p:cNvPr id="5" name="Slide Number Placeholder 4">
            <a:extLst>
              <a:ext uri="{FF2B5EF4-FFF2-40B4-BE49-F238E27FC236}">
                <a16:creationId xmlns:a16="http://schemas.microsoft.com/office/drawing/2014/main" id="{F3527835-6A85-0FD3-A271-0738D04E3224}"/>
              </a:ext>
            </a:extLst>
          </p:cNvPr>
          <p:cNvSpPr>
            <a:spLocks noGrp="1"/>
          </p:cNvSpPr>
          <p:nvPr>
            <p:ph type="sldNum" sz="quarter" idx="12"/>
          </p:nvPr>
        </p:nvSpPr>
        <p:spPr/>
        <p:txBody>
          <a:bodyPr/>
          <a:lstStyle/>
          <a:p>
            <a:fld id="{45239A6F-6C64-4B8F-84E2-0B9799E54C41}" type="slidenum">
              <a:rPr lang="es-PE" smtClean="0"/>
              <a:t>‹#›</a:t>
            </a:fld>
            <a:endParaRPr lang="es-PE"/>
          </a:p>
        </p:txBody>
      </p:sp>
    </p:spTree>
    <p:extLst>
      <p:ext uri="{BB962C8B-B14F-4D97-AF65-F5344CB8AC3E}">
        <p14:creationId xmlns:p14="http://schemas.microsoft.com/office/powerpoint/2010/main" val="4060641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4E65F1-5608-98EB-9641-E3FF087C4834}"/>
              </a:ext>
            </a:extLst>
          </p:cNvPr>
          <p:cNvSpPr>
            <a:spLocks noGrp="1"/>
          </p:cNvSpPr>
          <p:nvPr>
            <p:ph type="dt" sz="half" idx="10"/>
          </p:nvPr>
        </p:nvSpPr>
        <p:spPr/>
        <p:txBody>
          <a:bodyPr/>
          <a:lstStyle/>
          <a:p>
            <a:fld id="{39DABB3F-5E6C-42AF-83E9-D6FF704FFD16}" type="datetimeFigureOut">
              <a:rPr lang="es-PE" smtClean="0"/>
              <a:t>25/05/2026</a:t>
            </a:fld>
            <a:endParaRPr lang="es-PE"/>
          </a:p>
        </p:txBody>
      </p:sp>
      <p:sp>
        <p:nvSpPr>
          <p:cNvPr id="3" name="Footer Placeholder 2">
            <a:extLst>
              <a:ext uri="{FF2B5EF4-FFF2-40B4-BE49-F238E27FC236}">
                <a16:creationId xmlns:a16="http://schemas.microsoft.com/office/drawing/2014/main" id="{9AC8E135-C728-B9B9-1023-35FFA32D36F1}"/>
              </a:ext>
            </a:extLst>
          </p:cNvPr>
          <p:cNvSpPr>
            <a:spLocks noGrp="1"/>
          </p:cNvSpPr>
          <p:nvPr>
            <p:ph type="ftr" sz="quarter" idx="11"/>
          </p:nvPr>
        </p:nvSpPr>
        <p:spPr/>
        <p:txBody>
          <a:bodyPr/>
          <a:lstStyle/>
          <a:p>
            <a:endParaRPr lang="es-PE"/>
          </a:p>
        </p:txBody>
      </p:sp>
      <p:sp>
        <p:nvSpPr>
          <p:cNvPr id="4" name="Slide Number Placeholder 3">
            <a:extLst>
              <a:ext uri="{FF2B5EF4-FFF2-40B4-BE49-F238E27FC236}">
                <a16:creationId xmlns:a16="http://schemas.microsoft.com/office/drawing/2014/main" id="{8D785DC9-C9E3-D265-CF54-75FF48446D5D}"/>
              </a:ext>
            </a:extLst>
          </p:cNvPr>
          <p:cNvSpPr>
            <a:spLocks noGrp="1"/>
          </p:cNvSpPr>
          <p:nvPr>
            <p:ph type="sldNum" sz="quarter" idx="12"/>
          </p:nvPr>
        </p:nvSpPr>
        <p:spPr/>
        <p:txBody>
          <a:bodyPr/>
          <a:lstStyle/>
          <a:p>
            <a:fld id="{45239A6F-6C64-4B8F-84E2-0B9799E54C41}" type="slidenum">
              <a:rPr lang="es-PE" smtClean="0"/>
              <a:t>‹#›</a:t>
            </a:fld>
            <a:endParaRPr lang="es-PE"/>
          </a:p>
        </p:txBody>
      </p:sp>
    </p:spTree>
    <p:extLst>
      <p:ext uri="{BB962C8B-B14F-4D97-AF65-F5344CB8AC3E}">
        <p14:creationId xmlns:p14="http://schemas.microsoft.com/office/powerpoint/2010/main" val="3778245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60105-DC12-970A-5D26-C85911B64F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PE"/>
          </a:p>
        </p:txBody>
      </p:sp>
      <p:sp>
        <p:nvSpPr>
          <p:cNvPr id="3" name="Content Placeholder 2">
            <a:extLst>
              <a:ext uri="{FF2B5EF4-FFF2-40B4-BE49-F238E27FC236}">
                <a16:creationId xmlns:a16="http://schemas.microsoft.com/office/drawing/2014/main" id="{58DE99F0-A9F7-D564-6FAE-2CD8C9FE1C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Text Placeholder 3">
            <a:extLst>
              <a:ext uri="{FF2B5EF4-FFF2-40B4-BE49-F238E27FC236}">
                <a16:creationId xmlns:a16="http://schemas.microsoft.com/office/drawing/2014/main" id="{CED81340-E90F-1F80-B1CD-64F0CBC352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A635D7-88D8-FE8B-3B1B-66DFA7ECC71C}"/>
              </a:ext>
            </a:extLst>
          </p:cNvPr>
          <p:cNvSpPr>
            <a:spLocks noGrp="1"/>
          </p:cNvSpPr>
          <p:nvPr>
            <p:ph type="dt" sz="half" idx="10"/>
          </p:nvPr>
        </p:nvSpPr>
        <p:spPr/>
        <p:txBody>
          <a:bodyPr/>
          <a:lstStyle/>
          <a:p>
            <a:fld id="{39DABB3F-5E6C-42AF-83E9-D6FF704FFD16}" type="datetimeFigureOut">
              <a:rPr lang="es-PE" smtClean="0"/>
              <a:t>25/05/2026</a:t>
            </a:fld>
            <a:endParaRPr lang="es-PE"/>
          </a:p>
        </p:txBody>
      </p:sp>
      <p:sp>
        <p:nvSpPr>
          <p:cNvPr id="6" name="Footer Placeholder 5">
            <a:extLst>
              <a:ext uri="{FF2B5EF4-FFF2-40B4-BE49-F238E27FC236}">
                <a16:creationId xmlns:a16="http://schemas.microsoft.com/office/drawing/2014/main" id="{EE91D7EC-C1F1-FC55-4EF1-EE53C10CA102}"/>
              </a:ext>
            </a:extLst>
          </p:cNvPr>
          <p:cNvSpPr>
            <a:spLocks noGrp="1"/>
          </p:cNvSpPr>
          <p:nvPr>
            <p:ph type="ftr" sz="quarter" idx="11"/>
          </p:nvPr>
        </p:nvSpPr>
        <p:spPr/>
        <p:txBody>
          <a:bodyPr/>
          <a:lstStyle/>
          <a:p>
            <a:endParaRPr lang="es-PE"/>
          </a:p>
        </p:txBody>
      </p:sp>
      <p:sp>
        <p:nvSpPr>
          <p:cNvPr id="7" name="Slide Number Placeholder 6">
            <a:extLst>
              <a:ext uri="{FF2B5EF4-FFF2-40B4-BE49-F238E27FC236}">
                <a16:creationId xmlns:a16="http://schemas.microsoft.com/office/drawing/2014/main" id="{8A72A03B-BD10-4BCA-3BA4-584AF6A319F9}"/>
              </a:ext>
            </a:extLst>
          </p:cNvPr>
          <p:cNvSpPr>
            <a:spLocks noGrp="1"/>
          </p:cNvSpPr>
          <p:nvPr>
            <p:ph type="sldNum" sz="quarter" idx="12"/>
          </p:nvPr>
        </p:nvSpPr>
        <p:spPr/>
        <p:txBody>
          <a:bodyPr/>
          <a:lstStyle/>
          <a:p>
            <a:fld id="{45239A6F-6C64-4B8F-84E2-0B9799E54C41}" type="slidenum">
              <a:rPr lang="es-PE" smtClean="0"/>
              <a:t>‹#›</a:t>
            </a:fld>
            <a:endParaRPr lang="es-PE"/>
          </a:p>
        </p:txBody>
      </p:sp>
    </p:spTree>
    <p:extLst>
      <p:ext uri="{BB962C8B-B14F-4D97-AF65-F5344CB8AC3E}">
        <p14:creationId xmlns:p14="http://schemas.microsoft.com/office/powerpoint/2010/main" val="483065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C1F46-A082-ADCB-012E-11AF76ACD0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PE"/>
          </a:p>
        </p:txBody>
      </p:sp>
      <p:sp>
        <p:nvSpPr>
          <p:cNvPr id="3" name="Picture Placeholder 2">
            <a:extLst>
              <a:ext uri="{FF2B5EF4-FFF2-40B4-BE49-F238E27FC236}">
                <a16:creationId xmlns:a16="http://schemas.microsoft.com/office/drawing/2014/main" id="{B755297A-074E-4557-4AC5-A97BC86F5A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Text Placeholder 3">
            <a:extLst>
              <a:ext uri="{FF2B5EF4-FFF2-40B4-BE49-F238E27FC236}">
                <a16:creationId xmlns:a16="http://schemas.microsoft.com/office/drawing/2014/main" id="{8BEDF4DA-FF5D-6263-BBE6-3E8B29626C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A60AF0-35BA-9C5A-940F-96848CB6AC88}"/>
              </a:ext>
            </a:extLst>
          </p:cNvPr>
          <p:cNvSpPr>
            <a:spLocks noGrp="1"/>
          </p:cNvSpPr>
          <p:nvPr>
            <p:ph type="dt" sz="half" idx="10"/>
          </p:nvPr>
        </p:nvSpPr>
        <p:spPr/>
        <p:txBody>
          <a:bodyPr/>
          <a:lstStyle/>
          <a:p>
            <a:fld id="{39DABB3F-5E6C-42AF-83E9-D6FF704FFD16}" type="datetimeFigureOut">
              <a:rPr lang="es-PE" smtClean="0"/>
              <a:t>25/05/2026</a:t>
            </a:fld>
            <a:endParaRPr lang="es-PE"/>
          </a:p>
        </p:txBody>
      </p:sp>
      <p:sp>
        <p:nvSpPr>
          <p:cNvPr id="6" name="Footer Placeholder 5">
            <a:extLst>
              <a:ext uri="{FF2B5EF4-FFF2-40B4-BE49-F238E27FC236}">
                <a16:creationId xmlns:a16="http://schemas.microsoft.com/office/drawing/2014/main" id="{014087FB-92AB-ED8D-692F-18B8EBC92298}"/>
              </a:ext>
            </a:extLst>
          </p:cNvPr>
          <p:cNvSpPr>
            <a:spLocks noGrp="1"/>
          </p:cNvSpPr>
          <p:nvPr>
            <p:ph type="ftr" sz="quarter" idx="11"/>
          </p:nvPr>
        </p:nvSpPr>
        <p:spPr/>
        <p:txBody>
          <a:bodyPr/>
          <a:lstStyle/>
          <a:p>
            <a:endParaRPr lang="es-PE"/>
          </a:p>
        </p:txBody>
      </p:sp>
      <p:sp>
        <p:nvSpPr>
          <p:cNvPr id="7" name="Slide Number Placeholder 6">
            <a:extLst>
              <a:ext uri="{FF2B5EF4-FFF2-40B4-BE49-F238E27FC236}">
                <a16:creationId xmlns:a16="http://schemas.microsoft.com/office/drawing/2014/main" id="{8FDCEDA4-F418-3F92-3D10-CEA221D07295}"/>
              </a:ext>
            </a:extLst>
          </p:cNvPr>
          <p:cNvSpPr>
            <a:spLocks noGrp="1"/>
          </p:cNvSpPr>
          <p:nvPr>
            <p:ph type="sldNum" sz="quarter" idx="12"/>
          </p:nvPr>
        </p:nvSpPr>
        <p:spPr/>
        <p:txBody>
          <a:bodyPr/>
          <a:lstStyle/>
          <a:p>
            <a:fld id="{45239A6F-6C64-4B8F-84E2-0B9799E54C41}" type="slidenum">
              <a:rPr lang="es-PE" smtClean="0"/>
              <a:t>‹#›</a:t>
            </a:fld>
            <a:endParaRPr lang="es-PE"/>
          </a:p>
        </p:txBody>
      </p:sp>
    </p:spTree>
    <p:extLst>
      <p:ext uri="{BB962C8B-B14F-4D97-AF65-F5344CB8AC3E}">
        <p14:creationId xmlns:p14="http://schemas.microsoft.com/office/powerpoint/2010/main" val="3661904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AE1F6-52F7-C615-11D0-3F67BF5B1BC4}"/>
              </a:ext>
            </a:extLst>
          </p:cNvPr>
          <p:cNvSpPr>
            <a:spLocks noGrp="1"/>
          </p:cNvSpPr>
          <p:nvPr>
            <p:ph type="title"/>
          </p:nvPr>
        </p:nvSpPr>
        <p:spPr/>
        <p:txBody>
          <a:bodyPr/>
          <a:lstStyle/>
          <a:p>
            <a:r>
              <a:rPr lang="en-US"/>
              <a:t>Click to edit Master title style</a:t>
            </a:r>
            <a:endParaRPr lang="es-PE"/>
          </a:p>
        </p:txBody>
      </p:sp>
      <p:sp>
        <p:nvSpPr>
          <p:cNvPr id="3" name="Vertical Text Placeholder 2">
            <a:extLst>
              <a:ext uri="{FF2B5EF4-FFF2-40B4-BE49-F238E27FC236}">
                <a16:creationId xmlns:a16="http://schemas.microsoft.com/office/drawing/2014/main" id="{4BF7DB72-AEC3-DE0B-7A32-C8C56B44F1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Date Placeholder 3">
            <a:extLst>
              <a:ext uri="{FF2B5EF4-FFF2-40B4-BE49-F238E27FC236}">
                <a16:creationId xmlns:a16="http://schemas.microsoft.com/office/drawing/2014/main" id="{6B0D00A3-CDFF-537E-027C-F54562F0C76B}"/>
              </a:ext>
            </a:extLst>
          </p:cNvPr>
          <p:cNvSpPr>
            <a:spLocks noGrp="1"/>
          </p:cNvSpPr>
          <p:nvPr>
            <p:ph type="dt" sz="half" idx="10"/>
          </p:nvPr>
        </p:nvSpPr>
        <p:spPr/>
        <p:txBody>
          <a:bodyPr/>
          <a:lstStyle/>
          <a:p>
            <a:fld id="{39DABB3F-5E6C-42AF-83E9-D6FF704FFD16}" type="datetimeFigureOut">
              <a:rPr lang="es-PE" smtClean="0"/>
              <a:t>25/05/2026</a:t>
            </a:fld>
            <a:endParaRPr lang="es-PE"/>
          </a:p>
        </p:txBody>
      </p:sp>
      <p:sp>
        <p:nvSpPr>
          <p:cNvPr id="5" name="Footer Placeholder 4">
            <a:extLst>
              <a:ext uri="{FF2B5EF4-FFF2-40B4-BE49-F238E27FC236}">
                <a16:creationId xmlns:a16="http://schemas.microsoft.com/office/drawing/2014/main" id="{8D2B5B81-D30A-6CB2-2A4E-3146ED04A479}"/>
              </a:ext>
            </a:extLst>
          </p:cNvPr>
          <p:cNvSpPr>
            <a:spLocks noGrp="1"/>
          </p:cNvSpPr>
          <p:nvPr>
            <p:ph type="ftr" sz="quarter" idx="11"/>
          </p:nvPr>
        </p:nvSpPr>
        <p:spPr/>
        <p:txBody>
          <a:bodyPr/>
          <a:lstStyle/>
          <a:p>
            <a:endParaRPr lang="es-PE"/>
          </a:p>
        </p:txBody>
      </p:sp>
      <p:sp>
        <p:nvSpPr>
          <p:cNvPr id="6" name="Slide Number Placeholder 5">
            <a:extLst>
              <a:ext uri="{FF2B5EF4-FFF2-40B4-BE49-F238E27FC236}">
                <a16:creationId xmlns:a16="http://schemas.microsoft.com/office/drawing/2014/main" id="{55E2B56B-F99F-DE5D-C489-D90D5C71E4D7}"/>
              </a:ext>
            </a:extLst>
          </p:cNvPr>
          <p:cNvSpPr>
            <a:spLocks noGrp="1"/>
          </p:cNvSpPr>
          <p:nvPr>
            <p:ph type="sldNum" sz="quarter" idx="12"/>
          </p:nvPr>
        </p:nvSpPr>
        <p:spPr/>
        <p:txBody>
          <a:bodyPr/>
          <a:lstStyle/>
          <a:p>
            <a:fld id="{45239A6F-6C64-4B8F-84E2-0B9799E54C41}" type="slidenum">
              <a:rPr lang="es-PE" smtClean="0"/>
              <a:t>‹#›</a:t>
            </a:fld>
            <a:endParaRPr lang="es-PE"/>
          </a:p>
        </p:txBody>
      </p:sp>
    </p:spTree>
    <p:extLst>
      <p:ext uri="{BB962C8B-B14F-4D97-AF65-F5344CB8AC3E}">
        <p14:creationId xmlns:p14="http://schemas.microsoft.com/office/powerpoint/2010/main" val="523193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D7CE84-2FAA-43AD-09F8-C3BA860169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PE"/>
          </a:p>
        </p:txBody>
      </p:sp>
      <p:sp>
        <p:nvSpPr>
          <p:cNvPr id="3" name="Vertical Text Placeholder 2">
            <a:extLst>
              <a:ext uri="{FF2B5EF4-FFF2-40B4-BE49-F238E27FC236}">
                <a16:creationId xmlns:a16="http://schemas.microsoft.com/office/drawing/2014/main" id="{99E17F3A-0383-9611-A33B-16BC67C605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Date Placeholder 3">
            <a:extLst>
              <a:ext uri="{FF2B5EF4-FFF2-40B4-BE49-F238E27FC236}">
                <a16:creationId xmlns:a16="http://schemas.microsoft.com/office/drawing/2014/main" id="{983A6EC1-AC7B-993E-18B1-47E5BE54840F}"/>
              </a:ext>
            </a:extLst>
          </p:cNvPr>
          <p:cNvSpPr>
            <a:spLocks noGrp="1"/>
          </p:cNvSpPr>
          <p:nvPr>
            <p:ph type="dt" sz="half" idx="10"/>
          </p:nvPr>
        </p:nvSpPr>
        <p:spPr/>
        <p:txBody>
          <a:bodyPr/>
          <a:lstStyle/>
          <a:p>
            <a:fld id="{39DABB3F-5E6C-42AF-83E9-D6FF704FFD16}" type="datetimeFigureOut">
              <a:rPr lang="es-PE" smtClean="0"/>
              <a:t>25/05/2026</a:t>
            </a:fld>
            <a:endParaRPr lang="es-PE"/>
          </a:p>
        </p:txBody>
      </p:sp>
      <p:sp>
        <p:nvSpPr>
          <p:cNvPr id="5" name="Footer Placeholder 4">
            <a:extLst>
              <a:ext uri="{FF2B5EF4-FFF2-40B4-BE49-F238E27FC236}">
                <a16:creationId xmlns:a16="http://schemas.microsoft.com/office/drawing/2014/main" id="{85DEE689-C2D1-9094-2C90-23B6D0CF10C4}"/>
              </a:ext>
            </a:extLst>
          </p:cNvPr>
          <p:cNvSpPr>
            <a:spLocks noGrp="1"/>
          </p:cNvSpPr>
          <p:nvPr>
            <p:ph type="ftr" sz="quarter" idx="11"/>
          </p:nvPr>
        </p:nvSpPr>
        <p:spPr/>
        <p:txBody>
          <a:bodyPr/>
          <a:lstStyle/>
          <a:p>
            <a:endParaRPr lang="es-PE"/>
          </a:p>
        </p:txBody>
      </p:sp>
      <p:sp>
        <p:nvSpPr>
          <p:cNvPr id="6" name="Slide Number Placeholder 5">
            <a:extLst>
              <a:ext uri="{FF2B5EF4-FFF2-40B4-BE49-F238E27FC236}">
                <a16:creationId xmlns:a16="http://schemas.microsoft.com/office/drawing/2014/main" id="{D8B28B4C-6045-5C84-F6DD-CCE78AE7E732}"/>
              </a:ext>
            </a:extLst>
          </p:cNvPr>
          <p:cNvSpPr>
            <a:spLocks noGrp="1"/>
          </p:cNvSpPr>
          <p:nvPr>
            <p:ph type="sldNum" sz="quarter" idx="12"/>
          </p:nvPr>
        </p:nvSpPr>
        <p:spPr/>
        <p:txBody>
          <a:bodyPr/>
          <a:lstStyle/>
          <a:p>
            <a:fld id="{45239A6F-6C64-4B8F-84E2-0B9799E54C41}" type="slidenum">
              <a:rPr lang="es-PE" smtClean="0"/>
              <a:t>‹#›</a:t>
            </a:fld>
            <a:endParaRPr lang="es-PE"/>
          </a:p>
        </p:txBody>
      </p:sp>
    </p:spTree>
    <p:extLst>
      <p:ext uri="{BB962C8B-B14F-4D97-AF65-F5344CB8AC3E}">
        <p14:creationId xmlns:p14="http://schemas.microsoft.com/office/powerpoint/2010/main" val="2351601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51DE4B-22C9-1468-1C14-23CA8F56CD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PE"/>
          </a:p>
        </p:txBody>
      </p:sp>
      <p:sp>
        <p:nvSpPr>
          <p:cNvPr id="3" name="Text Placeholder 2">
            <a:extLst>
              <a:ext uri="{FF2B5EF4-FFF2-40B4-BE49-F238E27FC236}">
                <a16:creationId xmlns:a16="http://schemas.microsoft.com/office/drawing/2014/main" id="{4C8D83E7-406A-714C-31D8-11078F5924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Date Placeholder 3">
            <a:extLst>
              <a:ext uri="{FF2B5EF4-FFF2-40B4-BE49-F238E27FC236}">
                <a16:creationId xmlns:a16="http://schemas.microsoft.com/office/drawing/2014/main" id="{D915C284-01CC-9E00-0840-E198F99356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DABB3F-5E6C-42AF-83E9-D6FF704FFD16}" type="datetimeFigureOut">
              <a:rPr lang="es-PE" smtClean="0"/>
              <a:t>25/05/2026</a:t>
            </a:fld>
            <a:endParaRPr lang="es-PE"/>
          </a:p>
        </p:txBody>
      </p:sp>
      <p:sp>
        <p:nvSpPr>
          <p:cNvPr id="5" name="Footer Placeholder 4">
            <a:extLst>
              <a:ext uri="{FF2B5EF4-FFF2-40B4-BE49-F238E27FC236}">
                <a16:creationId xmlns:a16="http://schemas.microsoft.com/office/drawing/2014/main" id="{3FBD0967-6BC0-EC14-2458-8C9EF669B9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Slide Number Placeholder 5">
            <a:extLst>
              <a:ext uri="{FF2B5EF4-FFF2-40B4-BE49-F238E27FC236}">
                <a16:creationId xmlns:a16="http://schemas.microsoft.com/office/drawing/2014/main" id="{09A1D372-7897-98AC-5927-FCA31ADE95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239A6F-6C64-4B8F-84E2-0B9799E54C41}" type="slidenum">
              <a:rPr lang="es-PE" smtClean="0"/>
              <a:t>‹#›</a:t>
            </a:fld>
            <a:endParaRPr lang="es-PE"/>
          </a:p>
        </p:txBody>
      </p:sp>
    </p:spTree>
    <p:extLst>
      <p:ext uri="{BB962C8B-B14F-4D97-AF65-F5344CB8AC3E}">
        <p14:creationId xmlns:p14="http://schemas.microsoft.com/office/powerpoint/2010/main" val="2743321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CA3C5B-A498-0365-FEEB-9850EC6146A7}"/>
              </a:ext>
            </a:extLst>
          </p:cNvPr>
          <p:cNvSpPr txBox="1"/>
          <p:nvPr/>
        </p:nvSpPr>
        <p:spPr>
          <a:xfrm>
            <a:off x="2024671" y="245222"/>
            <a:ext cx="8142658" cy="584775"/>
          </a:xfrm>
          <a:prstGeom prst="rect">
            <a:avLst/>
          </a:prstGeom>
          <a:noFill/>
        </p:spPr>
        <p:txBody>
          <a:bodyPr wrap="square" rtlCol="0">
            <a:spAutoFit/>
          </a:bodyPr>
          <a:lstStyle/>
          <a:p>
            <a:r>
              <a:rPr lang="es-MX" sz="3200" dirty="0"/>
              <a:t>Notas de recapitulación + Antígona + Platón</a:t>
            </a:r>
          </a:p>
        </p:txBody>
      </p:sp>
      <p:pic>
        <p:nvPicPr>
          <p:cNvPr id="6" name="Picture 5">
            <a:extLst>
              <a:ext uri="{FF2B5EF4-FFF2-40B4-BE49-F238E27FC236}">
                <a16:creationId xmlns:a16="http://schemas.microsoft.com/office/drawing/2014/main" id="{C574575D-937C-B5E5-AAB9-12C3B26B0D4E}"/>
              </a:ext>
            </a:extLst>
          </p:cNvPr>
          <p:cNvPicPr>
            <a:picLocks noChangeAspect="1"/>
          </p:cNvPicPr>
          <p:nvPr/>
        </p:nvPicPr>
        <p:blipFill>
          <a:blip r:embed="rId2"/>
          <a:stretch>
            <a:fillRect/>
          </a:stretch>
        </p:blipFill>
        <p:spPr>
          <a:xfrm>
            <a:off x="244791" y="1097911"/>
            <a:ext cx="11826681" cy="5514867"/>
          </a:xfrm>
          <a:prstGeom prst="rect">
            <a:avLst/>
          </a:prstGeom>
        </p:spPr>
      </p:pic>
    </p:spTree>
    <p:extLst>
      <p:ext uri="{BB962C8B-B14F-4D97-AF65-F5344CB8AC3E}">
        <p14:creationId xmlns:p14="http://schemas.microsoft.com/office/powerpoint/2010/main" val="2903935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1F2709-C093-5CB4-822C-D8C6203A8709}"/>
              </a:ext>
            </a:extLst>
          </p:cNvPr>
          <p:cNvSpPr>
            <a:spLocks noGrp="1"/>
          </p:cNvSpPr>
          <p:nvPr>
            <p:ph idx="1"/>
          </p:nvPr>
        </p:nvSpPr>
        <p:spPr>
          <a:xfrm>
            <a:off x="838200" y="379828"/>
            <a:ext cx="10515600" cy="5797135"/>
          </a:xfrm>
        </p:spPr>
        <p:txBody>
          <a:bodyPr/>
          <a:lstStyle/>
          <a:p>
            <a:r>
              <a:rPr lang="es-MX" dirty="0"/>
              <a:t>Los conflictos éticos, a veces, se ven mejor representados en la tragedia, que en la filosofía práctica.</a:t>
            </a:r>
          </a:p>
          <a:p>
            <a:r>
              <a:rPr lang="es-MX" dirty="0"/>
              <a:t>Elección entre bien y un bien, o entre un mal y un mal. </a:t>
            </a:r>
          </a:p>
          <a:p>
            <a:pPr marL="0" indent="0">
              <a:buNone/>
            </a:pPr>
            <a:endParaRPr lang="es-PE" dirty="0"/>
          </a:p>
        </p:txBody>
      </p:sp>
      <p:pic>
        <p:nvPicPr>
          <p:cNvPr id="5" name="Picture 4">
            <a:extLst>
              <a:ext uri="{FF2B5EF4-FFF2-40B4-BE49-F238E27FC236}">
                <a16:creationId xmlns:a16="http://schemas.microsoft.com/office/drawing/2014/main" id="{E04E6CEF-3304-3C21-7789-2DD0B0B8FE05}"/>
              </a:ext>
            </a:extLst>
          </p:cNvPr>
          <p:cNvPicPr>
            <a:picLocks noChangeAspect="1"/>
          </p:cNvPicPr>
          <p:nvPr/>
        </p:nvPicPr>
        <p:blipFill>
          <a:blip r:embed="rId2"/>
          <a:stretch>
            <a:fillRect/>
          </a:stretch>
        </p:blipFill>
        <p:spPr>
          <a:xfrm>
            <a:off x="648652" y="2374508"/>
            <a:ext cx="10894695" cy="3950123"/>
          </a:xfrm>
          <a:prstGeom prst="rect">
            <a:avLst/>
          </a:prstGeom>
        </p:spPr>
      </p:pic>
    </p:spTree>
    <p:extLst>
      <p:ext uri="{BB962C8B-B14F-4D97-AF65-F5344CB8AC3E}">
        <p14:creationId xmlns:p14="http://schemas.microsoft.com/office/powerpoint/2010/main" val="1328447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B4A5B-4EF0-77B5-0F4A-3E804C21D27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482657-234F-FEDB-03E1-B913DAFBE5DE}"/>
              </a:ext>
            </a:extLst>
          </p:cNvPr>
          <p:cNvSpPr>
            <a:spLocks noGrp="1"/>
          </p:cNvSpPr>
          <p:nvPr>
            <p:ph idx="1"/>
          </p:nvPr>
        </p:nvSpPr>
        <p:spPr>
          <a:xfrm>
            <a:off x="838200" y="379828"/>
            <a:ext cx="10515600" cy="5797135"/>
          </a:xfrm>
        </p:spPr>
        <p:txBody>
          <a:bodyPr/>
          <a:lstStyle/>
          <a:p>
            <a:r>
              <a:rPr lang="es-MX" dirty="0"/>
              <a:t>Origen remoto del concepto de virtud: Homero</a:t>
            </a:r>
          </a:p>
          <a:p>
            <a:r>
              <a:rPr lang="es-MX" dirty="0"/>
              <a:t>Originalmente asociado a la guerra, al paradigma de un rey guerrero, en donde priman la victoria, y si no, la gloria. </a:t>
            </a:r>
          </a:p>
          <a:p>
            <a:pPr marL="0" indent="0">
              <a:buNone/>
            </a:pPr>
            <a:endParaRPr lang="es-PE" dirty="0"/>
          </a:p>
        </p:txBody>
      </p:sp>
      <p:pic>
        <p:nvPicPr>
          <p:cNvPr id="4" name="Picture 3">
            <a:extLst>
              <a:ext uri="{FF2B5EF4-FFF2-40B4-BE49-F238E27FC236}">
                <a16:creationId xmlns:a16="http://schemas.microsoft.com/office/drawing/2014/main" id="{8D8ED8D8-C76B-9152-53D1-29A3B35A2AD3}"/>
              </a:ext>
            </a:extLst>
          </p:cNvPr>
          <p:cNvPicPr>
            <a:picLocks noChangeAspect="1"/>
          </p:cNvPicPr>
          <p:nvPr/>
        </p:nvPicPr>
        <p:blipFill>
          <a:blip r:embed="rId2"/>
          <a:stretch>
            <a:fillRect/>
          </a:stretch>
        </p:blipFill>
        <p:spPr>
          <a:xfrm>
            <a:off x="649165" y="1920616"/>
            <a:ext cx="10893670" cy="4557556"/>
          </a:xfrm>
          <a:prstGeom prst="rect">
            <a:avLst/>
          </a:prstGeom>
        </p:spPr>
      </p:pic>
    </p:spTree>
    <p:extLst>
      <p:ext uri="{BB962C8B-B14F-4D97-AF65-F5344CB8AC3E}">
        <p14:creationId xmlns:p14="http://schemas.microsoft.com/office/powerpoint/2010/main" val="3415302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A459D-B245-F26F-41E2-B3F1A20F16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584E37-06A8-3B51-80E2-D1C9A8692FD6}"/>
              </a:ext>
            </a:extLst>
          </p:cNvPr>
          <p:cNvSpPr>
            <a:spLocks noGrp="1"/>
          </p:cNvSpPr>
          <p:nvPr>
            <p:ph idx="1"/>
          </p:nvPr>
        </p:nvSpPr>
        <p:spPr>
          <a:xfrm>
            <a:off x="838200" y="379828"/>
            <a:ext cx="10515600" cy="5797135"/>
          </a:xfrm>
        </p:spPr>
        <p:txBody>
          <a:bodyPr/>
          <a:lstStyle/>
          <a:p>
            <a:r>
              <a:rPr lang="es-MX" dirty="0"/>
              <a:t>Concepción cósmica de la justicia, como venganza.</a:t>
            </a:r>
          </a:p>
          <a:p>
            <a:pPr marL="0" indent="0">
              <a:buNone/>
            </a:pPr>
            <a:endParaRPr lang="es-PE" dirty="0"/>
          </a:p>
        </p:txBody>
      </p:sp>
      <p:pic>
        <p:nvPicPr>
          <p:cNvPr id="4" name="Picture 3">
            <a:extLst>
              <a:ext uri="{FF2B5EF4-FFF2-40B4-BE49-F238E27FC236}">
                <a16:creationId xmlns:a16="http://schemas.microsoft.com/office/drawing/2014/main" id="{970A64BC-7EC0-BC74-350C-1FD722121D21}"/>
              </a:ext>
            </a:extLst>
          </p:cNvPr>
          <p:cNvPicPr>
            <a:picLocks noChangeAspect="1"/>
          </p:cNvPicPr>
          <p:nvPr/>
        </p:nvPicPr>
        <p:blipFill>
          <a:blip r:embed="rId2"/>
          <a:stretch>
            <a:fillRect/>
          </a:stretch>
        </p:blipFill>
        <p:spPr>
          <a:xfrm>
            <a:off x="838200" y="1387529"/>
            <a:ext cx="10190285" cy="4789434"/>
          </a:xfrm>
          <a:prstGeom prst="rect">
            <a:avLst/>
          </a:prstGeom>
        </p:spPr>
      </p:pic>
    </p:spTree>
    <p:extLst>
      <p:ext uri="{BB962C8B-B14F-4D97-AF65-F5344CB8AC3E}">
        <p14:creationId xmlns:p14="http://schemas.microsoft.com/office/powerpoint/2010/main" val="2493811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0E704-5FD6-A5D6-CD84-DAAA1AF5D0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31E46F-9733-7F70-A3C4-9A12898C2D27}"/>
              </a:ext>
            </a:extLst>
          </p:cNvPr>
          <p:cNvSpPr>
            <a:spLocks noGrp="1"/>
          </p:cNvSpPr>
          <p:nvPr>
            <p:ph idx="1"/>
          </p:nvPr>
        </p:nvSpPr>
        <p:spPr>
          <a:xfrm>
            <a:off x="838200" y="379828"/>
            <a:ext cx="10515600" cy="5797135"/>
          </a:xfrm>
        </p:spPr>
        <p:txBody>
          <a:bodyPr>
            <a:normAutofit/>
          </a:bodyPr>
          <a:lstStyle/>
          <a:p>
            <a:r>
              <a:rPr lang="es-MX" dirty="0"/>
              <a:t>Géneros: épica, lírica, tragedia (</a:t>
            </a:r>
            <a:r>
              <a:rPr lang="es-MX" dirty="0" err="1"/>
              <a:t>s.VI</a:t>
            </a:r>
            <a:r>
              <a:rPr lang="es-MX" dirty="0"/>
              <a:t> </a:t>
            </a:r>
            <a:r>
              <a:rPr lang="es-MX" dirty="0" err="1"/>
              <a:t>a.c</a:t>
            </a:r>
            <a:r>
              <a:rPr lang="es-MX" dirty="0"/>
              <a:t>).</a:t>
            </a:r>
          </a:p>
          <a:p>
            <a:r>
              <a:rPr lang="es-MX" dirty="0"/>
              <a:t>Tragedia = </a:t>
            </a:r>
            <a:r>
              <a:rPr lang="el-GR" b="1" dirty="0"/>
              <a:t>τραγῳδία</a:t>
            </a:r>
            <a:r>
              <a:rPr lang="es-MX" dirty="0"/>
              <a:t> = </a:t>
            </a:r>
            <a:r>
              <a:rPr lang="el-GR" dirty="0"/>
              <a:t>τράγος</a:t>
            </a:r>
            <a:r>
              <a:rPr lang="es-MX" dirty="0"/>
              <a:t> + </a:t>
            </a:r>
            <a:r>
              <a:rPr lang="el-GR" dirty="0"/>
              <a:t>ῳδία</a:t>
            </a:r>
            <a:r>
              <a:rPr lang="es-MX" dirty="0"/>
              <a:t> = canto del macho cabrío, asociado a Dionisio.</a:t>
            </a:r>
          </a:p>
          <a:p>
            <a:r>
              <a:rPr lang="es-MX" dirty="0"/>
              <a:t>Coreutas : sátiros. </a:t>
            </a:r>
            <a:r>
              <a:rPr lang="el-GR" b="1" dirty="0"/>
              <a:t>χορός</a:t>
            </a:r>
            <a:r>
              <a:rPr lang="el-GR" dirty="0"/>
              <a:t> </a:t>
            </a:r>
            <a:r>
              <a:rPr lang="es-PE" dirty="0"/>
              <a:t>(lugar cercado/coro) </a:t>
            </a:r>
            <a:r>
              <a:rPr lang="es-MX" dirty="0"/>
              <a:t>y el sufijo </a:t>
            </a:r>
            <a:r>
              <a:rPr lang="es-MX" i="1" dirty="0"/>
              <a:t>-</a:t>
            </a:r>
            <a:r>
              <a:rPr lang="es-MX" i="1" dirty="0" err="1"/>
              <a:t>ta</a:t>
            </a:r>
            <a:r>
              <a:rPr lang="es-MX" dirty="0"/>
              <a:t> (agente). (La voz del pueblo, comentaban la acción o interactuaban con los actores.)</a:t>
            </a:r>
          </a:p>
          <a:p>
            <a:r>
              <a:rPr lang="es-MX" dirty="0"/>
              <a:t>Corifeo: el que dirige al coro = una metáfora de los dioses.</a:t>
            </a:r>
          </a:p>
          <a:p>
            <a:endParaRPr lang="es-PE" dirty="0"/>
          </a:p>
        </p:txBody>
      </p:sp>
      <p:pic>
        <p:nvPicPr>
          <p:cNvPr id="4" name="Picture 3">
            <a:extLst>
              <a:ext uri="{FF2B5EF4-FFF2-40B4-BE49-F238E27FC236}">
                <a16:creationId xmlns:a16="http://schemas.microsoft.com/office/drawing/2014/main" id="{62B405D6-4654-8698-4269-FE2850FAA15A}"/>
              </a:ext>
            </a:extLst>
          </p:cNvPr>
          <p:cNvPicPr>
            <a:picLocks noChangeAspect="1"/>
          </p:cNvPicPr>
          <p:nvPr/>
        </p:nvPicPr>
        <p:blipFill>
          <a:blip r:embed="rId2"/>
          <a:stretch>
            <a:fillRect/>
          </a:stretch>
        </p:blipFill>
        <p:spPr>
          <a:xfrm>
            <a:off x="1584740" y="3765011"/>
            <a:ext cx="8811285" cy="2925755"/>
          </a:xfrm>
          <a:prstGeom prst="rect">
            <a:avLst/>
          </a:prstGeom>
        </p:spPr>
      </p:pic>
    </p:spTree>
    <p:extLst>
      <p:ext uri="{BB962C8B-B14F-4D97-AF65-F5344CB8AC3E}">
        <p14:creationId xmlns:p14="http://schemas.microsoft.com/office/powerpoint/2010/main" val="3245345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90A2D-19E3-9BE4-39F7-62E608153A5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79CCF1-9183-BD82-C86A-9D4B8A1D533E}"/>
              </a:ext>
            </a:extLst>
          </p:cNvPr>
          <p:cNvSpPr>
            <a:spLocks noGrp="1"/>
          </p:cNvSpPr>
          <p:nvPr>
            <p:ph idx="1"/>
          </p:nvPr>
        </p:nvSpPr>
        <p:spPr>
          <a:xfrm>
            <a:off x="838200" y="379828"/>
            <a:ext cx="10515600" cy="5797135"/>
          </a:xfrm>
        </p:spPr>
        <p:txBody>
          <a:bodyPr/>
          <a:lstStyle/>
          <a:p>
            <a:r>
              <a:rPr lang="es-MX" dirty="0"/>
              <a:t>Sufrimiento y fracaso como aprendizaje. </a:t>
            </a:r>
          </a:p>
          <a:p>
            <a:pPr marL="0" indent="0">
              <a:buNone/>
            </a:pPr>
            <a:endParaRPr lang="es-PE" dirty="0"/>
          </a:p>
        </p:txBody>
      </p:sp>
      <p:pic>
        <p:nvPicPr>
          <p:cNvPr id="6" name="Picture 5">
            <a:extLst>
              <a:ext uri="{FF2B5EF4-FFF2-40B4-BE49-F238E27FC236}">
                <a16:creationId xmlns:a16="http://schemas.microsoft.com/office/drawing/2014/main" id="{142D6A6F-2453-EB7C-A259-0599B3355C11}"/>
              </a:ext>
            </a:extLst>
          </p:cNvPr>
          <p:cNvPicPr>
            <a:picLocks noChangeAspect="1"/>
          </p:cNvPicPr>
          <p:nvPr/>
        </p:nvPicPr>
        <p:blipFill>
          <a:blip r:embed="rId2"/>
          <a:stretch>
            <a:fillRect/>
          </a:stretch>
        </p:blipFill>
        <p:spPr>
          <a:xfrm>
            <a:off x="1549204" y="1166209"/>
            <a:ext cx="9093591" cy="5010754"/>
          </a:xfrm>
          <a:prstGeom prst="rect">
            <a:avLst/>
          </a:prstGeom>
        </p:spPr>
      </p:pic>
    </p:spTree>
    <p:extLst>
      <p:ext uri="{BB962C8B-B14F-4D97-AF65-F5344CB8AC3E}">
        <p14:creationId xmlns:p14="http://schemas.microsoft.com/office/powerpoint/2010/main" val="2501376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D6E1B-FEAF-619C-3423-763D717CA76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F9A1B8-809C-5367-66C1-082D804E7BA0}"/>
              </a:ext>
            </a:extLst>
          </p:cNvPr>
          <p:cNvSpPr>
            <a:spLocks noGrp="1"/>
          </p:cNvSpPr>
          <p:nvPr>
            <p:ph idx="1"/>
          </p:nvPr>
        </p:nvSpPr>
        <p:spPr>
          <a:xfrm>
            <a:off x="838200" y="379828"/>
            <a:ext cx="10515600" cy="5797135"/>
          </a:xfrm>
        </p:spPr>
        <p:txBody>
          <a:bodyPr>
            <a:normAutofit/>
          </a:bodyPr>
          <a:lstStyle/>
          <a:p>
            <a:r>
              <a:rPr lang="es-MX" dirty="0"/>
              <a:t>Con Esquilo y la Orestíada (y todo ese asunto de la instauración de la justicia como racionalidad pública) =&gt; diálogo</a:t>
            </a:r>
          </a:p>
          <a:p>
            <a:endParaRPr lang="es-PE" dirty="0"/>
          </a:p>
        </p:txBody>
      </p:sp>
      <p:pic>
        <p:nvPicPr>
          <p:cNvPr id="4" name="Picture 3">
            <a:extLst>
              <a:ext uri="{FF2B5EF4-FFF2-40B4-BE49-F238E27FC236}">
                <a16:creationId xmlns:a16="http://schemas.microsoft.com/office/drawing/2014/main" id="{B651F200-B8E0-7242-4545-603315D2262A}"/>
              </a:ext>
            </a:extLst>
          </p:cNvPr>
          <p:cNvPicPr>
            <a:picLocks noChangeAspect="1"/>
          </p:cNvPicPr>
          <p:nvPr/>
        </p:nvPicPr>
        <p:blipFill>
          <a:blip r:embed="rId2"/>
          <a:stretch>
            <a:fillRect/>
          </a:stretch>
        </p:blipFill>
        <p:spPr>
          <a:xfrm>
            <a:off x="2266658" y="1629673"/>
            <a:ext cx="7229036" cy="4444880"/>
          </a:xfrm>
          <a:prstGeom prst="rect">
            <a:avLst/>
          </a:prstGeom>
        </p:spPr>
      </p:pic>
    </p:spTree>
    <p:extLst>
      <p:ext uri="{BB962C8B-B14F-4D97-AF65-F5344CB8AC3E}">
        <p14:creationId xmlns:p14="http://schemas.microsoft.com/office/powerpoint/2010/main" val="1553484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4C9AE-7332-C4F5-025E-82CF95CF56D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C1C5A0-3856-726C-6895-1BBA8E08AEB3}"/>
              </a:ext>
            </a:extLst>
          </p:cNvPr>
          <p:cNvSpPr>
            <a:spLocks noGrp="1"/>
          </p:cNvSpPr>
          <p:nvPr>
            <p:ph idx="1"/>
          </p:nvPr>
        </p:nvSpPr>
        <p:spPr>
          <a:xfrm>
            <a:off x="838200" y="379828"/>
            <a:ext cx="10515600" cy="5797135"/>
          </a:xfrm>
        </p:spPr>
        <p:txBody>
          <a:bodyPr>
            <a:normAutofit/>
          </a:bodyPr>
          <a:lstStyle/>
          <a:p>
            <a:r>
              <a:rPr lang="es-MX" dirty="0"/>
              <a:t>Virtud = </a:t>
            </a:r>
            <a:r>
              <a:rPr lang="el-GR" dirty="0"/>
              <a:t>ἀρετή</a:t>
            </a:r>
            <a:r>
              <a:rPr lang="es-MX" dirty="0"/>
              <a:t> = excelencia: función cabal del cumplimiento de algo.</a:t>
            </a:r>
          </a:p>
          <a:p>
            <a:r>
              <a:rPr lang="es-MX" dirty="0"/>
              <a:t>La virtud de la nave, de la espada, del caballo. </a:t>
            </a:r>
          </a:p>
          <a:p>
            <a:r>
              <a:rPr lang="es-MX" dirty="0"/>
              <a:t>¿La virtud del ser humano?</a:t>
            </a:r>
          </a:p>
          <a:p>
            <a:r>
              <a:rPr lang="es-MX" dirty="0"/>
              <a:t>Virtudes de la guerra =&gt; virtudes democráticas</a:t>
            </a:r>
          </a:p>
          <a:p>
            <a:endParaRPr lang="es-PE" dirty="0"/>
          </a:p>
        </p:txBody>
      </p:sp>
      <p:pic>
        <p:nvPicPr>
          <p:cNvPr id="4" name="Picture 3">
            <a:extLst>
              <a:ext uri="{FF2B5EF4-FFF2-40B4-BE49-F238E27FC236}">
                <a16:creationId xmlns:a16="http://schemas.microsoft.com/office/drawing/2014/main" id="{1A769243-0CCB-5A46-6D2F-9575ADD4C800}"/>
              </a:ext>
            </a:extLst>
          </p:cNvPr>
          <p:cNvPicPr>
            <a:picLocks noChangeAspect="1"/>
          </p:cNvPicPr>
          <p:nvPr/>
        </p:nvPicPr>
        <p:blipFill>
          <a:blip r:embed="rId2"/>
          <a:stretch>
            <a:fillRect/>
          </a:stretch>
        </p:blipFill>
        <p:spPr>
          <a:xfrm>
            <a:off x="3265316" y="2690849"/>
            <a:ext cx="6385120" cy="4011165"/>
          </a:xfrm>
          <a:prstGeom prst="rect">
            <a:avLst/>
          </a:prstGeom>
        </p:spPr>
      </p:pic>
    </p:spTree>
    <p:extLst>
      <p:ext uri="{BB962C8B-B14F-4D97-AF65-F5344CB8AC3E}">
        <p14:creationId xmlns:p14="http://schemas.microsoft.com/office/powerpoint/2010/main" val="3169423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6559C-124F-728A-7E97-B8D6C50AF40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F27DA9-7470-D64D-A647-61A4BCE093DC}"/>
              </a:ext>
            </a:extLst>
          </p:cNvPr>
          <p:cNvSpPr>
            <a:spLocks noGrp="1"/>
          </p:cNvSpPr>
          <p:nvPr>
            <p:ph idx="1"/>
          </p:nvPr>
        </p:nvSpPr>
        <p:spPr>
          <a:xfrm>
            <a:off x="838200" y="379828"/>
            <a:ext cx="10515600" cy="5797135"/>
          </a:xfrm>
        </p:spPr>
        <p:txBody>
          <a:bodyPr>
            <a:normAutofit/>
          </a:bodyPr>
          <a:lstStyle/>
          <a:p>
            <a:r>
              <a:rPr lang="es-MX" dirty="0"/>
              <a:t>En el mundo griego no existe el pecado, pero si la desmesura = </a:t>
            </a:r>
            <a:r>
              <a:rPr lang="el-GR" dirty="0"/>
              <a:t>ὕβρις</a:t>
            </a:r>
            <a:endParaRPr lang="es-MX" dirty="0"/>
          </a:p>
          <a:p>
            <a:r>
              <a:rPr lang="es-MX" dirty="0"/>
              <a:t>Mitos y tragedias = actos dramáticos desmesurados (</a:t>
            </a:r>
            <a:r>
              <a:rPr lang="el-GR" dirty="0"/>
              <a:t>ἁμαρτία</a:t>
            </a:r>
            <a:r>
              <a:rPr lang="es-MX" dirty="0"/>
              <a:t> = error trágico, fallar el blanco, “pecado”)</a:t>
            </a:r>
          </a:p>
          <a:p>
            <a:endParaRPr lang="es-PE" dirty="0"/>
          </a:p>
        </p:txBody>
      </p:sp>
      <p:pic>
        <p:nvPicPr>
          <p:cNvPr id="4" name="Picture 3">
            <a:extLst>
              <a:ext uri="{FF2B5EF4-FFF2-40B4-BE49-F238E27FC236}">
                <a16:creationId xmlns:a16="http://schemas.microsoft.com/office/drawing/2014/main" id="{6F680CD5-832A-D996-3D44-A4817120C1C9}"/>
              </a:ext>
            </a:extLst>
          </p:cNvPr>
          <p:cNvPicPr>
            <a:picLocks noChangeAspect="1"/>
          </p:cNvPicPr>
          <p:nvPr/>
        </p:nvPicPr>
        <p:blipFill>
          <a:blip r:embed="rId2"/>
          <a:stretch>
            <a:fillRect/>
          </a:stretch>
        </p:blipFill>
        <p:spPr>
          <a:xfrm>
            <a:off x="1975558" y="2191335"/>
            <a:ext cx="8476738" cy="4449583"/>
          </a:xfrm>
          <a:prstGeom prst="rect">
            <a:avLst/>
          </a:prstGeom>
        </p:spPr>
      </p:pic>
    </p:spTree>
    <p:extLst>
      <p:ext uri="{BB962C8B-B14F-4D97-AF65-F5344CB8AC3E}">
        <p14:creationId xmlns:p14="http://schemas.microsoft.com/office/powerpoint/2010/main" val="1686902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600891" y="0"/>
            <a:ext cx="10959737" cy="6970639"/>
          </a:xfrm>
          <a:prstGeom prst="rect">
            <a:avLst/>
          </a:prstGeom>
        </p:spPr>
      </p:pic>
      <p:sp>
        <p:nvSpPr>
          <p:cNvPr id="3" name="CuadroTexto 2"/>
          <p:cNvSpPr txBox="1"/>
          <p:nvPr/>
        </p:nvSpPr>
        <p:spPr>
          <a:xfrm>
            <a:off x="2295986" y="2100323"/>
            <a:ext cx="1654995" cy="1384995"/>
          </a:xfrm>
          <a:prstGeom prst="rect">
            <a:avLst/>
          </a:prstGeom>
          <a:noFill/>
        </p:spPr>
        <p:txBody>
          <a:bodyPr wrap="square" rtlCol="0">
            <a:spAutoFit/>
          </a:bodyPr>
          <a:lstStyle/>
          <a:p>
            <a:r>
              <a:rPr lang="es-PE" sz="2800" b="1" dirty="0">
                <a:solidFill>
                  <a:schemeClr val="bg1"/>
                </a:solidFill>
              </a:rPr>
              <a:t>Apolo</a:t>
            </a:r>
          </a:p>
          <a:p>
            <a:r>
              <a:rPr lang="es-PE" sz="2800" b="1" dirty="0">
                <a:solidFill>
                  <a:schemeClr val="bg1"/>
                </a:solidFill>
              </a:rPr>
              <a:t>(abogado defensor)</a:t>
            </a:r>
          </a:p>
        </p:txBody>
      </p:sp>
      <p:sp>
        <p:nvSpPr>
          <p:cNvPr id="5" name="CuadroTexto 4"/>
          <p:cNvSpPr txBox="1"/>
          <p:nvPr/>
        </p:nvSpPr>
        <p:spPr>
          <a:xfrm>
            <a:off x="3950981" y="3008265"/>
            <a:ext cx="1879845" cy="954107"/>
          </a:xfrm>
          <a:prstGeom prst="rect">
            <a:avLst/>
          </a:prstGeom>
          <a:noFill/>
        </p:spPr>
        <p:txBody>
          <a:bodyPr wrap="square" rtlCol="0">
            <a:spAutoFit/>
          </a:bodyPr>
          <a:lstStyle/>
          <a:p>
            <a:r>
              <a:rPr lang="es-PE" sz="2800" b="1" dirty="0">
                <a:solidFill>
                  <a:schemeClr val="bg1"/>
                </a:solidFill>
              </a:rPr>
              <a:t>Orestes</a:t>
            </a:r>
          </a:p>
          <a:p>
            <a:r>
              <a:rPr lang="es-PE" sz="2800" b="1" dirty="0">
                <a:solidFill>
                  <a:schemeClr val="bg1"/>
                </a:solidFill>
              </a:rPr>
              <a:t>(acusado)</a:t>
            </a:r>
          </a:p>
        </p:txBody>
      </p:sp>
      <p:sp>
        <p:nvSpPr>
          <p:cNvPr id="7" name="CuadroTexto 6"/>
          <p:cNvSpPr txBox="1"/>
          <p:nvPr/>
        </p:nvSpPr>
        <p:spPr>
          <a:xfrm>
            <a:off x="5140360" y="1027079"/>
            <a:ext cx="1380931" cy="954107"/>
          </a:xfrm>
          <a:prstGeom prst="rect">
            <a:avLst/>
          </a:prstGeom>
          <a:noFill/>
        </p:spPr>
        <p:txBody>
          <a:bodyPr wrap="square" rtlCol="0">
            <a:spAutoFit/>
          </a:bodyPr>
          <a:lstStyle/>
          <a:p>
            <a:r>
              <a:rPr lang="es-PE" sz="2800" b="1" dirty="0">
                <a:solidFill>
                  <a:schemeClr val="bg1"/>
                </a:solidFill>
              </a:rPr>
              <a:t>Atenea (jueza)</a:t>
            </a:r>
          </a:p>
        </p:txBody>
      </p:sp>
      <p:sp>
        <p:nvSpPr>
          <p:cNvPr id="8" name="CuadroTexto 7"/>
          <p:cNvSpPr txBox="1"/>
          <p:nvPr/>
        </p:nvSpPr>
        <p:spPr>
          <a:xfrm>
            <a:off x="8695765" y="3297391"/>
            <a:ext cx="2704341" cy="954107"/>
          </a:xfrm>
          <a:prstGeom prst="rect">
            <a:avLst/>
          </a:prstGeom>
          <a:noFill/>
        </p:spPr>
        <p:txBody>
          <a:bodyPr wrap="square" rtlCol="0">
            <a:spAutoFit/>
          </a:bodyPr>
          <a:lstStyle/>
          <a:p>
            <a:r>
              <a:rPr lang="es-PE" sz="2800" b="1" dirty="0">
                <a:solidFill>
                  <a:schemeClr val="bg1"/>
                </a:solidFill>
              </a:rPr>
              <a:t>Erinias</a:t>
            </a:r>
          </a:p>
          <a:p>
            <a:r>
              <a:rPr lang="es-PE" sz="2800" b="1" dirty="0">
                <a:solidFill>
                  <a:schemeClr val="bg1"/>
                </a:solidFill>
              </a:rPr>
              <a:t>(Fiscalizadoras)</a:t>
            </a:r>
          </a:p>
        </p:txBody>
      </p:sp>
    </p:spTree>
    <p:extLst>
      <p:ext uri="{BB962C8B-B14F-4D97-AF65-F5344CB8AC3E}">
        <p14:creationId xmlns:p14="http://schemas.microsoft.com/office/powerpoint/2010/main" val="4123512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4 Conector recto"/>
          <p:cNvCxnSpPr/>
          <p:nvPr/>
        </p:nvCxnSpPr>
        <p:spPr>
          <a:xfrm>
            <a:off x="2597217" y="3912245"/>
            <a:ext cx="8001056" cy="1588"/>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8 Grupo"/>
          <p:cNvGrpSpPr/>
          <p:nvPr/>
        </p:nvGrpSpPr>
        <p:grpSpPr>
          <a:xfrm>
            <a:off x="10312521" y="3054989"/>
            <a:ext cx="466728" cy="1143802"/>
            <a:chOff x="4143372" y="2500306"/>
            <a:chExt cx="466728" cy="1143802"/>
          </a:xfrm>
        </p:grpSpPr>
        <p:cxnSp>
          <p:nvCxnSpPr>
            <p:cNvPr id="7" name="6 Conector recto"/>
            <p:cNvCxnSpPr/>
            <p:nvPr/>
          </p:nvCxnSpPr>
          <p:spPr>
            <a:xfrm rot="5400000">
              <a:off x="4000496" y="3286124"/>
              <a:ext cx="714380" cy="1588"/>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7 CuadroTexto"/>
            <p:cNvSpPr txBox="1"/>
            <p:nvPr/>
          </p:nvSpPr>
          <p:spPr>
            <a:xfrm>
              <a:off x="4143372" y="2500306"/>
              <a:ext cx="466728" cy="369332"/>
            </a:xfrm>
            <a:prstGeom prst="rect">
              <a:avLst/>
            </a:prstGeom>
            <a:noFill/>
          </p:spPr>
          <p:txBody>
            <a:bodyPr wrap="square" rtlCol="0">
              <a:spAutoFit/>
            </a:bodyPr>
            <a:lstStyle/>
            <a:p>
              <a:pPr algn="ctr"/>
              <a:r>
                <a:rPr lang="es-PE" dirty="0"/>
                <a:t>0</a:t>
              </a:r>
            </a:p>
          </p:txBody>
        </p:sp>
      </p:grpSp>
      <p:grpSp>
        <p:nvGrpSpPr>
          <p:cNvPr id="3" name="12 Grupo"/>
          <p:cNvGrpSpPr/>
          <p:nvPr/>
        </p:nvGrpSpPr>
        <p:grpSpPr>
          <a:xfrm>
            <a:off x="2668657" y="3126427"/>
            <a:ext cx="1357323" cy="1143802"/>
            <a:chOff x="4143373" y="2500306"/>
            <a:chExt cx="443392" cy="1143802"/>
          </a:xfrm>
        </p:grpSpPr>
        <p:cxnSp>
          <p:nvCxnSpPr>
            <p:cNvPr id="14" name="13 Conector recto"/>
            <p:cNvCxnSpPr/>
            <p:nvPr/>
          </p:nvCxnSpPr>
          <p:spPr>
            <a:xfrm rot="5400000">
              <a:off x="4000496" y="3286124"/>
              <a:ext cx="714380" cy="1588"/>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14 CuadroTexto"/>
            <p:cNvSpPr txBox="1"/>
            <p:nvPr/>
          </p:nvSpPr>
          <p:spPr>
            <a:xfrm>
              <a:off x="4143373" y="2500306"/>
              <a:ext cx="443392" cy="369332"/>
            </a:xfrm>
            <a:prstGeom prst="rect">
              <a:avLst/>
            </a:prstGeom>
            <a:noFill/>
          </p:spPr>
          <p:txBody>
            <a:bodyPr wrap="square" rtlCol="0">
              <a:spAutoFit/>
            </a:bodyPr>
            <a:lstStyle/>
            <a:p>
              <a:pPr algn="ctr"/>
              <a:r>
                <a:rPr lang="es-PE" dirty="0"/>
                <a:t>?</a:t>
              </a:r>
            </a:p>
          </p:txBody>
        </p:sp>
      </p:grpSp>
      <p:sp>
        <p:nvSpPr>
          <p:cNvPr id="23" name="22 CuadroTexto"/>
          <p:cNvSpPr txBox="1"/>
          <p:nvPr/>
        </p:nvSpPr>
        <p:spPr>
          <a:xfrm>
            <a:off x="4677961" y="4646300"/>
            <a:ext cx="1238747" cy="369332"/>
          </a:xfrm>
          <a:prstGeom prst="rect">
            <a:avLst/>
          </a:prstGeom>
          <a:noFill/>
        </p:spPr>
        <p:txBody>
          <a:bodyPr wrap="square" rtlCol="0">
            <a:spAutoFit/>
          </a:bodyPr>
          <a:lstStyle/>
          <a:p>
            <a:r>
              <a:rPr lang="es-PE" dirty="0"/>
              <a:t>-800 circa</a:t>
            </a:r>
          </a:p>
        </p:txBody>
      </p:sp>
      <p:sp>
        <p:nvSpPr>
          <p:cNvPr id="11" name="22 CuadroTexto"/>
          <p:cNvSpPr txBox="1"/>
          <p:nvPr/>
        </p:nvSpPr>
        <p:spPr>
          <a:xfrm>
            <a:off x="8525282" y="4646300"/>
            <a:ext cx="1238747" cy="369332"/>
          </a:xfrm>
          <a:prstGeom prst="rect">
            <a:avLst/>
          </a:prstGeom>
          <a:noFill/>
        </p:spPr>
        <p:txBody>
          <a:bodyPr wrap="square" rtlCol="0">
            <a:spAutoFit/>
          </a:bodyPr>
          <a:lstStyle/>
          <a:p>
            <a:r>
              <a:rPr lang="es-PE" dirty="0"/>
              <a:t>-400 circa</a:t>
            </a:r>
          </a:p>
        </p:txBody>
      </p:sp>
      <p:sp>
        <p:nvSpPr>
          <p:cNvPr id="12" name="22 CuadroTexto"/>
          <p:cNvSpPr txBox="1"/>
          <p:nvPr/>
        </p:nvSpPr>
        <p:spPr>
          <a:xfrm>
            <a:off x="4751049" y="3186516"/>
            <a:ext cx="1238747" cy="369332"/>
          </a:xfrm>
          <a:prstGeom prst="rect">
            <a:avLst/>
          </a:prstGeom>
          <a:noFill/>
        </p:spPr>
        <p:txBody>
          <a:bodyPr wrap="square" rtlCol="0">
            <a:spAutoFit/>
          </a:bodyPr>
          <a:lstStyle/>
          <a:p>
            <a:r>
              <a:rPr lang="es-PE" dirty="0"/>
              <a:t>Homero</a:t>
            </a:r>
          </a:p>
        </p:txBody>
      </p:sp>
      <p:sp>
        <p:nvSpPr>
          <p:cNvPr id="16" name="22 CuadroTexto"/>
          <p:cNvSpPr txBox="1"/>
          <p:nvPr/>
        </p:nvSpPr>
        <p:spPr>
          <a:xfrm>
            <a:off x="8525282" y="3114285"/>
            <a:ext cx="1238747" cy="369332"/>
          </a:xfrm>
          <a:prstGeom prst="rect">
            <a:avLst/>
          </a:prstGeom>
          <a:noFill/>
        </p:spPr>
        <p:txBody>
          <a:bodyPr wrap="square" rtlCol="0">
            <a:spAutoFit/>
          </a:bodyPr>
          <a:lstStyle/>
          <a:p>
            <a:r>
              <a:rPr lang="es-PE" dirty="0"/>
              <a:t>Pericles</a:t>
            </a:r>
          </a:p>
        </p:txBody>
      </p:sp>
      <p:cxnSp>
        <p:nvCxnSpPr>
          <p:cNvPr id="13" name="Conector recto de flecha 12"/>
          <p:cNvCxnSpPr/>
          <p:nvPr/>
        </p:nvCxnSpPr>
        <p:spPr>
          <a:xfrm flipV="1">
            <a:off x="4677961" y="486405"/>
            <a:ext cx="2329680" cy="803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Rectángulo 16"/>
          <p:cNvSpPr/>
          <p:nvPr/>
        </p:nvSpPr>
        <p:spPr>
          <a:xfrm>
            <a:off x="6456903" y="1394958"/>
            <a:ext cx="3209621" cy="141825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8" name="Rectángulo 17"/>
          <p:cNvSpPr/>
          <p:nvPr/>
        </p:nvSpPr>
        <p:spPr>
          <a:xfrm>
            <a:off x="2337712" y="1484122"/>
            <a:ext cx="3238391" cy="1234518"/>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9" name="Marcador de contenido 3"/>
          <p:cNvSpPr>
            <a:spLocks noGrp="1"/>
          </p:cNvSpPr>
          <p:nvPr>
            <p:ph idx="1"/>
          </p:nvPr>
        </p:nvSpPr>
        <p:spPr>
          <a:xfrm>
            <a:off x="3199268" y="1513135"/>
            <a:ext cx="1960984" cy="4503308"/>
          </a:xfrm>
        </p:spPr>
        <p:txBody>
          <a:bodyPr/>
          <a:lstStyle/>
          <a:p>
            <a:pPr marL="0" indent="0">
              <a:buNone/>
            </a:pPr>
            <a:r>
              <a:rPr lang="es-PE" dirty="0"/>
              <a:t>Erinias</a:t>
            </a:r>
          </a:p>
        </p:txBody>
      </p:sp>
      <p:sp>
        <p:nvSpPr>
          <p:cNvPr id="20" name="Marcador de contenido 3"/>
          <p:cNvSpPr txBox="1">
            <a:spLocks/>
          </p:cNvSpPr>
          <p:nvPr/>
        </p:nvSpPr>
        <p:spPr>
          <a:xfrm>
            <a:off x="2968302" y="2094560"/>
            <a:ext cx="25363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PE" dirty="0"/>
              <a:t>Venganza</a:t>
            </a:r>
          </a:p>
          <a:p>
            <a:pPr marL="0" indent="0">
              <a:buFont typeface="Arial" panose="020B0604020202020204" pitchFamily="34" charset="0"/>
              <a:buNone/>
            </a:pPr>
            <a:endParaRPr lang="es-PE" dirty="0"/>
          </a:p>
          <a:p>
            <a:pPr marL="0" indent="0">
              <a:buFont typeface="Arial" panose="020B0604020202020204" pitchFamily="34" charset="0"/>
              <a:buNone/>
            </a:pPr>
            <a:endParaRPr lang="es-PE" dirty="0"/>
          </a:p>
          <a:p>
            <a:pPr marL="0" indent="0">
              <a:buFont typeface="Arial" panose="020B0604020202020204" pitchFamily="34" charset="0"/>
              <a:buNone/>
            </a:pPr>
            <a:endParaRPr lang="es-PE" dirty="0"/>
          </a:p>
          <a:p>
            <a:pPr marL="0" indent="0">
              <a:buFont typeface="Arial" panose="020B0604020202020204" pitchFamily="34" charset="0"/>
              <a:buNone/>
            </a:pPr>
            <a:endParaRPr lang="es-PE" dirty="0"/>
          </a:p>
          <a:p>
            <a:pPr marL="0" indent="0">
              <a:buFont typeface="Arial" panose="020B0604020202020204" pitchFamily="34" charset="0"/>
              <a:buNone/>
            </a:pPr>
            <a:endParaRPr lang="es-PE" dirty="0"/>
          </a:p>
          <a:p>
            <a:pPr marL="0" indent="0">
              <a:buFont typeface="Arial" panose="020B0604020202020204" pitchFamily="34" charset="0"/>
              <a:buNone/>
            </a:pPr>
            <a:endParaRPr lang="es-PE" dirty="0"/>
          </a:p>
        </p:txBody>
      </p:sp>
      <p:cxnSp>
        <p:nvCxnSpPr>
          <p:cNvPr id="21" name="Conector recto de flecha 20"/>
          <p:cNvCxnSpPr/>
          <p:nvPr/>
        </p:nvCxnSpPr>
        <p:spPr>
          <a:xfrm>
            <a:off x="3048001" y="2760484"/>
            <a:ext cx="1062456" cy="415555"/>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p:cNvCxnSpPr/>
          <p:nvPr/>
        </p:nvCxnSpPr>
        <p:spPr>
          <a:xfrm>
            <a:off x="8355106" y="2851931"/>
            <a:ext cx="402451" cy="312468"/>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CuadroTexto 23"/>
          <p:cNvSpPr txBox="1"/>
          <p:nvPr/>
        </p:nvSpPr>
        <p:spPr>
          <a:xfrm>
            <a:off x="5333111" y="455481"/>
            <a:ext cx="1909489" cy="923330"/>
          </a:xfrm>
          <a:prstGeom prst="rect">
            <a:avLst/>
          </a:prstGeom>
          <a:noFill/>
        </p:spPr>
        <p:txBody>
          <a:bodyPr wrap="square" rtlCol="0">
            <a:spAutoFit/>
          </a:bodyPr>
          <a:lstStyle/>
          <a:p>
            <a:r>
              <a:rPr lang="es-PE" dirty="0">
                <a:solidFill>
                  <a:schemeClr val="accent3"/>
                </a:solidFill>
              </a:rPr>
              <a:t>Tránsito de paradigma de Justicia</a:t>
            </a:r>
          </a:p>
        </p:txBody>
      </p:sp>
      <p:sp>
        <p:nvSpPr>
          <p:cNvPr id="6" name="Rectángulo 5"/>
          <p:cNvSpPr/>
          <p:nvPr/>
        </p:nvSpPr>
        <p:spPr>
          <a:xfrm>
            <a:off x="7413183" y="1381647"/>
            <a:ext cx="1457258" cy="1754326"/>
          </a:xfrm>
          <a:prstGeom prst="rect">
            <a:avLst/>
          </a:prstGeom>
        </p:spPr>
        <p:txBody>
          <a:bodyPr wrap="none">
            <a:spAutoFit/>
          </a:bodyPr>
          <a:lstStyle/>
          <a:p>
            <a:r>
              <a:rPr lang="es-PE" dirty="0"/>
              <a:t>Imparcialidad</a:t>
            </a:r>
          </a:p>
          <a:p>
            <a:endParaRPr lang="es-PE" dirty="0"/>
          </a:p>
          <a:p>
            <a:r>
              <a:rPr lang="es-PE" dirty="0"/>
              <a:t>Juicio</a:t>
            </a:r>
          </a:p>
          <a:p>
            <a:endParaRPr lang="es-PE" dirty="0"/>
          </a:p>
          <a:p>
            <a:r>
              <a:rPr lang="es-PE" dirty="0"/>
              <a:t>Deliberación</a:t>
            </a:r>
          </a:p>
          <a:p>
            <a:endParaRPr lang="es-PE" dirty="0"/>
          </a:p>
        </p:txBody>
      </p:sp>
      <p:sp>
        <p:nvSpPr>
          <p:cNvPr id="25" name="Rectángulo 24"/>
          <p:cNvSpPr/>
          <p:nvPr/>
        </p:nvSpPr>
        <p:spPr>
          <a:xfrm>
            <a:off x="1317422" y="5064289"/>
            <a:ext cx="3238391" cy="1234518"/>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solidFill>
                  <a:schemeClr val="accent6"/>
                </a:solidFill>
              </a:rPr>
              <a:t>Virtudes Competitivas</a:t>
            </a:r>
          </a:p>
          <a:p>
            <a:pPr algn="ctr"/>
            <a:r>
              <a:rPr lang="es-PE" dirty="0">
                <a:solidFill>
                  <a:schemeClr val="accent6"/>
                </a:solidFill>
              </a:rPr>
              <a:t>(Rey Guerrero)</a:t>
            </a:r>
          </a:p>
        </p:txBody>
      </p:sp>
      <p:sp>
        <p:nvSpPr>
          <p:cNvPr id="26" name="Rectángulo 25"/>
          <p:cNvSpPr/>
          <p:nvPr/>
        </p:nvSpPr>
        <p:spPr>
          <a:xfrm>
            <a:off x="6792866" y="5064289"/>
            <a:ext cx="3238391" cy="1234518"/>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solidFill>
                  <a:schemeClr val="accent6"/>
                </a:solidFill>
              </a:rPr>
              <a:t>Virtudes Cooperativas</a:t>
            </a:r>
          </a:p>
          <a:p>
            <a:pPr algn="ctr"/>
            <a:r>
              <a:rPr lang="es-PE" dirty="0">
                <a:solidFill>
                  <a:schemeClr val="accent6"/>
                </a:solidFill>
              </a:rPr>
              <a:t>(Democracia)</a:t>
            </a:r>
            <a:endParaRPr lang="es-PE" dirty="0"/>
          </a:p>
        </p:txBody>
      </p:sp>
      <p:cxnSp>
        <p:nvCxnSpPr>
          <p:cNvPr id="27" name="Conector recto de flecha 26"/>
          <p:cNvCxnSpPr/>
          <p:nvPr/>
        </p:nvCxnSpPr>
        <p:spPr>
          <a:xfrm flipV="1">
            <a:off x="4555813" y="5646471"/>
            <a:ext cx="2329680" cy="803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Imagen 9"/>
          <p:cNvPicPr>
            <a:picLocks noChangeAspect="1"/>
          </p:cNvPicPr>
          <p:nvPr/>
        </p:nvPicPr>
        <p:blipFill>
          <a:blip r:embed="rId2"/>
          <a:stretch>
            <a:fillRect/>
          </a:stretch>
        </p:blipFill>
        <p:spPr>
          <a:xfrm>
            <a:off x="403703" y="10658"/>
            <a:ext cx="2106417" cy="3153741"/>
          </a:xfrm>
          <a:prstGeom prst="rect">
            <a:avLst/>
          </a:prstGeom>
        </p:spPr>
      </p:pic>
      <p:pic>
        <p:nvPicPr>
          <p:cNvPr id="28" name="Imagen 27"/>
          <p:cNvPicPr>
            <a:picLocks noChangeAspect="1"/>
          </p:cNvPicPr>
          <p:nvPr/>
        </p:nvPicPr>
        <p:blipFill>
          <a:blip r:embed="rId3"/>
          <a:stretch>
            <a:fillRect/>
          </a:stretch>
        </p:blipFill>
        <p:spPr>
          <a:xfrm>
            <a:off x="9258297" y="429209"/>
            <a:ext cx="2933703" cy="2381818"/>
          </a:xfrm>
          <a:prstGeom prst="rect">
            <a:avLst/>
          </a:prstGeom>
        </p:spPr>
      </p:pic>
      <p:sp>
        <p:nvSpPr>
          <p:cNvPr id="29" name="CuadroTexto 28"/>
          <p:cNvSpPr txBox="1"/>
          <p:nvPr/>
        </p:nvSpPr>
        <p:spPr>
          <a:xfrm>
            <a:off x="4926898" y="5771175"/>
            <a:ext cx="1909489" cy="923330"/>
          </a:xfrm>
          <a:prstGeom prst="rect">
            <a:avLst/>
          </a:prstGeom>
          <a:noFill/>
        </p:spPr>
        <p:txBody>
          <a:bodyPr wrap="square" rtlCol="0">
            <a:spAutoFit/>
          </a:bodyPr>
          <a:lstStyle/>
          <a:p>
            <a:r>
              <a:rPr lang="es-PE" dirty="0">
                <a:solidFill>
                  <a:schemeClr val="accent3"/>
                </a:solidFill>
              </a:rPr>
              <a:t>Tránsito de paradigma de Justicia</a:t>
            </a:r>
          </a:p>
        </p:txBody>
      </p:sp>
    </p:spTree>
    <p:extLst>
      <p:ext uri="{BB962C8B-B14F-4D97-AF65-F5344CB8AC3E}">
        <p14:creationId xmlns:p14="http://schemas.microsoft.com/office/powerpoint/2010/main" val="166888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5B60A-0BF4-F939-AB30-68A3ADA7825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30BA8F-2BD5-EE8F-80DC-679E678554AD}"/>
              </a:ext>
            </a:extLst>
          </p:cNvPr>
          <p:cNvSpPr>
            <a:spLocks noGrp="1"/>
          </p:cNvSpPr>
          <p:nvPr>
            <p:ph idx="1"/>
          </p:nvPr>
        </p:nvSpPr>
        <p:spPr>
          <a:xfrm>
            <a:off x="838200" y="379828"/>
            <a:ext cx="10515600" cy="5797135"/>
          </a:xfrm>
        </p:spPr>
        <p:txBody>
          <a:bodyPr>
            <a:normAutofit/>
          </a:bodyPr>
          <a:lstStyle/>
          <a:p>
            <a:r>
              <a:rPr lang="es-MX" dirty="0"/>
              <a:t>A partir de la Orestíada de Esquilo, surgen 3 usos de la deliberación racional en el Areópago, legal, político y filosófico/académico.</a:t>
            </a:r>
          </a:p>
          <a:p>
            <a:r>
              <a:rPr lang="es-MX" dirty="0"/>
              <a:t>Antígona de Sófocles.</a:t>
            </a:r>
          </a:p>
          <a:p>
            <a:r>
              <a:rPr lang="es-MX" dirty="0"/>
              <a:t>Antígona pertenece a una tradición tebana y no troyana, como la Orestíada y Homero.</a:t>
            </a:r>
          </a:p>
          <a:p>
            <a:endParaRPr lang="es-MX" dirty="0"/>
          </a:p>
        </p:txBody>
      </p:sp>
      <p:pic>
        <p:nvPicPr>
          <p:cNvPr id="4" name="Picture 3">
            <a:extLst>
              <a:ext uri="{FF2B5EF4-FFF2-40B4-BE49-F238E27FC236}">
                <a16:creationId xmlns:a16="http://schemas.microsoft.com/office/drawing/2014/main" id="{E094859C-9BDE-4814-2045-E3B6D88D393B}"/>
              </a:ext>
            </a:extLst>
          </p:cNvPr>
          <p:cNvPicPr>
            <a:picLocks noChangeAspect="1"/>
          </p:cNvPicPr>
          <p:nvPr/>
        </p:nvPicPr>
        <p:blipFill>
          <a:blip r:embed="rId2"/>
          <a:stretch>
            <a:fillRect/>
          </a:stretch>
        </p:blipFill>
        <p:spPr>
          <a:xfrm>
            <a:off x="2809654" y="2740929"/>
            <a:ext cx="6572692" cy="3737243"/>
          </a:xfrm>
          <a:prstGeom prst="rect">
            <a:avLst/>
          </a:prstGeom>
        </p:spPr>
      </p:pic>
    </p:spTree>
    <p:extLst>
      <p:ext uri="{BB962C8B-B14F-4D97-AF65-F5344CB8AC3E}">
        <p14:creationId xmlns:p14="http://schemas.microsoft.com/office/powerpoint/2010/main" val="864660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70623-FCEC-90CE-9EB4-E20E3EF86E0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791DF7-4B7B-22C2-274A-C5B4CF91E4DE}"/>
              </a:ext>
            </a:extLst>
          </p:cNvPr>
          <p:cNvSpPr>
            <a:spLocks noGrp="1"/>
          </p:cNvSpPr>
          <p:nvPr>
            <p:ph idx="1"/>
          </p:nvPr>
        </p:nvSpPr>
        <p:spPr>
          <a:xfrm>
            <a:off x="838200" y="379828"/>
            <a:ext cx="10515600" cy="5797135"/>
          </a:xfrm>
        </p:spPr>
        <p:txBody>
          <a:bodyPr>
            <a:normAutofit/>
          </a:bodyPr>
          <a:lstStyle/>
          <a:p>
            <a:r>
              <a:rPr lang="es-MX" dirty="0"/>
              <a:t>Tradición tebana</a:t>
            </a:r>
          </a:p>
          <a:p>
            <a:r>
              <a:rPr lang="es-MX" dirty="0"/>
              <a:t>Cadmo, hermano de Fénix (epónimo de los fenicios, que introdujeron el alfabeto y la agricultura, etc.) (aunque para otros, los </a:t>
            </a:r>
            <a:r>
              <a:rPr lang="el-GR" dirty="0"/>
              <a:t>Φοινίκη</a:t>
            </a:r>
            <a:r>
              <a:rPr lang="es-MX" dirty="0"/>
              <a:t>, purpúreos, por sus tintes, uno muy escaso entonces; en Roma, púrpura: el color del papa)</a:t>
            </a:r>
          </a:p>
          <a:p>
            <a:r>
              <a:rPr lang="es-MX" dirty="0"/>
              <a:t>El dragón aniquilado por Cadmo, fundador de Tebas. Siembra los huesos y dientes del dragón, nacen guerreros, pelean entre sí, quedan 5.</a:t>
            </a:r>
          </a:p>
          <a:p>
            <a:endParaRPr lang="es-MX" dirty="0"/>
          </a:p>
        </p:txBody>
      </p:sp>
      <p:pic>
        <p:nvPicPr>
          <p:cNvPr id="4" name="Picture 3">
            <a:extLst>
              <a:ext uri="{FF2B5EF4-FFF2-40B4-BE49-F238E27FC236}">
                <a16:creationId xmlns:a16="http://schemas.microsoft.com/office/drawing/2014/main" id="{5AB90A51-A828-5F49-6AAF-564125B83F3E}"/>
              </a:ext>
            </a:extLst>
          </p:cNvPr>
          <p:cNvPicPr>
            <a:picLocks noChangeAspect="1"/>
          </p:cNvPicPr>
          <p:nvPr/>
        </p:nvPicPr>
        <p:blipFill>
          <a:blip r:embed="rId2"/>
          <a:stretch>
            <a:fillRect/>
          </a:stretch>
        </p:blipFill>
        <p:spPr>
          <a:xfrm>
            <a:off x="2812403" y="3699988"/>
            <a:ext cx="5274958" cy="2940743"/>
          </a:xfrm>
          <a:prstGeom prst="rect">
            <a:avLst/>
          </a:prstGeom>
        </p:spPr>
      </p:pic>
    </p:spTree>
    <p:extLst>
      <p:ext uri="{BB962C8B-B14F-4D97-AF65-F5344CB8AC3E}">
        <p14:creationId xmlns:p14="http://schemas.microsoft.com/office/powerpoint/2010/main" val="1291633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10515600" cy="614589"/>
          </a:xfrm>
        </p:spPr>
        <p:txBody>
          <a:bodyPr>
            <a:normAutofit fontScale="90000"/>
          </a:bodyPr>
          <a:lstStyle/>
          <a:p>
            <a:pPr algn="ctr"/>
            <a:r>
              <a:rPr lang="es-PE" dirty="0"/>
              <a:t>¿Quién es Antígona?</a:t>
            </a:r>
          </a:p>
        </p:txBody>
      </p:sp>
      <p:sp>
        <p:nvSpPr>
          <p:cNvPr id="3" name="Marcador de contenido 2"/>
          <p:cNvSpPr>
            <a:spLocks noGrp="1"/>
          </p:cNvSpPr>
          <p:nvPr>
            <p:ph idx="1"/>
          </p:nvPr>
        </p:nvSpPr>
        <p:spPr>
          <a:xfrm>
            <a:off x="838200" y="1129004"/>
            <a:ext cx="10515600" cy="2449285"/>
          </a:xfrm>
        </p:spPr>
        <p:txBody>
          <a:bodyPr>
            <a:normAutofit fontScale="92500"/>
          </a:bodyPr>
          <a:lstStyle/>
          <a:p>
            <a:pPr algn="just"/>
            <a:r>
              <a:rPr lang="es-PE" sz="2000" dirty="0"/>
              <a:t>El drama de Sófocles desarrolla algunos hechos fabulados luego de los sucesos ocurridos en Edipo Rey. </a:t>
            </a:r>
          </a:p>
          <a:p>
            <a:pPr algn="just"/>
            <a:r>
              <a:rPr lang="es-PE" sz="2000" dirty="0"/>
              <a:t>Edipo, rey de Tebas, es exiliado trágicamente y es obligado a dejar atrás a cuatro hijos: </a:t>
            </a:r>
            <a:r>
              <a:rPr lang="es-PE" sz="2000" dirty="0" err="1"/>
              <a:t>Eteocles</a:t>
            </a:r>
            <a:r>
              <a:rPr lang="es-PE" sz="2000" dirty="0"/>
              <a:t>, Polinices, </a:t>
            </a:r>
            <a:r>
              <a:rPr lang="es-PE" sz="2000" dirty="0" err="1"/>
              <a:t>Ismene</a:t>
            </a:r>
            <a:r>
              <a:rPr lang="es-PE" sz="2000" dirty="0"/>
              <a:t> y Antígona. </a:t>
            </a:r>
          </a:p>
          <a:p>
            <a:pPr algn="just"/>
            <a:r>
              <a:rPr lang="es-PE" sz="2000" dirty="0"/>
              <a:t>Estando ciego, Edipo en el destierro es acompañado por sus dos hijas. </a:t>
            </a:r>
          </a:p>
          <a:p>
            <a:pPr algn="just"/>
            <a:r>
              <a:rPr lang="es-PE" sz="2000" dirty="0"/>
              <a:t>En Tebas, </a:t>
            </a:r>
            <a:r>
              <a:rPr lang="es-PE" sz="2000" dirty="0" err="1"/>
              <a:t>Eteocles</a:t>
            </a:r>
            <a:r>
              <a:rPr lang="es-PE" sz="2000" dirty="0"/>
              <a:t> y Polinices discuten por quién debe gobernar. Acuerdan que cada uno gobernará por turnos de un año. </a:t>
            </a:r>
          </a:p>
          <a:p>
            <a:pPr algn="just"/>
            <a:r>
              <a:rPr lang="es-PE" sz="2000" dirty="0"/>
              <a:t>7 puertas en </a:t>
            </a:r>
            <a:r>
              <a:rPr lang="es-PE" sz="2000" dirty="0" err="1"/>
              <a:t>tebas</a:t>
            </a:r>
            <a:r>
              <a:rPr lang="es-PE" sz="2000" dirty="0"/>
              <a:t> =&gt; vs los 7 de </a:t>
            </a:r>
            <a:r>
              <a:rPr lang="es-PE" sz="2000" dirty="0" err="1"/>
              <a:t>tebas</a:t>
            </a:r>
            <a:endParaRPr lang="es-PE" sz="2000" dirty="0"/>
          </a:p>
          <a:p>
            <a:pPr algn="just"/>
            <a:endParaRPr lang="es-PE" sz="2000" dirty="0"/>
          </a:p>
        </p:txBody>
      </p:sp>
      <p:pic>
        <p:nvPicPr>
          <p:cNvPr id="2050" name="Picture 2" descr="Image result for edipo re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0358" y="3749040"/>
            <a:ext cx="5715000" cy="3000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9784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3997233"/>
            <a:ext cx="10515600" cy="2179729"/>
          </a:xfrm>
        </p:spPr>
        <p:txBody>
          <a:bodyPr>
            <a:normAutofit fontScale="85000" lnSpcReduction="10000"/>
          </a:bodyPr>
          <a:lstStyle/>
          <a:p>
            <a:pPr algn="just"/>
            <a:r>
              <a:rPr lang="es-PE" dirty="0" err="1"/>
              <a:t>Eteocles</a:t>
            </a:r>
            <a:r>
              <a:rPr lang="es-PE" dirty="0"/>
              <a:t> eventualmente se aferra al poder y desata una guerra. Mientras el tirano tiene el ejército tebano, Polinices contrata uno de mercenarios extranjeros. </a:t>
            </a:r>
          </a:p>
          <a:p>
            <a:pPr algn="just"/>
            <a:r>
              <a:rPr lang="es-PE" dirty="0"/>
              <a:t>Se desata un baño de sangre en Tebas que termina en un duelo entre los hermanos que resulta en una doble fatalidad. </a:t>
            </a:r>
          </a:p>
          <a:p>
            <a:pPr algn="just"/>
            <a:r>
              <a:rPr lang="es-PE" dirty="0"/>
              <a:t> Así, el tío político de los hermanos, Creonte, toma el poder de Tebas. Y es este el contexto de los sucesos protagonizados por Antígona. </a:t>
            </a:r>
          </a:p>
          <a:p>
            <a:pPr algn="just"/>
            <a:endParaRPr lang="es-PE" dirty="0"/>
          </a:p>
        </p:txBody>
      </p:sp>
      <p:pic>
        <p:nvPicPr>
          <p:cNvPr id="3074" name="Picture 2" descr="Image result for guerra en teba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0142" y="496251"/>
            <a:ext cx="5931716" cy="3143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1564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16132" y="378187"/>
            <a:ext cx="10515600" cy="640715"/>
          </a:xfrm>
        </p:spPr>
        <p:txBody>
          <a:bodyPr>
            <a:normAutofit fontScale="90000"/>
          </a:bodyPr>
          <a:lstStyle/>
          <a:p>
            <a:pPr algn="ctr"/>
            <a:r>
              <a:rPr lang="es-PE" dirty="0"/>
              <a:t>¿Qué sucede en la tragedia de Antígona?</a:t>
            </a:r>
          </a:p>
        </p:txBody>
      </p:sp>
      <p:sp>
        <p:nvSpPr>
          <p:cNvPr id="3" name="Marcador de contenido 2"/>
          <p:cNvSpPr>
            <a:spLocks noGrp="1"/>
          </p:cNvSpPr>
          <p:nvPr>
            <p:ph idx="1"/>
          </p:nvPr>
        </p:nvSpPr>
        <p:spPr>
          <a:xfrm>
            <a:off x="838200" y="1825625"/>
            <a:ext cx="6267994" cy="4351338"/>
          </a:xfrm>
        </p:spPr>
        <p:txBody>
          <a:bodyPr>
            <a:normAutofit fontScale="70000" lnSpcReduction="20000"/>
          </a:bodyPr>
          <a:lstStyle/>
          <a:p>
            <a:pPr algn="just"/>
            <a:r>
              <a:rPr lang="es-PE" dirty="0"/>
              <a:t>Creonte dictamina que </a:t>
            </a:r>
            <a:r>
              <a:rPr lang="es-PE" dirty="0" err="1"/>
              <a:t>Eteocles</a:t>
            </a:r>
            <a:r>
              <a:rPr lang="es-PE" dirty="0"/>
              <a:t> será honrado con los ritos fúnebres apropiados de un monarca, mientras que Polinices quedará insepulto, por estimársele como traidor. </a:t>
            </a:r>
          </a:p>
          <a:p>
            <a:pPr algn="just"/>
            <a:r>
              <a:rPr lang="es-PE" dirty="0"/>
              <a:t>Debemos considerar, que para la mentalidad religiosa griega, el no ser enviado al otro mundo, suponía algo análogo al tormento del alma por la eternidad, debido a que quedar insepulto equivalía a que su alma vagaría por la tierra sin acceder al inframundo del Hades. </a:t>
            </a:r>
          </a:p>
          <a:p>
            <a:pPr algn="just"/>
            <a:r>
              <a:rPr lang="es-PE" dirty="0"/>
              <a:t>Antígona e </a:t>
            </a:r>
            <a:r>
              <a:rPr lang="es-PE" dirty="0" err="1"/>
              <a:t>Ismene</a:t>
            </a:r>
            <a:r>
              <a:rPr lang="es-PE" dirty="0"/>
              <a:t> discuten sobre si deben o no escabullirse por la noche para sepultar a su hermano y ofrecer los ritos apropiados. </a:t>
            </a:r>
            <a:r>
              <a:rPr lang="es-PE" dirty="0" err="1"/>
              <a:t>Ismene</a:t>
            </a:r>
            <a:r>
              <a:rPr lang="es-PE" dirty="0"/>
              <a:t> no quiere atentar contra la prohibición. El caso de Antígona es distinto, porque busca hacer respetar una ley que no es la ley del hombre. </a:t>
            </a:r>
          </a:p>
          <a:p>
            <a:pPr algn="just"/>
            <a:r>
              <a:rPr lang="es-PE" dirty="0"/>
              <a:t>Dicha tensión entre las hermanas puede interpretarse como el conflicto entre las leyes divinas y las leyes del estado. </a:t>
            </a:r>
          </a:p>
        </p:txBody>
      </p:sp>
      <p:pic>
        <p:nvPicPr>
          <p:cNvPr id="4100" name="Picture 4" descr="Image result for antigona isme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6194" y="1391512"/>
            <a:ext cx="5219563" cy="5219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1321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107576" y="770708"/>
            <a:ext cx="6792685" cy="6244046"/>
          </a:xfrm>
        </p:spPr>
        <p:txBody>
          <a:bodyPr>
            <a:normAutofit fontScale="77500" lnSpcReduction="20000"/>
          </a:bodyPr>
          <a:lstStyle/>
          <a:p>
            <a:pPr algn="just"/>
            <a:r>
              <a:rPr lang="es-PE" dirty="0"/>
              <a:t>Sabido esto, Creonte condena a Antígona a ser sepultada viva en una cueva y a ser alimentada una vez al día. El hijo de Creonte le reclama por la decisión y se compadece por la hija de Edipo.</a:t>
            </a:r>
          </a:p>
          <a:p>
            <a:pPr algn="just"/>
            <a:r>
              <a:rPr lang="es-PE" dirty="0"/>
              <a:t>Tiresias, el ciego, intercede por Antígona, refiriendo que los dioses no se detendrán hasta que un heredero suyo pague con su sangre. Creonte cede y la libera.  </a:t>
            </a:r>
          </a:p>
          <a:p>
            <a:pPr algn="just"/>
            <a:r>
              <a:rPr lang="es-PE" dirty="0"/>
              <a:t>Sin embargo, al llegar a la cueva, encuentran que ella se ha suicidado ahorcándose con su ceñidor y el hijo de Creonte es testigo de la escena. En un arrebato de furia, el hijo de Creonte desenvaina su espada y ataca a su padre, pero en el embate se clava la espada a sí mismo, muriendo en la misma cueva que Antígona. </a:t>
            </a:r>
          </a:p>
          <a:p>
            <a:pPr algn="just"/>
            <a:r>
              <a:rPr lang="es-PE" dirty="0"/>
              <a:t>Llegando al palacio real, Creonte con su hijo muerto en brazos, conoce que su esposa, al saber de lo sucedido, se ha quitado la vida.</a:t>
            </a:r>
          </a:p>
          <a:p>
            <a:pPr algn="just"/>
            <a:r>
              <a:rPr lang="es-PE" dirty="0"/>
              <a:t>Así, la obra de Sófocles plantea los conflictos entre individuos y soberanos, entre las leyes del estado y de la religión, entre los seres finitos y los dioses, además de los conflictos entre las mujeres y los hombres. </a:t>
            </a:r>
          </a:p>
          <a:p>
            <a:pPr algn="just"/>
            <a:endParaRPr lang="es-PE" dirty="0"/>
          </a:p>
        </p:txBody>
      </p:sp>
      <p:pic>
        <p:nvPicPr>
          <p:cNvPr id="5122" name="Picture 2" descr="http://archivo.e-consulta.com/blogs/consultario/wp-content/uploads/2018/12/03-Otra-representaci%C3%B3n-de-Ant%C3%ADgona.-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5431" y="770708"/>
            <a:ext cx="2394555" cy="2627539"/>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s://upload.wikimedia.org/wikipedia/commons/thumb/8/8c/Lytras_nikiforos_antigone_polynices.jpeg/245px-Lytras_nikiforos_antigone_polynices.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587" y="3061752"/>
            <a:ext cx="4929989" cy="3469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0290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antigo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765" y="-26847"/>
            <a:ext cx="11194869" cy="6884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0372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83326" y="509451"/>
            <a:ext cx="10870474" cy="2586446"/>
          </a:xfrm>
        </p:spPr>
        <p:txBody>
          <a:bodyPr>
            <a:normAutofit fontScale="62500" lnSpcReduction="20000"/>
          </a:bodyPr>
          <a:lstStyle/>
          <a:p>
            <a:pPr algn="just"/>
            <a:r>
              <a:rPr lang="es-PE" dirty="0"/>
              <a:t>De acuerdo a Luce </a:t>
            </a:r>
            <a:r>
              <a:rPr lang="es-PE" dirty="0" err="1"/>
              <a:t>Irigaray</a:t>
            </a:r>
            <a:r>
              <a:rPr lang="es-PE" dirty="0"/>
              <a:t>: “el poder insurrecto de Antígona es aquél que permanece fuera de lo político” (p.18) En la lectura que hace Butler de </a:t>
            </a:r>
            <a:r>
              <a:rPr lang="es-PE" dirty="0" err="1"/>
              <a:t>Irigaray</a:t>
            </a:r>
            <a:r>
              <a:rPr lang="es-PE" dirty="0"/>
              <a:t>, Antígona representa un vínculo de sangre, no en el sentido de la relación consanguínea, sino como algo más cercano a un derramamiento de sangre. </a:t>
            </a:r>
          </a:p>
          <a:p>
            <a:pPr algn="just"/>
            <a:r>
              <a:rPr lang="es-PE" dirty="0"/>
              <a:t>Butler coincide en parte con la lectura de Hegel de una Antígona como defensora de las fuerzas de parentesco y a Creonte como de las fuerzas del estado. </a:t>
            </a:r>
          </a:p>
          <a:p>
            <a:pPr algn="just"/>
            <a:r>
              <a:rPr lang="es-PE" dirty="0"/>
              <a:t>Se identifican dos momentos de Antígona: “el entierro (de Polinices) y su desafío verbal (“Confieso que yo he sido”), coinciden con las ocasiones en que el coro, Creonte y los mensajeros la llaman &lt;&lt;varonil&gt;&gt; (…) Antígona parece asumir la forma de una cierta soberanía masculina, una virilidad que no se puede compartir, que requiere que su otro sea tanto femenino como inferior. (…) ¿ha vencido la soberanía del género? ” (p. 24) </a:t>
            </a:r>
          </a:p>
          <a:p>
            <a:pPr algn="just"/>
            <a:endParaRPr lang="es-PE" dirty="0"/>
          </a:p>
          <a:p>
            <a:pPr algn="just"/>
            <a:endParaRPr lang="es-PE" dirty="0"/>
          </a:p>
        </p:txBody>
      </p:sp>
      <p:pic>
        <p:nvPicPr>
          <p:cNvPr id="7170" name="Picture 2" descr="Image result for antigona creon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1425" y="2834640"/>
            <a:ext cx="7534275" cy="3695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1611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695406" y="1381488"/>
            <a:ext cx="5619206" cy="4351338"/>
          </a:xfrm>
        </p:spPr>
        <p:txBody>
          <a:bodyPr>
            <a:normAutofit fontScale="70000" lnSpcReduction="20000"/>
          </a:bodyPr>
          <a:lstStyle/>
          <a:p>
            <a:pPr algn="just"/>
            <a:r>
              <a:rPr lang="es-PE" dirty="0"/>
              <a:t>En Hegel, los actos de Creonte y Antígona no se oponen, sino más bien se “reflejan”: “sólo pueden representarse a través de la implicación del uno en el idioma del otro. Al hablarle, ella se hace varonil y Creonte se debilita” (p.26)</a:t>
            </a:r>
          </a:p>
          <a:p>
            <a:pPr algn="just"/>
            <a:r>
              <a:rPr lang="es-PE" dirty="0"/>
              <a:t>Al verbalizar el hecho con la confesión, se dan las implicancias sociales de tomar responsabilidad por el acto, y es en este sentido, también, se ve “implicada en ese exceso de masculinidad llamado orgullo” </a:t>
            </a:r>
            <a:r>
              <a:rPr lang="es-PE" i="1" dirty="0"/>
              <a:t>(Ib</a:t>
            </a:r>
            <a:r>
              <a:rPr lang="es-PE" dirty="0"/>
              <a:t>.). Apelar a su masculinidad, equivale a resaltar su autonomía, su autogobierno y/o a su autosuficiencia.  </a:t>
            </a:r>
          </a:p>
          <a:p>
            <a:pPr algn="just"/>
            <a:r>
              <a:rPr lang="es-PE" dirty="0"/>
              <a:t>Es “masculino” desafiar la ley, pero también “porque se apropia de la voz de la ley para cometer un acto en contra de la ley misma” </a:t>
            </a:r>
            <a:r>
              <a:rPr lang="es-PE" i="1" dirty="0"/>
              <a:t>(Ib.)</a:t>
            </a:r>
          </a:p>
          <a:p>
            <a:endParaRPr lang="es-PE" dirty="0"/>
          </a:p>
        </p:txBody>
      </p:sp>
      <p:pic>
        <p:nvPicPr>
          <p:cNvPr id="8194" name="Picture 2" descr="Image result for greek warrior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6731" y="1047320"/>
            <a:ext cx="3219866" cy="4340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7027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434149" y="1499053"/>
            <a:ext cx="5710646" cy="4351338"/>
          </a:xfrm>
        </p:spPr>
        <p:txBody>
          <a:bodyPr>
            <a:normAutofit fontScale="92500" lnSpcReduction="10000"/>
          </a:bodyPr>
          <a:lstStyle/>
          <a:p>
            <a:pPr marL="0" indent="0" algn="just">
              <a:buNone/>
            </a:pPr>
            <a:r>
              <a:rPr lang="es-PE" dirty="0"/>
              <a:t>Butler plantea lo siguiente: “Aunque Antígona muere, su acto permanece en el lenguaje, pero ¿cuál es su acto? Este acto, que es y no es suyo, supone una trasgresión de las normas de parentesco y de género que pone de manifiesto el carácter precario de esas normas, su imprevista y molesta transferibilidad, y su capacidad para ser reiteradas en contextos y de formas que nunca podremos anticipar completamente.” (p. 42)</a:t>
            </a:r>
          </a:p>
        </p:txBody>
      </p:sp>
      <p:pic>
        <p:nvPicPr>
          <p:cNvPr id="10242" name="Picture 2" descr="Image result for antigo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2124" y="1293222"/>
            <a:ext cx="2583397" cy="4005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1476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90A54-DA32-53ED-FDF1-84229D3B0A3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D719FC-2929-2C12-EAA9-D3AC962C0075}"/>
              </a:ext>
            </a:extLst>
          </p:cNvPr>
          <p:cNvSpPr>
            <a:spLocks noGrp="1"/>
          </p:cNvSpPr>
          <p:nvPr>
            <p:ph idx="1"/>
          </p:nvPr>
        </p:nvSpPr>
        <p:spPr>
          <a:xfrm>
            <a:off x="838200" y="530432"/>
            <a:ext cx="10515600" cy="5797135"/>
          </a:xfrm>
        </p:spPr>
        <p:txBody>
          <a:bodyPr>
            <a:normAutofit/>
          </a:bodyPr>
          <a:lstStyle/>
          <a:p>
            <a:r>
              <a:rPr lang="es-MX" dirty="0"/>
              <a:t>Antígona =&gt; Sobre el papel de la mujer en el estado y la sociedad</a:t>
            </a:r>
          </a:p>
          <a:p>
            <a:r>
              <a:rPr lang="es-MX" dirty="0"/>
              <a:t>Ciclo de mitos tebanos (más antiguo que la guerra de Troya)</a:t>
            </a:r>
          </a:p>
          <a:p>
            <a:r>
              <a:rPr lang="es-MX" dirty="0"/>
              <a:t>Ley de la </a:t>
            </a:r>
            <a:r>
              <a:rPr lang="es-MX" dirty="0" err="1"/>
              <a:t>pólis</a:t>
            </a:r>
            <a:r>
              <a:rPr lang="es-MX" dirty="0"/>
              <a:t> – vs – Ley de los dioses</a:t>
            </a:r>
          </a:p>
          <a:p>
            <a:r>
              <a:rPr lang="es-MX" dirty="0"/>
              <a:t>Antígona =&gt; mujer joven con “discurso” y acciones poderosas en contra del rey, en una sociedad patriarcal: desafía al tirano.</a:t>
            </a:r>
          </a:p>
          <a:p>
            <a:endParaRPr lang="es-MX" dirty="0"/>
          </a:p>
        </p:txBody>
      </p:sp>
      <p:pic>
        <p:nvPicPr>
          <p:cNvPr id="4" name="Picture 3">
            <a:extLst>
              <a:ext uri="{FF2B5EF4-FFF2-40B4-BE49-F238E27FC236}">
                <a16:creationId xmlns:a16="http://schemas.microsoft.com/office/drawing/2014/main" id="{6A104CE0-EC47-7400-1EA8-7A75D70B7DCE}"/>
              </a:ext>
            </a:extLst>
          </p:cNvPr>
          <p:cNvPicPr>
            <a:picLocks noChangeAspect="1"/>
          </p:cNvPicPr>
          <p:nvPr/>
        </p:nvPicPr>
        <p:blipFill>
          <a:blip r:embed="rId2"/>
          <a:stretch>
            <a:fillRect/>
          </a:stretch>
        </p:blipFill>
        <p:spPr>
          <a:xfrm>
            <a:off x="1228336" y="3186403"/>
            <a:ext cx="9147304" cy="2978192"/>
          </a:xfrm>
          <a:prstGeom prst="rect">
            <a:avLst/>
          </a:prstGeom>
        </p:spPr>
      </p:pic>
    </p:spTree>
    <p:extLst>
      <p:ext uri="{BB962C8B-B14F-4D97-AF65-F5344CB8AC3E}">
        <p14:creationId xmlns:p14="http://schemas.microsoft.com/office/powerpoint/2010/main" val="9967460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E5584-F6E7-4DDB-B7A8-D73B9B305A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D06E8F-76CD-BA72-6D65-C5967CED436A}"/>
              </a:ext>
            </a:extLst>
          </p:cNvPr>
          <p:cNvSpPr>
            <a:spLocks noGrp="1"/>
          </p:cNvSpPr>
          <p:nvPr>
            <p:ph idx="1"/>
          </p:nvPr>
        </p:nvSpPr>
        <p:spPr>
          <a:xfrm>
            <a:off x="838200" y="530432"/>
            <a:ext cx="10515600" cy="5797135"/>
          </a:xfrm>
        </p:spPr>
        <p:txBody>
          <a:bodyPr>
            <a:normAutofit/>
          </a:bodyPr>
          <a:lstStyle/>
          <a:p>
            <a:r>
              <a:rPr lang="es-MX" dirty="0" err="1"/>
              <a:t>Hemón</a:t>
            </a:r>
            <a:r>
              <a:rPr lang="es-MX" dirty="0"/>
              <a:t> a Creonte: “El pueblo cree que Antígona actuó bien (…) Tu serías un gran gobernante en una ciudad desierta.”</a:t>
            </a:r>
          </a:p>
          <a:p>
            <a:r>
              <a:rPr lang="es-MX" dirty="0"/>
              <a:t>Coro, sobre la obra humana: “Se dio a sí mismo el lenguaje y el alado pensamiento.”</a:t>
            </a:r>
          </a:p>
          <a:p>
            <a:r>
              <a:rPr lang="es-MX" dirty="0"/>
              <a:t>Tiresias a Creonte: “Esto no va a parar hasta que tu propia sangre lo pague.”</a:t>
            </a:r>
          </a:p>
          <a:p>
            <a:r>
              <a:rPr lang="es-MX" dirty="0"/>
              <a:t>Coro: “Nos volvemos prudentes una vez saboreamos el infortunio” (</a:t>
            </a:r>
            <a:r>
              <a:rPr lang="es-MX" dirty="0" err="1"/>
              <a:t>Pathémata</a:t>
            </a:r>
            <a:r>
              <a:rPr lang="es-MX" dirty="0"/>
              <a:t> </a:t>
            </a:r>
            <a:r>
              <a:rPr lang="es-MX" dirty="0" err="1"/>
              <a:t>mathémata</a:t>
            </a:r>
            <a:r>
              <a:rPr lang="es-MX" dirty="0"/>
              <a:t>)</a:t>
            </a:r>
          </a:p>
        </p:txBody>
      </p:sp>
      <p:pic>
        <p:nvPicPr>
          <p:cNvPr id="4" name="Picture 3">
            <a:extLst>
              <a:ext uri="{FF2B5EF4-FFF2-40B4-BE49-F238E27FC236}">
                <a16:creationId xmlns:a16="http://schemas.microsoft.com/office/drawing/2014/main" id="{672CB970-8518-2F7D-2F2C-B55E3F20D907}"/>
              </a:ext>
            </a:extLst>
          </p:cNvPr>
          <p:cNvPicPr>
            <a:picLocks noChangeAspect="1"/>
          </p:cNvPicPr>
          <p:nvPr/>
        </p:nvPicPr>
        <p:blipFill>
          <a:blip r:embed="rId2"/>
          <a:stretch>
            <a:fillRect/>
          </a:stretch>
        </p:blipFill>
        <p:spPr>
          <a:xfrm>
            <a:off x="1259341" y="4392775"/>
            <a:ext cx="8985672" cy="2221912"/>
          </a:xfrm>
          <a:prstGeom prst="rect">
            <a:avLst/>
          </a:prstGeom>
        </p:spPr>
      </p:pic>
    </p:spTree>
    <p:extLst>
      <p:ext uri="{BB962C8B-B14F-4D97-AF65-F5344CB8AC3E}">
        <p14:creationId xmlns:p14="http://schemas.microsoft.com/office/powerpoint/2010/main" val="743794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7A35D6-15C6-089E-3DF3-B913EE8D6B0B}"/>
              </a:ext>
            </a:extLst>
          </p:cNvPr>
          <p:cNvPicPr>
            <a:picLocks noChangeAspect="1"/>
          </p:cNvPicPr>
          <p:nvPr/>
        </p:nvPicPr>
        <p:blipFill>
          <a:blip r:embed="rId2"/>
          <a:stretch>
            <a:fillRect/>
          </a:stretch>
        </p:blipFill>
        <p:spPr>
          <a:xfrm>
            <a:off x="1211518" y="815005"/>
            <a:ext cx="4076700" cy="5227990"/>
          </a:xfrm>
          <a:prstGeom prst="rect">
            <a:avLst/>
          </a:prstGeom>
        </p:spPr>
      </p:pic>
      <p:pic>
        <p:nvPicPr>
          <p:cNvPr id="7" name="Picture 6">
            <a:extLst>
              <a:ext uri="{FF2B5EF4-FFF2-40B4-BE49-F238E27FC236}">
                <a16:creationId xmlns:a16="http://schemas.microsoft.com/office/drawing/2014/main" id="{4D5AEC2B-E4BF-9FD4-DF53-7C8D0AEF3A3E}"/>
              </a:ext>
            </a:extLst>
          </p:cNvPr>
          <p:cNvPicPr>
            <a:picLocks noChangeAspect="1"/>
          </p:cNvPicPr>
          <p:nvPr/>
        </p:nvPicPr>
        <p:blipFill>
          <a:blip r:embed="rId3"/>
          <a:stretch>
            <a:fillRect/>
          </a:stretch>
        </p:blipFill>
        <p:spPr>
          <a:xfrm>
            <a:off x="6473983" y="815005"/>
            <a:ext cx="4076700" cy="5227990"/>
          </a:xfrm>
          <a:prstGeom prst="rect">
            <a:avLst/>
          </a:prstGeom>
        </p:spPr>
      </p:pic>
    </p:spTree>
    <p:extLst>
      <p:ext uri="{BB962C8B-B14F-4D97-AF65-F5344CB8AC3E}">
        <p14:creationId xmlns:p14="http://schemas.microsoft.com/office/powerpoint/2010/main" val="30789806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30A7D-F611-DEF6-06BA-8AE67AC740E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75FCE2-711D-9C3A-D86B-6174F54A71C0}"/>
              </a:ext>
            </a:extLst>
          </p:cNvPr>
          <p:cNvSpPr>
            <a:spLocks noGrp="1"/>
          </p:cNvSpPr>
          <p:nvPr>
            <p:ph idx="1"/>
          </p:nvPr>
        </p:nvSpPr>
        <p:spPr>
          <a:xfrm>
            <a:off x="838200" y="379828"/>
            <a:ext cx="10515600" cy="5797135"/>
          </a:xfrm>
        </p:spPr>
        <p:txBody>
          <a:bodyPr/>
          <a:lstStyle/>
          <a:p>
            <a:r>
              <a:rPr lang="es-MX" dirty="0"/>
              <a:t>Platón como político y no metafísico.</a:t>
            </a:r>
          </a:p>
          <a:p>
            <a:r>
              <a:rPr lang="es-MX" dirty="0"/>
              <a:t>Atenas: centro cultural e intelectual de la Hélade</a:t>
            </a:r>
          </a:p>
          <a:p>
            <a:r>
              <a:rPr lang="es-MX" dirty="0"/>
              <a:t>Gran fama y reputación de la academia platónica</a:t>
            </a:r>
          </a:p>
          <a:p>
            <a:r>
              <a:rPr lang="es-MX" dirty="0"/>
              <a:t>Relación entre teoría del mundo de las ideas y la influencia de Sócrates. </a:t>
            </a:r>
          </a:p>
          <a:p>
            <a:pPr marL="0" indent="0">
              <a:buNone/>
            </a:pPr>
            <a:endParaRPr lang="es-PE" dirty="0"/>
          </a:p>
        </p:txBody>
      </p:sp>
      <p:pic>
        <p:nvPicPr>
          <p:cNvPr id="4" name="Picture 3">
            <a:extLst>
              <a:ext uri="{FF2B5EF4-FFF2-40B4-BE49-F238E27FC236}">
                <a16:creationId xmlns:a16="http://schemas.microsoft.com/office/drawing/2014/main" id="{0EDF09CB-FDDB-F6D8-721E-823E2B59058C}"/>
              </a:ext>
            </a:extLst>
          </p:cNvPr>
          <p:cNvPicPr>
            <a:picLocks noChangeAspect="1"/>
          </p:cNvPicPr>
          <p:nvPr/>
        </p:nvPicPr>
        <p:blipFill>
          <a:blip r:embed="rId2"/>
          <a:stretch>
            <a:fillRect/>
          </a:stretch>
        </p:blipFill>
        <p:spPr>
          <a:xfrm>
            <a:off x="2753891" y="2540207"/>
            <a:ext cx="7864346" cy="3983574"/>
          </a:xfrm>
          <a:prstGeom prst="rect">
            <a:avLst/>
          </a:prstGeom>
        </p:spPr>
      </p:pic>
    </p:spTree>
    <p:extLst>
      <p:ext uri="{BB962C8B-B14F-4D97-AF65-F5344CB8AC3E}">
        <p14:creationId xmlns:p14="http://schemas.microsoft.com/office/powerpoint/2010/main" val="263348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D0AD8-EFAE-8295-518F-90BC946963C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202F56-664B-C4B2-C1CB-FA06D8DACC1A}"/>
              </a:ext>
            </a:extLst>
          </p:cNvPr>
          <p:cNvSpPr>
            <a:spLocks noGrp="1"/>
          </p:cNvSpPr>
          <p:nvPr>
            <p:ph idx="1"/>
          </p:nvPr>
        </p:nvSpPr>
        <p:spPr>
          <a:xfrm>
            <a:off x="838200" y="379828"/>
            <a:ext cx="10515600" cy="5797135"/>
          </a:xfrm>
        </p:spPr>
        <p:txBody>
          <a:bodyPr/>
          <a:lstStyle/>
          <a:p>
            <a:r>
              <a:rPr lang="es-MX" dirty="0"/>
              <a:t>Menón =&gt; qué es la virtud? Se puede enseñar?</a:t>
            </a:r>
          </a:p>
          <a:p>
            <a:r>
              <a:rPr lang="es-MX" dirty="0"/>
              <a:t>Fedón =&gt; teoría de la participación, inmortalidad del alma, filosofía como preparación para la muerte. </a:t>
            </a:r>
          </a:p>
          <a:p>
            <a:endParaRPr lang="es-MX" dirty="0"/>
          </a:p>
          <a:p>
            <a:pPr marL="0" indent="0">
              <a:buNone/>
            </a:pPr>
            <a:endParaRPr lang="es-PE" dirty="0"/>
          </a:p>
        </p:txBody>
      </p:sp>
      <p:pic>
        <p:nvPicPr>
          <p:cNvPr id="4" name="Picture 3">
            <a:extLst>
              <a:ext uri="{FF2B5EF4-FFF2-40B4-BE49-F238E27FC236}">
                <a16:creationId xmlns:a16="http://schemas.microsoft.com/office/drawing/2014/main" id="{C7A02088-6210-1B98-FE52-76A3C9727515}"/>
              </a:ext>
            </a:extLst>
          </p:cNvPr>
          <p:cNvPicPr>
            <a:picLocks noChangeAspect="1"/>
          </p:cNvPicPr>
          <p:nvPr/>
        </p:nvPicPr>
        <p:blipFill>
          <a:blip r:embed="rId2"/>
          <a:stretch>
            <a:fillRect/>
          </a:stretch>
        </p:blipFill>
        <p:spPr>
          <a:xfrm>
            <a:off x="2203482" y="2070121"/>
            <a:ext cx="6865874" cy="4408051"/>
          </a:xfrm>
          <a:prstGeom prst="rect">
            <a:avLst/>
          </a:prstGeom>
        </p:spPr>
      </p:pic>
    </p:spTree>
    <p:extLst>
      <p:ext uri="{BB962C8B-B14F-4D97-AF65-F5344CB8AC3E}">
        <p14:creationId xmlns:p14="http://schemas.microsoft.com/office/powerpoint/2010/main" val="23546880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BA98A-7AAB-14AF-54F1-A91CC2C6C6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6C5127-F6E3-1E1E-D893-DEE5F4D2205A}"/>
              </a:ext>
            </a:extLst>
          </p:cNvPr>
          <p:cNvSpPr>
            <a:spLocks noGrp="1"/>
          </p:cNvSpPr>
          <p:nvPr>
            <p:ph idx="1"/>
          </p:nvPr>
        </p:nvSpPr>
        <p:spPr>
          <a:xfrm>
            <a:off x="838200" y="379828"/>
            <a:ext cx="10515600" cy="6224172"/>
          </a:xfrm>
        </p:spPr>
        <p:txBody>
          <a:bodyPr>
            <a:normAutofit/>
          </a:bodyPr>
          <a:lstStyle/>
          <a:p>
            <a:r>
              <a:rPr lang="es-MX" dirty="0"/>
              <a:t>El </a:t>
            </a:r>
            <a:r>
              <a:rPr lang="es-MX" dirty="0" err="1"/>
              <a:t>simil</a:t>
            </a:r>
            <a:r>
              <a:rPr lang="es-MX" dirty="0"/>
              <a:t> de la línea (</a:t>
            </a:r>
            <a:r>
              <a:rPr lang="es-MX" dirty="0">
                <a:solidFill>
                  <a:srgbClr val="FF0000"/>
                </a:solidFill>
              </a:rPr>
              <a:t>Contexto</a:t>
            </a:r>
            <a:r>
              <a:rPr lang="es-MX" dirty="0"/>
              <a:t>)</a:t>
            </a:r>
          </a:p>
          <a:p>
            <a:r>
              <a:rPr lang="es-MX" dirty="0"/>
              <a:t>Sofistas: maestros </a:t>
            </a:r>
            <a:r>
              <a:rPr lang="es-MX" dirty="0" err="1"/>
              <a:t>iterantes</a:t>
            </a:r>
            <a:r>
              <a:rPr lang="es-MX" dirty="0"/>
              <a:t> de retórica de otras ciudades</a:t>
            </a:r>
          </a:p>
          <a:p>
            <a:r>
              <a:rPr lang="es-MX" dirty="0"/>
              <a:t>En </a:t>
            </a:r>
            <a:r>
              <a:rPr lang="es-MX" dirty="0" err="1"/>
              <a:t>pólis</a:t>
            </a:r>
            <a:r>
              <a:rPr lang="es-MX" dirty="0"/>
              <a:t> democrática: discurso persuasivo = poder + influencias</a:t>
            </a:r>
          </a:p>
          <a:p>
            <a:r>
              <a:rPr lang="es-MX" dirty="0"/>
              <a:t>Protágoras: </a:t>
            </a:r>
            <a:r>
              <a:rPr lang="es-MX" dirty="0" err="1"/>
              <a:t>Homomensura</a:t>
            </a:r>
            <a:r>
              <a:rPr lang="es-MX" dirty="0"/>
              <a:t> + Gorgias =&gt; relativismo</a:t>
            </a:r>
          </a:p>
          <a:p>
            <a:r>
              <a:rPr lang="es-MX" dirty="0"/>
              <a:t>Gorgias de </a:t>
            </a:r>
            <a:r>
              <a:rPr lang="es-MX" dirty="0" err="1"/>
              <a:t>Leontino</a:t>
            </a:r>
            <a:r>
              <a:rPr lang="es-MX" dirty="0"/>
              <a:t>: el único al que refiere con respeto. Elogio de Helena (Apología): no le importa la verdad, pero quería demostrar que: “la palabra es un poderoso soberano”.</a:t>
            </a:r>
          </a:p>
          <a:p>
            <a:pPr marL="0" indent="0">
              <a:buNone/>
            </a:pPr>
            <a:endParaRPr lang="es-PE" dirty="0"/>
          </a:p>
        </p:txBody>
      </p:sp>
      <p:pic>
        <p:nvPicPr>
          <p:cNvPr id="4" name="Picture 3">
            <a:extLst>
              <a:ext uri="{FF2B5EF4-FFF2-40B4-BE49-F238E27FC236}">
                <a16:creationId xmlns:a16="http://schemas.microsoft.com/office/drawing/2014/main" id="{D3DF7695-30A3-B921-484B-6DBA55E824B4}"/>
              </a:ext>
            </a:extLst>
          </p:cNvPr>
          <p:cNvPicPr>
            <a:picLocks noChangeAspect="1"/>
          </p:cNvPicPr>
          <p:nvPr/>
        </p:nvPicPr>
        <p:blipFill>
          <a:blip r:embed="rId2"/>
          <a:stretch>
            <a:fillRect/>
          </a:stretch>
        </p:blipFill>
        <p:spPr>
          <a:xfrm>
            <a:off x="2412255" y="3675568"/>
            <a:ext cx="6451827" cy="2802604"/>
          </a:xfrm>
          <a:prstGeom prst="rect">
            <a:avLst/>
          </a:prstGeom>
        </p:spPr>
      </p:pic>
    </p:spTree>
    <p:extLst>
      <p:ext uri="{BB962C8B-B14F-4D97-AF65-F5344CB8AC3E}">
        <p14:creationId xmlns:p14="http://schemas.microsoft.com/office/powerpoint/2010/main" val="842276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4BFDC-06F1-D1B6-0EB4-80264F55DA8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78325B-5D65-F164-3A6F-EA75F4EDFF03}"/>
              </a:ext>
            </a:extLst>
          </p:cNvPr>
          <p:cNvSpPr>
            <a:spLocks noGrp="1"/>
          </p:cNvSpPr>
          <p:nvPr>
            <p:ph idx="1"/>
          </p:nvPr>
        </p:nvSpPr>
        <p:spPr>
          <a:xfrm>
            <a:off x="838200" y="379828"/>
            <a:ext cx="10515600" cy="6224172"/>
          </a:xfrm>
        </p:spPr>
        <p:txBody>
          <a:bodyPr>
            <a:normAutofit/>
          </a:bodyPr>
          <a:lstStyle/>
          <a:p>
            <a:r>
              <a:rPr lang="es-MX" dirty="0"/>
              <a:t>Si la palabra tiene algún valor, es en el contexto de la </a:t>
            </a:r>
            <a:r>
              <a:rPr lang="es-MX" dirty="0" err="1"/>
              <a:t>Pólis</a:t>
            </a:r>
            <a:r>
              <a:rPr lang="es-MX" dirty="0"/>
              <a:t>. Existe un trasfondo de cooperación y entendimiento común. </a:t>
            </a:r>
          </a:p>
          <a:p>
            <a:r>
              <a:rPr lang="es-MX" dirty="0"/>
              <a:t>Sofistas devalúan la palabra. Platón busca restituir ese valor.</a:t>
            </a:r>
          </a:p>
          <a:p>
            <a:r>
              <a:rPr lang="es-MX" dirty="0"/>
              <a:t>Sócrates se pregunta por los componentes de la vida buena. No enseña ninguna doctrina filosófica, sino a filosofar. “una vida sin examen no merece ser vivida.”</a:t>
            </a:r>
          </a:p>
          <a:p>
            <a:r>
              <a:rPr lang="es-MX" dirty="0"/>
              <a:t>Filosofía: función pública del progreso. Rocco: “Sócrates busca hacer mejor ciudadano del otro”</a:t>
            </a:r>
          </a:p>
          <a:p>
            <a:pPr marL="0" indent="0">
              <a:buNone/>
            </a:pPr>
            <a:endParaRPr lang="es-PE" dirty="0"/>
          </a:p>
        </p:txBody>
      </p:sp>
      <p:pic>
        <p:nvPicPr>
          <p:cNvPr id="4" name="Picture 3">
            <a:extLst>
              <a:ext uri="{FF2B5EF4-FFF2-40B4-BE49-F238E27FC236}">
                <a16:creationId xmlns:a16="http://schemas.microsoft.com/office/drawing/2014/main" id="{339F2C6E-8425-64CE-899B-753DC9CF7A2D}"/>
              </a:ext>
            </a:extLst>
          </p:cNvPr>
          <p:cNvPicPr>
            <a:picLocks noChangeAspect="1"/>
          </p:cNvPicPr>
          <p:nvPr/>
        </p:nvPicPr>
        <p:blipFill>
          <a:blip r:embed="rId2"/>
          <a:stretch>
            <a:fillRect/>
          </a:stretch>
        </p:blipFill>
        <p:spPr>
          <a:xfrm>
            <a:off x="2344413" y="4154769"/>
            <a:ext cx="6575652" cy="2449231"/>
          </a:xfrm>
          <a:prstGeom prst="rect">
            <a:avLst/>
          </a:prstGeom>
        </p:spPr>
      </p:pic>
    </p:spTree>
    <p:extLst>
      <p:ext uri="{BB962C8B-B14F-4D97-AF65-F5344CB8AC3E}">
        <p14:creationId xmlns:p14="http://schemas.microsoft.com/office/powerpoint/2010/main" val="6191768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8F94D-E743-1DC0-706E-1213C48A178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BD3B1B-69F6-2A68-ABBF-91D99493BE06}"/>
              </a:ext>
            </a:extLst>
          </p:cNvPr>
          <p:cNvSpPr>
            <a:spLocks noGrp="1"/>
          </p:cNvSpPr>
          <p:nvPr>
            <p:ph idx="1"/>
          </p:nvPr>
        </p:nvSpPr>
        <p:spPr>
          <a:xfrm>
            <a:off x="838200" y="379828"/>
            <a:ext cx="10515600" cy="5797135"/>
          </a:xfrm>
        </p:spPr>
        <p:txBody>
          <a:bodyPr/>
          <a:lstStyle/>
          <a:p>
            <a:r>
              <a:rPr lang="es-MX" dirty="0"/>
              <a:t>Platón: lo real es universal y eterno (el mundo de las ideas)</a:t>
            </a:r>
          </a:p>
          <a:p>
            <a:r>
              <a:rPr lang="es-MX" dirty="0"/>
              <a:t>Eidos: forma, pero no contenido mental, sino lo que es real y no apariencia (lo que aparece + lo que parece ser pero no es)</a:t>
            </a:r>
          </a:p>
          <a:p>
            <a:r>
              <a:rPr lang="es-MX" dirty="0"/>
              <a:t>Definir: enunciar algo; referirse a su forma o idea</a:t>
            </a:r>
          </a:p>
          <a:p>
            <a:endParaRPr lang="es-PE" dirty="0"/>
          </a:p>
        </p:txBody>
      </p:sp>
      <p:pic>
        <p:nvPicPr>
          <p:cNvPr id="4" name="Picture 3">
            <a:extLst>
              <a:ext uri="{FF2B5EF4-FFF2-40B4-BE49-F238E27FC236}">
                <a16:creationId xmlns:a16="http://schemas.microsoft.com/office/drawing/2014/main" id="{89833F05-BE3F-C97B-D344-3F3373258706}"/>
              </a:ext>
            </a:extLst>
          </p:cNvPr>
          <p:cNvPicPr>
            <a:picLocks noChangeAspect="1"/>
          </p:cNvPicPr>
          <p:nvPr/>
        </p:nvPicPr>
        <p:blipFill>
          <a:blip r:embed="rId2"/>
          <a:stretch>
            <a:fillRect/>
          </a:stretch>
        </p:blipFill>
        <p:spPr>
          <a:xfrm>
            <a:off x="1577845" y="2889244"/>
            <a:ext cx="8219298" cy="3287719"/>
          </a:xfrm>
          <a:prstGeom prst="rect">
            <a:avLst/>
          </a:prstGeom>
        </p:spPr>
      </p:pic>
    </p:spTree>
    <p:extLst>
      <p:ext uri="{BB962C8B-B14F-4D97-AF65-F5344CB8AC3E}">
        <p14:creationId xmlns:p14="http://schemas.microsoft.com/office/powerpoint/2010/main" val="41741141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6C7BB-1452-F027-AAC7-4B8AB04A8E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09BB6B-9CBF-58FD-EE9D-74570D141352}"/>
              </a:ext>
            </a:extLst>
          </p:cNvPr>
          <p:cNvSpPr>
            <a:spLocks noGrp="1"/>
          </p:cNvSpPr>
          <p:nvPr>
            <p:ph idx="1"/>
          </p:nvPr>
        </p:nvSpPr>
        <p:spPr>
          <a:xfrm>
            <a:off x="670249" y="530432"/>
            <a:ext cx="4946780" cy="5797135"/>
          </a:xfrm>
        </p:spPr>
        <p:txBody>
          <a:bodyPr/>
          <a:lstStyle/>
          <a:p>
            <a:r>
              <a:rPr lang="es-MX" dirty="0"/>
              <a:t>Cuerpo / Alma =&gt; sombras/lo real</a:t>
            </a:r>
          </a:p>
          <a:p>
            <a:r>
              <a:rPr lang="es-MX" dirty="0"/>
              <a:t>Influencia a Plotino y cristianismo</a:t>
            </a:r>
          </a:p>
          <a:p>
            <a:r>
              <a:rPr lang="es-MX" dirty="0"/>
              <a:t>La vida intelectual se da en el alma. Alma como sede del pensamiento. </a:t>
            </a:r>
          </a:p>
          <a:p>
            <a:r>
              <a:rPr lang="es-MX" dirty="0"/>
              <a:t>Alma = mente. Tiende a las formas porque tienen igual naturaleza</a:t>
            </a:r>
          </a:p>
          <a:p>
            <a:r>
              <a:rPr lang="es-MX" dirty="0"/>
              <a:t>Cuerpo = percepción</a:t>
            </a:r>
          </a:p>
          <a:p>
            <a:r>
              <a:rPr lang="es-MX" dirty="0"/>
              <a:t>Alma = intelección</a:t>
            </a:r>
          </a:p>
          <a:p>
            <a:endParaRPr lang="es-PE" dirty="0"/>
          </a:p>
        </p:txBody>
      </p:sp>
      <p:pic>
        <p:nvPicPr>
          <p:cNvPr id="4" name="Picture 3">
            <a:extLst>
              <a:ext uri="{FF2B5EF4-FFF2-40B4-BE49-F238E27FC236}">
                <a16:creationId xmlns:a16="http://schemas.microsoft.com/office/drawing/2014/main" id="{31E3AB63-8203-6149-EF5F-F731C6C2DAFC}"/>
              </a:ext>
            </a:extLst>
          </p:cNvPr>
          <p:cNvPicPr>
            <a:picLocks noChangeAspect="1"/>
          </p:cNvPicPr>
          <p:nvPr/>
        </p:nvPicPr>
        <p:blipFill>
          <a:blip r:embed="rId2"/>
          <a:stretch>
            <a:fillRect/>
          </a:stretch>
        </p:blipFill>
        <p:spPr>
          <a:xfrm>
            <a:off x="6096000" y="1683338"/>
            <a:ext cx="5140001" cy="3491321"/>
          </a:xfrm>
          <a:prstGeom prst="rect">
            <a:avLst/>
          </a:prstGeom>
        </p:spPr>
      </p:pic>
    </p:spTree>
    <p:extLst>
      <p:ext uri="{BB962C8B-B14F-4D97-AF65-F5344CB8AC3E}">
        <p14:creationId xmlns:p14="http://schemas.microsoft.com/office/powerpoint/2010/main" val="5997422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8B14A-0659-48C3-5467-55D75521E4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60DA15-5A28-89D9-9BC3-1FFFDDD76F84}"/>
              </a:ext>
            </a:extLst>
          </p:cNvPr>
          <p:cNvSpPr>
            <a:spLocks noGrp="1"/>
          </p:cNvSpPr>
          <p:nvPr>
            <p:ph idx="1"/>
          </p:nvPr>
        </p:nvSpPr>
        <p:spPr>
          <a:xfrm>
            <a:off x="838200" y="379828"/>
            <a:ext cx="10515600" cy="5797135"/>
          </a:xfrm>
        </p:spPr>
        <p:txBody>
          <a:bodyPr/>
          <a:lstStyle/>
          <a:p>
            <a:r>
              <a:rPr lang="es-MX" dirty="0"/>
              <a:t>Doxa, opinión: gratuita, subjetiva.</a:t>
            </a:r>
          </a:p>
          <a:p>
            <a:r>
              <a:rPr lang="es-MX" dirty="0"/>
              <a:t>Episteme, saber: fruto de investigar, objetivo, se remite a la cosa misma.</a:t>
            </a:r>
          </a:p>
          <a:p>
            <a:r>
              <a:rPr lang="es-MX" dirty="0"/>
              <a:t>¿cuál es el camino de la opinión al saber? =&gt; República libro VI – el símil de la línea. </a:t>
            </a:r>
          </a:p>
          <a:p>
            <a:pPr marL="0" indent="0">
              <a:buNone/>
            </a:pPr>
            <a:endParaRPr lang="es-PE" dirty="0"/>
          </a:p>
        </p:txBody>
      </p:sp>
      <p:cxnSp>
        <p:nvCxnSpPr>
          <p:cNvPr id="4" name="Straight Connector 3">
            <a:extLst>
              <a:ext uri="{FF2B5EF4-FFF2-40B4-BE49-F238E27FC236}">
                <a16:creationId xmlns:a16="http://schemas.microsoft.com/office/drawing/2014/main" id="{C7016BF9-3850-9359-19C5-1BDC12E464E8}"/>
              </a:ext>
            </a:extLst>
          </p:cNvPr>
          <p:cNvCxnSpPr/>
          <p:nvPr/>
        </p:nvCxnSpPr>
        <p:spPr>
          <a:xfrm>
            <a:off x="1198880" y="4836160"/>
            <a:ext cx="9225280"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D7DE705-BA2E-368B-37E7-D9E6E266000F}"/>
              </a:ext>
            </a:extLst>
          </p:cNvPr>
          <p:cNvSpPr txBox="1"/>
          <p:nvPr/>
        </p:nvSpPr>
        <p:spPr>
          <a:xfrm>
            <a:off x="2128059" y="3640974"/>
            <a:ext cx="8495608" cy="523220"/>
          </a:xfrm>
          <a:prstGeom prst="rect">
            <a:avLst/>
          </a:prstGeom>
          <a:noFill/>
        </p:spPr>
        <p:txBody>
          <a:bodyPr wrap="square" rtlCol="0">
            <a:spAutoFit/>
          </a:bodyPr>
          <a:lstStyle/>
          <a:p>
            <a:r>
              <a:rPr lang="es-MX" sz="2800" dirty="0"/>
              <a:t>Doxa                                                                  Episteme</a:t>
            </a:r>
            <a:endParaRPr lang="es-PE" sz="2800" dirty="0"/>
          </a:p>
        </p:txBody>
      </p:sp>
      <p:sp>
        <p:nvSpPr>
          <p:cNvPr id="6" name="TextBox 5">
            <a:extLst>
              <a:ext uri="{FF2B5EF4-FFF2-40B4-BE49-F238E27FC236}">
                <a16:creationId xmlns:a16="http://schemas.microsoft.com/office/drawing/2014/main" id="{7EDE56D9-C876-F09D-7CFF-1016BEE0F2AF}"/>
              </a:ext>
            </a:extLst>
          </p:cNvPr>
          <p:cNvSpPr txBox="1"/>
          <p:nvPr/>
        </p:nvSpPr>
        <p:spPr>
          <a:xfrm>
            <a:off x="4941917" y="3195267"/>
            <a:ext cx="2308166" cy="523220"/>
          </a:xfrm>
          <a:prstGeom prst="rect">
            <a:avLst/>
          </a:prstGeom>
          <a:noFill/>
        </p:spPr>
        <p:txBody>
          <a:bodyPr wrap="square" rtlCol="0">
            <a:spAutoFit/>
          </a:bodyPr>
          <a:lstStyle/>
          <a:p>
            <a:r>
              <a:rPr lang="es-MX" sz="2800" dirty="0"/>
              <a:t>(proceso)</a:t>
            </a:r>
            <a:endParaRPr lang="es-PE" sz="2800" dirty="0"/>
          </a:p>
        </p:txBody>
      </p:sp>
      <p:sp>
        <p:nvSpPr>
          <p:cNvPr id="7" name="Arrow: Right 6">
            <a:extLst>
              <a:ext uri="{FF2B5EF4-FFF2-40B4-BE49-F238E27FC236}">
                <a16:creationId xmlns:a16="http://schemas.microsoft.com/office/drawing/2014/main" id="{03F69FDB-364A-32D9-BC8B-986A5B405868}"/>
              </a:ext>
            </a:extLst>
          </p:cNvPr>
          <p:cNvSpPr/>
          <p:nvPr/>
        </p:nvSpPr>
        <p:spPr>
          <a:xfrm>
            <a:off x="5245332" y="3789455"/>
            <a:ext cx="1130531" cy="2262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3076208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62559-5B4A-AD27-B065-44769F711CEC}"/>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17A22440-341A-AF2B-C707-BE541B9B679D}"/>
              </a:ext>
            </a:extLst>
          </p:cNvPr>
          <p:cNvCxnSpPr/>
          <p:nvPr/>
        </p:nvCxnSpPr>
        <p:spPr>
          <a:xfrm>
            <a:off x="1232131" y="3522749"/>
            <a:ext cx="9225280"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07DEB7D-55E5-7E9F-B32F-F11B2237C99C}"/>
              </a:ext>
            </a:extLst>
          </p:cNvPr>
          <p:cNvSpPr txBox="1"/>
          <p:nvPr/>
        </p:nvSpPr>
        <p:spPr>
          <a:xfrm>
            <a:off x="2161310" y="2327563"/>
            <a:ext cx="8495608" cy="523220"/>
          </a:xfrm>
          <a:prstGeom prst="rect">
            <a:avLst/>
          </a:prstGeom>
          <a:noFill/>
        </p:spPr>
        <p:txBody>
          <a:bodyPr wrap="square" rtlCol="0">
            <a:spAutoFit/>
          </a:bodyPr>
          <a:lstStyle/>
          <a:p>
            <a:r>
              <a:rPr lang="es-MX" sz="2800" dirty="0"/>
              <a:t>Doxa                                                                  Episteme</a:t>
            </a:r>
            <a:endParaRPr lang="es-PE" sz="2800" dirty="0"/>
          </a:p>
        </p:txBody>
      </p:sp>
      <p:sp>
        <p:nvSpPr>
          <p:cNvPr id="6" name="TextBox 5">
            <a:extLst>
              <a:ext uri="{FF2B5EF4-FFF2-40B4-BE49-F238E27FC236}">
                <a16:creationId xmlns:a16="http://schemas.microsoft.com/office/drawing/2014/main" id="{B1ED1E58-0893-479D-C9CD-A073833EF16A}"/>
              </a:ext>
            </a:extLst>
          </p:cNvPr>
          <p:cNvSpPr txBox="1"/>
          <p:nvPr/>
        </p:nvSpPr>
        <p:spPr>
          <a:xfrm>
            <a:off x="4975168" y="1881856"/>
            <a:ext cx="2308166" cy="523220"/>
          </a:xfrm>
          <a:prstGeom prst="rect">
            <a:avLst/>
          </a:prstGeom>
          <a:noFill/>
        </p:spPr>
        <p:txBody>
          <a:bodyPr wrap="square" rtlCol="0">
            <a:spAutoFit/>
          </a:bodyPr>
          <a:lstStyle/>
          <a:p>
            <a:r>
              <a:rPr lang="es-MX" sz="2800" dirty="0"/>
              <a:t>(proceso)</a:t>
            </a:r>
            <a:endParaRPr lang="es-PE" sz="2800" dirty="0"/>
          </a:p>
        </p:txBody>
      </p:sp>
      <p:sp>
        <p:nvSpPr>
          <p:cNvPr id="7" name="Arrow: Right 6">
            <a:extLst>
              <a:ext uri="{FF2B5EF4-FFF2-40B4-BE49-F238E27FC236}">
                <a16:creationId xmlns:a16="http://schemas.microsoft.com/office/drawing/2014/main" id="{6401D83A-0EFC-31BE-BC02-E5CA5FBA75A8}"/>
              </a:ext>
            </a:extLst>
          </p:cNvPr>
          <p:cNvSpPr/>
          <p:nvPr/>
        </p:nvSpPr>
        <p:spPr>
          <a:xfrm>
            <a:off x="5278583" y="2476044"/>
            <a:ext cx="1130531" cy="2262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 name="Straight Connector 1">
            <a:extLst>
              <a:ext uri="{FF2B5EF4-FFF2-40B4-BE49-F238E27FC236}">
                <a16:creationId xmlns:a16="http://schemas.microsoft.com/office/drawing/2014/main" id="{016B1880-225E-9D03-0AC0-27F492E2C8CA}"/>
              </a:ext>
            </a:extLst>
          </p:cNvPr>
          <p:cNvCxnSpPr>
            <a:cxnSpLocks/>
          </p:cNvCxnSpPr>
          <p:nvPr/>
        </p:nvCxnSpPr>
        <p:spPr>
          <a:xfrm flipV="1">
            <a:off x="5779654" y="3223490"/>
            <a:ext cx="0" cy="665943"/>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A2D520E-0174-586E-8DCA-BB3E1B21930B}"/>
              </a:ext>
            </a:extLst>
          </p:cNvPr>
          <p:cNvCxnSpPr>
            <a:cxnSpLocks/>
          </p:cNvCxnSpPr>
          <p:nvPr/>
        </p:nvCxnSpPr>
        <p:spPr>
          <a:xfrm flipV="1">
            <a:off x="3404985" y="3223490"/>
            <a:ext cx="0" cy="665943"/>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3849804-6C41-34E3-086C-8211E0E69105}"/>
              </a:ext>
            </a:extLst>
          </p:cNvPr>
          <p:cNvCxnSpPr>
            <a:cxnSpLocks/>
          </p:cNvCxnSpPr>
          <p:nvPr/>
        </p:nvCxnSpPr>
        <p:spPr>
          <a:xfrm flipV="1">
            <a:off x="8143239" y="3223490"/>
            <a:ext cx="0" cy="665943"/>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9DECE0B-767D-BD3D-329F-DD9ACB5796B5}"/>
              </a:ext>
            </a:extLst>
          </p:cNvPr>
          <p:cNvSpPr txBox="1"/>
          <p:nvPr/>
        </p:nvSpPr>
        <p:spPr>
          <a:xfrm>
            <a:off x="1528849" y="3738437"/>
            <a:ext cx="1579418" cy="523220"/>
          </a:xfrm>
          <a:prstGeom prst="rect">
            <a:avLst/>
          </a:prstGeom>
          <a:noFill/>
        </p:spPr>
        <p:txBody>
          <a:bodyPr wrap="square" rtlCol="0">
            <a:spAutoFit/>
          </a:bodyPr>
          <a:lstStyle/>
          <a:p>
            <a:r>
              <a:rPr lang="es-MX" sz="2800" dirty="0">
                <a:solidFill>
                  <a:srgbClr val="FF0000"/>
                </a:solidFill>
              </a:rPr>
              <a:t>Sombras</a:t>
            </a:r>
            <a:endParaRPr lang="es-PE" sz="2800" dirty="0">
              <a:solidFill>
                <a:srgbClr val="FF0000"/>
              </a:solidFill>
            </a:endParaRPr>
          </a:p>
        </p:txBody>
      </p:sp>
      <p:sp>
        <p:nvSpPr>
          <p:cNvPr id="13" name="TextBox 12">
            <a:extLst>
              <a:ext uri="{FF2B5EF4-FFF2-40B4-BE49-F238E27FC236}">
                <a16:creationId xmlns:a16="http://schemas.microsoft.com/office/drawing/2014/main" id="{447E7D2D-2576-C69B-8882-047A4B5BBA91}"/>
              </a:ext>
            </a:extLst>
          </p:cNvPr>
          <p:cNvSpPr txBox="1"/>
          <p:nvPr/>
        </p:nvSpPr>
        <p:spPr>
          <a:xfrm>
            <a:off x="3903517" y="3803554"/>
            <a:ext cx="1579418" cy="523220"/>
          </a:xfrm>
          <a:prstGeom prst="rect">
            <a:avLst/>
          </a:prstGeom>
          <a:noFill/>
        </p:spPr>
        <p:txBody>
          <a:bodyPr wrap="square" rtlCol="0">
            <a:spAutoFit/>
          </a:bodyPr>
          <a:lstStyle/>
          <a:p>
            <a:r>
              <a:rPr lang="es-MX" sz="2800" dirty="0">
                <a:solidFill>
                  <a:srgbClr val="FF0000"/>
                </a:solidFill>
              </a:rPr>
              <a:t>Sofística</a:t>
            </a:r>
            <a:endParaRPr lang="es-PE" sz="2800" dirty="0">
              <a:solidFill>
                <a:srgbClr val="FF0000"/>
              </a:solidFill>
            </a:endParaRPr>
          </a:p>
        </p:txBody>
      </p:sp>
      <p:sp>
        <p:nvSpPr>
          <p:cNvPr id="14" name="TextBox 13">
            <a:extLst>
              <a:ext uri="{FF2B5EF4-FFF2-40B4-BE49-F238E27FC236}">
                <a16:creationId xmlns:a16="http://schemas.microsoft.com/office/drawing/2014/main" id="{6338946D-DF83-39CD-E7ED-ACD45847FCE1}"/>
              </a:ext>
            </a:extLst>
          </p:cNvPr>
          <p:cNvSpPr txBox="1"/>
          <p:nvPr/>
        </p:nvSpPr>
        <p:spPr>
          <a:xfrm>
            <a:off x="5960224" y="3822009"/>
            <a:ext cx="2523833" cy="954107"/>
          </a:xfrm>
          <a:prstGeom prst="rect">
            <a:avLst/>
          </a:prstGeom>
          <a:noFill/>
        </p:spPr>
        <p:txBody>
          <a:bodyPr wrap="square" rtlCol="0">
            <a:spAutoFit/>
          </a:bodyPr>
          <a:lstStyle/>
          <a:p>
            <a:r>
              <a:rPr lang="es-MX" sz="2800" dirty="0">
                <a:solidFill>
                  <a:srgbClr val="FF0000"/>
                </a:solidFill>
              </a:rPr>
              <a:t>Razonamiento</a:t>
            </a:r>
          </a:p>
          <a:p>
            <a:r>
              <a:rPr lang="es-MX" sz="2800" dirty="0">
                <a:solidFill>
                  <a:srgbClr val="FF0000"/>
                </a:solidFill>
              </a:rPr>
              <a:t>Discursivo</a:t>
            </a:r>
            <a:endParaRPr lang="es-PE" sz="2800" dirty="0">
              <a:solidFill>
                <a:srgbClr val="FF0000"/>
              </a:solidFill>
            </a:endParaRPr>
          </a:p>
        </p:txBody>
      </p:sp>
      <p:sp>
        <p:nvSpPr>
          <p:cNvPr id="15" name="TextBox 14">
            <a:extLst>
              <a:ext uri="{FF2B5EF4-FFF2-40B4-BE49-F238E27FC236}">
                <a16:creationId xmlns:a16="http://schemas.microsoft.com/office/drawing/2014/main" id="{37B32916-4DBF-5AD4-4E4C-AC53CC850717}"/>
              </a:ext>
            </a:extLst>
          </p:cNvPr>
          <p:cNvSpPr txBox="1"/>
          <p:nvPr/>
        </p:nvSpPr>
        <p:spPr>
          <a:xfrm>
            <a:off x="8484058" y="4037452"/>
            <a:ext cx="1973353" cy="523220"/>
          </a:xfrm>
          <a:prstGeom prst="rect">
            <a:avLst/>
          </a:prstGeom>
          <a:noFill/>
        </p:spPr>
        <p:txBody>
          <a:bodyPr wrap="square" rtlCol="0">
            <a:spAutoFit/>
          </a:bodyPr>
          <a:lstStyle/>
          <a:p>
            <a:r>
              <a:rPr lang="es-MX" sz="2800" dirty="0">
                <a:solidFill>
                  <a:srgbClr val="FF0000"/>
                </a:solidFill>
              </a:rPr>
              <a:t>Intelección</a:t>
            </a:r>
            <a:endParaRPr lang="es-PE" sz="2800" dirty="0">
              <a:solidFill>
                <a:srgbClr val="FF0000"/>
              </a:solidFill>
            </a:endParaRPr>
          </a:p>
        </p:txBody>
      </p:sp>
    </p:spTree>
    <p:extLst>
      <p:ext uri="{BB962C8B-B14F-4D97-AF65-F5344CB8AC3E}">
        <p14:creationId xmlns:p14="http://schemas.microsoft.com/office/powerpoint/2010/main" val="32162211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73EB4-6E43-D0F4-A2B8-A4448B33B8C9}"/>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3DA5CB3-951C-4501-649B-7FA3F95E89B2}"/>
              </a:ext>
            </a:extLst>
          </p:cNvPr>
          <p:cNvCxnSpPr/>
          <p:nvPr/>
        </p:nvCxnSpPr>
        <p:spPr>
          <a:xfrm>
            <a:off x="1248756" y="1959956"/>
            <a:ext cx="9225280"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77CFD5F-4C79-B4FA-42F0-96E7DA8AC0CC}"/>
              </a:ext>
            </a:extLst>
          </p:cNvPr>
          <p:cNvSpPr txBox="1"/>
          <p:nvPr/>
        </p:nvSpPr>
        <p:spPr>
          <a:xfrm>
            <a:off x="1960070" y="765339"/>
            <a:ext cx="8994370" cy="584775"/>
          </a:xfrm>
          <a:prstGeom prst="rect">
            <a:avLst/>
          </a:prstGeom>
          <a:noFill/>
        </p:spPr>
        <p:txBody>
          <a:bodyPr wrap="square" rtlCol="0">
            <a:spAutoFit/>
          </a:bodyPr>
          <a:lstStyle/>
          <a:p>
            <a:r>
              <a:rPr lang="es-MX" sz="3200" dirty="0">
                <a:solidFill>
                  <a:srgbClr val="FF0000"/>
                </a:solidFill>
              </a:rPr>
              <a:t>Doxa                                                                  Episteme</a:t>
            </a:r>
            <a:endParaRPr lang="es-PE" sz="3200" dirty="0">
              <a:solidFill>
                <a:srgbClr val="FF0000"/>
              </a:solidFill>
            </a:endParaRPr>
          </a:p>
        </p:txBody>
      </p:sp>
      <p:sp>
        <p:nvSpPr>
          <p:cNvPr id="6" name="TextBox 5">
            <a:extLst>
              <a:ext uri="{FF2B5EF4-FFF2-40B4-BE49-F238E27FC236}">
                <a16:creationId xmlns:a16="http://schemas.microsoft.com/office/drawing/2014/main" id="{E4F66384-3919-AEE6-FACE-734902EC4F7A}"/>
              </a:ext>
            </a:extLst>
          </p:cNvPr>
          <p:cNvSpPr txBox="1"/>
          <p:nvPr/>
        </p:nvSpPr>
        <p:spPr>
          <a:xfrm>
            <a:off x="4991793" y="319063"/>
            <a:ext cx="2308166" cy="523220"/>
          </a:xfrm>
          <a:prstGeom prst="rect">
            <a:avLst/>
          </a:prstGeom>
          <a:noFill/>
        </p:spPr>
        <p:txBody>
          <a:bodyPr wrap="square" rtlCol="0">
            <a:spAutoFit/>
          </a:bodyPr>
          <a:lstStyle/>
          <a:p>
            <a:r>
              <a:rPr lang="es-MX" sz="2800" dirty="0"/>
              <a:t>(proceso)</a:t>
            </a:r>
            <a:endParaRPr lang="es-PE" sz="2800" dirty="0"/>
          </a:p>
        </p:txBody>
      </p:sp>
      <p:sp>
        <p:nvSpPr>
          <p:cNvPr id="7" name="Arrow: Right 6">
            <a:extLst>
              <a:ext uri="{FF2B5EF4-FFF2-40B4-BE49-F238E27FC236}">
                <a16:creationId xmlns:a16="http://schemas.microsoft.com/office/drawing/2014/main" id="{9E0D3947-6DCF-037C-B548-8C1D7A1F14CE}"/>
              </a:ext>
            </a:extLst>
          </p:cNvPr>
          <p:cNvSpPr/>
          <p:nvPr/>
        </p:nvSpPr>
        <p:spPr>
          <a:xfrm>
            <a:off x="5295208" y="913251"/>
            <a:ext cx="1130531" cy="2262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 name="Straight Connector 1">
            <a:extLst>
              <a:ext uri="{FF2B5EF4-FFF2-40B4-BE49-F238E27FC236}">
                <a16:creationId xmlns:a16="http://schemas.microsoft.com/office/drawing/2014/main" id="{90B9FFA8-6ED8-EAAC-3A7A-942EEF982B9E}"/>
              </a:ext>
            </a:extLst>
          </p:cNvPr>
          <p:cNvCxnSpPr>
            <a:cxnSpLocks/>
          </p:cNvCxnSpPr>
          <p:nvPr/>
        </p:nvCxnSpPr>
        <p:spPr>
          <a:xfrm flipV="1">
            <a:off x="5796279" y="1660697"/>
            <a:ext cx="0" cy="4128219"/>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1405A41-0CD3-E4B6-D7FB-3B8A2DB054F6}"/>
              </a:ext>
            </a:extLst>
          </p:cNvPr>
          <p:cNvCxnSpPr>
            <a:cxnSpLocks/>
          </p:cNvCxnSpPr>
          <p:nvPr/>
        </p:nvCxnSpPr>
        <p:spPr>
          <a:xfrm flipV="1">
            <a:off x="3421610" y="1660697"/>
            <a:ext cx="0" cy="4128219"/>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02D3E99-10D5-1777-75DC-15CF2B05173C}"/>
              </a:ext>
            </a:extLst>
          </p:cNvPr>
          <p:cNvCxnSpPr>
            <a:cxnSpLocks/>
          </p:cNvCxnSpPr>
          <p:nvPr/>
        </p:nvCxnSpPr>
        <p:spPr>
          <a:xfrm flipV="1">
            <a:off x="8464197" y="1660697"/>
            <a:ext cx="0" cy="4254522"/>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74F4528-8E11-43AD-7085-03E62DC34F76}"/>
              </a:ext>
            </a:extLst>
          </p:cNvPr>
          <p:cNvSpPr txBox="1"/>
          <p:nvPr/>
        </p:nvSpPr>
        <p:spPr>
          <a:xfrm>
            <a:off x="1545474" y="2175644"/>
            <a:ext cx="1579418" cy="523220"/>
          </a:xfrm>
          <a:prstGeom prst="rect">
            <a:avLst/>
          </a:prstGeom>
          <a:noFill/>
        </p:spPr>
        <p:txBody>
          <a:bodyPr wrap="square" rtlCol="0">
            <a:spAutoFit/>
          </a:bodyPr>
          <a:lstStyle/>
          <a:p>
            <a:r>
              <a:rPr lang="es-MX" sz="2800" dirty="0">
                <a:solidFill>
                  <a:srgbClr val="FF0000"/>
                </a:solidFill>
              </a:rPr>
              <a:t>Sombras</a:t>
            </a:r>
            <a:endParaRPr lang="es-PE" sz="2800" dirty="0">
              <a:solidFill>
                <a:srgbClr val="FF0000"/>
              </a:solidFill>
            </a:endParaRPr>
          </a:p>
        </p:txBody>
      </p:sp>
      <p:sp>
        <p:nvSpPr>
          <p:cNvPr id="13" name="TextBox 12">
            <a:extLst>
              <a:ext uri="{FF2B5EF4-FFF2-40B4-BE49-F238E27FC236}">
                <a16:creationId xmlns:a16="http://schemas.microsoft.com/office/drawing/2014/main" id="{FA81B9E8-EF9A-A206-8446-EF45E6EF0573}"/>
              </a:ext>
            </a:extLst>
          </p:cNvPr>
          <p:cNvSpPr txBox="1"/>
          <p:nvPr/>
        </p:nvSpPr>
        <p:spPr>
          <a:xfrm>
            <a:off x="3920142" y="2240761"/>
            <a:ext cx="1579418" cy="523220"/>
          </a:xfrm>
          <a:prstGeom prst="rect">
            <a:avLst/>
          </a:prstGeom>
          <a:noFill/>
        </p:spPr>
        <p:txBody>
          <a:bodyPr wrap="square" rtlCol="0">
            <a:spAutoFit/>
          </a:bodyPr>
          <a:lstStyle/>
          <a:p>
            <a:r>
              <a:rPr lang="es-MX" sz="2800" dirty="0">
                <a:solidFill>
                  <a:srgbClr val="FF0000"/>
                </a:solidFill>
              </a:rPr>
              <a:t>Sofística</a:t>
            </a:r>
            <a:endParaRPr lang="es-PE" sz="2800" dirty="0">
              <a:solidFill>
                <a:srgbClr val="FF0000"/>
              </a:solidFill>
            </a:endParaRPr>
          </a:p>
        </p:txBody>
      </p:sp>
      <p:sp>
        <p:nvSpPr>
          <p:cNvPr id="14" name="TextBox 13">
            <a:extLst>
              <a:ext uri="{FF2B5EF4-FFF2-40B4-BE49-F238E27FC236}">
                <a16:creationId xmlns:a16="http://schemas.microsoft.com/office/drawing/2014/main" id="{0D5AEE09-875F-2B57-32F8-6E79960C0D32}"/>
              </a:ext>
            </a:extLst>
          </p:cNvPr>
          <p:cNvSpPr txBox="1"/>
          <p:nvPr/>
        </p:nvSpPr>
        <p:spPr>
          <a:xfrm>
            <a:off x="5976849" y="2259216"/>
            <a:ext cx="2523833" cy="954107"/>
          </a:xfrm>
          <a:prstGeom prst="rect">
            <a:avLst/>
          </a:prstGeom>
          <a:noFill/>
        </p:spPr>
        <p:txBody>
          <a:bodyPr wrap="square" rtlCol="0">
            <a:spAutoFit/>
          </a:bodyPr>
          <a:lstStyle/>
          <a:p>
            <a:r>
              <a:rPr lang="es-MX" sz="2800" dirty="0">
                <a:solidFill>
                  <a:srgbClr val="FF0000"/>
                </a:solidFill>
              </a:rPr>
              <a:t>Razonamiento</a:t>
            </a:r>
          </a:p>
          <a:p>
            <a:r>
              <a:rPr lang="es-MX" sz="2800" dirty="0">
                <a:solidFill>
                  <a:srgbClr val="FF0000"/>
                </a:solidFill>
              </a:rPr>
              <a:t>Discursivo</a:t>
            </a:r>
            <a:endParaRPr lang="es-PE" sz="2800" dirty="0">
              <a:solidFill>
                <a:srgbClr val="FF0000"/>
              </a:solidFill>
            </a:endParaRPr>
          </a:p>
        </p:txBody>
      </p:sp>
      <p:sp>
        <p:nvSpPr>
          <p:cNvPr id="15" name="TextBox 14">
            <a:extLst>
              <a:ext uri="{FF2B5EF4-FFF2-40B4-BE49-F238E27FC236}">
                <a16:creationId xmlns:a16="http://schemas.microsoft.com/office/drawing/2014/main" id="{B59B892F-FF6E-99FB-6842-94AE174083E2}"/>
              </a:ext>
            </a:extLst>
          </p:cNvPr>
          <p:cNvSpPr txBox="1"/>
          <p:nvPr/>
        </p:nvSpPr>
        <p:spPr>
          <a:xfrm>
            <a:off x="8500683" y="2474659"/>
            <a:ext cx="1973353" cy="523220"/>
          </a:xfrm>
          <a:prstGeom prst="rect">
            <a:avLst/>
          </a:prstGeom>
          <a:noFill/>
        </p:spPr>
        <p:txBody>
          <a:bodyPr wrap="square" rtlCol="0">
            <a:spAutoFit/>
          </a:bodyPr>
          <a:lstStyle/>
          <a:p>
            <a:r>
              <a:rPr lang="es-MX" sz="2800" dirty="0">
                <a:solidFill>
                  <a:srgbClr val="FF0000"/>
                </a:solidFill>
              </a:rPr>
              <a:t>Intelección</a:t>
            </a:r>
            <a:endParaRPr lang="es-PE" sz="2800" dirty="0">
              <a:solidFill>
                <a:srgbClr val="FF0000"/>
              </a:solidFill>
            </a:endParaRPr>
          </a:p>
        </p:txBody>
      </p:sp>
      <p:sp>
        <p:nvSpPr>
          <p:cNvPr id="3" name="TextBox 2">
            <a:extLst>
              <a:ext uri="{FF2B5EF4-FFF2-40B4-BE49-F238E27FC236}">
                <a16:creationId xmlns:a16="http://schemas.microsoft.com/office/drawing/2014/main" id="{0FEFF83D-D990-ABC9-0119-DF28FABF6991}"/>
              </a:ext>
            </a:extLst>
          </p:cNvPr>
          <p:cNvSpPr txBox="1"/>
          <p:nvPr/>
        </p:nvSpPr>
        <p:spPr>
          <a:xfrm>
            <a:off x="879070" y="3304097"/>
            <a:ext cx="2162001" cy="954107"/>
          </a:xfrm>
          <a:prstGeom prst="rect">
            <a:avLst/>
          </a:prstGeom>
          <a:noFill/>
        </p:spPr>
        <p:txBody>
          <a:bodyPr wrap="square" rtlCol="0">
            <a:spAutoFit/>
          </a:bodyPr>
          <a:lstStyle/>
          <a:p>
            <a:r>
              <a:rPr lang="es-MX" sz="2800" dirty="0" err="1"/>
              <a:t>Eikasía</a:t>
            </a:r>
            <a:endParaRPr lang="es-MX" sz="2800" dirty="0"/>
          </a:p>
          <a:p>
            <a:r>
              <a:rPr lang="es-MX" sz="2800" dirty="0"/>
              <a:t>Imaginación</a:t>
            </a:r>
            <a:endParaRPr lang="es-PE" sz="2800" dirty="0"/>
          </a:p>
        </p:txBody>
      </p:sp>
      <p:sp>
        <p:nvSpPr>
          <p:cNvPr id="8" name="TextBox 7">
            <a:extLst>
              <a:ext uri="{FF2B5EF4-FFF2-40B4-BE49-F238E27FC236}">
                <a16:creationId xmlns:a16="http://schemas.microsoft.com/office/drawing/2014/main" id="{136379BB-EBCA-AF23-BC5A-270E5AA9789F}"/>
              </a:ext>
            </a:extLst>
          </p:cNvPr>
          <p:cNvSpPr txBox="1"/>
          <p:nvPr/>
        </p:nvSpPr>
        <p:spPr>
          <a:xfrm>
            <a:off x="3920142" y="3304096"/>
            <a:ext cx="1579418" cy="954107"/>
          </a:xfrm>
          <a:prstGeom prst="rect">
            <a:avLst/>
          </a:prstGeom>
          <a:noFill/>
        </p:spPr>
        <p:txBody>
          <a:bodyPr wrap="square" rtlCol="0">
            <a:spAutoFit/>
          </a:bodyPr>
          <a:lstStyle/>
          <a:p>
            <a:r>
              <a:rPr lang="es-MX" sz="2800" dirty="0" err="1"/>
              <a:t>Pistis</a:t>
            </a:r>
            <a:endParaRPr lang="es-MX" sz="2800" dirty="0"/>
          </a:p>
          <a:p>
            <a:r>
              <a:rPr lang="es-MX" sz="2800" dirty="0"/>
              <a:t>Creencia</a:t>
            </a:r>
            <a:endParaRPr lang="es-PE" sz="2800" dirty="0"/>
          </a:p>
        </p:txBody>
      </p:sp>
      <p:sp>
        <p:nvSpPr>
          <p:cNvPr id="9" name="TextBox 8">
            <a:extLst>
              <a:ext uri="{FF2B5EF4-FFF2-40B4-BE49-F238E27FC236}">
                <a16:creationId xmlns:a16="http://schemas.microsoft.com/office/drawing/2014/main" id="{A5A6F98C-448C-3ABE-68F5-328FD666FBFD}"/>
              </a:ext>
            </a:extLst>
          </p:cNvPr>
          <p:cNvSpPr txBox="1"/>
          <p:nvPr/>
        </p:nvSpPr>
        <p:spPr>
          <a:xfrm>
            <a:off x="6378631" y="3668694"/>
            <a:ext cx="2523833" cy="954107"/>
          </a:xfrm>
          <a:prstGeom prst="rect">
            <a:avLst/>
          </a:prstGeom>
          <a:noFill/>
        </p:spPr>
        <p:txBody>
          <a:bodyPr wrap="square" rtlCol="0">
            <a:spAutoFit/>
          </a:bodyPr>
          <a:lstStyle/>
          <a:p>
            <a:r>
              <a:rPr lang="es-MX" sz="2800" dirty="0" err="1"/>
              <a:t>Dianoia</a:t>
            </a:r>
            <a:endParaRPr lang="es-MX" sz="2800" dirty="0"/>
          </a:p>
          <a:p>
            <a:endParaRPr lang="es-PE" sz="2800" dirty="0"/>
          </a:p>
        </p:txBody>
      </p:sp>
      <p:sp>
        <p:nvSpPr>
          <p:cNvPr id="16" name="TextBox 15">
            <a:extLst>
              <a:ext uri="{FF2B5EF4-FFF2-40B4-BE49-F238E27FC236}">
                <a16:creationId xmlns:a16="http://schemas.microsoft.com/office/drawing/2014/main" id="{3E6CF949-9CCB-5759-C9D4-8837B9905013}"/>
              </a:ext>
            </a:extLst>
          </p:cNvPr>
          <p:cNvSpPr txBox="1"/>
          <p:nvPr/>
        </p:nvSpPr>
        <p:spPr>
          <a:xfrm>
            <a:off x="8783317" y="3668694"/>
            <a:ext cx="1973353" cy="523220"/>
          </a:xfrm>
          <a:prstGeom prst="rect">
            <a:avLst/>
          </a:prstGeom>
          <a:noFill/>
        </p:spPr>
        <p:txBody>
          <a:bodyPr wrap="square" rtlCol="0">
            <a:spAutoFit/>
          </a:bodyPr>
          <a:lstStyle/>
          <a:p>
            <a:r>
              <a:rPr lang="es-MX" sz="2800" dirty="0"/>
              <a:t>Noesis</a:t>
            </a:r>
            <a:endParaRPr lang="es-PE" sz="2800" dirty="0"/>
          </a:p>
        </p:txBody>
      </p:sp>
      <p:sp>
        <p:nvSpPr>
          <p:cNvPr id="17" name="TextBox 16">
            <a:extLst>
              <a:ext uri="{FF2B5EF4-FFF2-40B4-BE49-F238E27FC236}">
                <a16:creationId xmlns:a16="http://schemas.microsoft.com/office/drawing/2014/main" id="{314CBBE6-2F60-871B-2056-120307238515}"/>
              </a:ext>
            </a:extLst>
          </p:cNvPr>
          <p:cNvSpPr txBox="1"/>
          <p:nvPr/>
        </p:nvSpPr>
        <p:spPr>
          <a:xfrm>
            <a:off x="530632" y="4745669"/>
            <a:ext cx="2374663" cy="1384995"/>
          </a:xfrm>
          <a:prstGeom prst="rect">
            <a:avLst/>
          </a:prstGeom>
          <a:noFill/>
        </p:spPr>
        <p:txBody>
          <a:bodyPr wrap="square" rtlCol="0">
            <a:spAutoFit/>
          </a:bodyPr>
          <a:lstStyle/>
          <a:p>
            <a:r>
              <a:rPr lang="es-MX" sz="2800" dirty="0"/>
              <a:t>Reflejos de objetos sensoriales</a:t>
            </a:r>
            <a:endParaRPr lang="es-PE" sz="2800" dirty="0"/>
          </a:p>
        </p:txBody>
      </p:sp>
      <p:sp>
        <p:nvSpPr>
          <p:cNvPr id="18" name="TextBox 17">
            <a:extLst>
              <a:ext uri="{FF2B5EF4-FFF2-40B4-BE49-F238E27FC236}">
                <a16:creationId xmlns:a16="http://schemas.microsoft.com/office/drawing/2014/main" id="{2FA327E9-1DB1-582E-4CFF-23DC2355BBE7}"/>
              </a:ext>
            </a:extLst>
          </p:cNvPr>
          <p:cNvSpPr txBox="1"/>
          <p:nvPr/>
        </p:nvSpPr>
        <p:spPr>
          <a:xfrm>
            <a:off x="3572171" y="4834809"/>
            <a:ext cx="2523829" cy="954107"/>
          </a:xfrm>
          <a:prstGeom prst="rect">
            <a:avLst/>
          </a:prstGeom>
          <a:noFill/>
        </p:spPr>
        <p:txBody>
          <a:bodyPr wrap="square" rtlCol="0">
            <a:spAutoFit/>
          </a:bodyPr>
          <a:lstStyle/>
          <a:p>
            <a:r>
              <a:rPr lang="es-MX" sz="2800" dirty="0"/>
              <a:t>Convenciones sociales</a:t>
            </a:r>
            <a:endParaRPr lang="es-PE" sz="2800" dirty="0"/>
          </a:p>
        </p:txBody>
      </p:sp>
      <p:sp>
        <p:nvSpPr>
          <p:cNvPr id="19" name="TextBox 18">
            <a:extLst>
              <a:ext uri="{FF2B5EF4-FFF2-40B4-BE49-F238E27FC236}">
                <a16:creationId xmlns:a16="http://schemas.microsoft.com/office/drawing/2014/main" id="{DDB7AFE3-532B-4C27-8BFF-33A56AA4ED1A}"/>
              </a:ext>
            </a:extLst>
          </p:cNvPr>
          <p:cNvSpPr txBox="1"/>
          <p:nvPr/>
        </p:nvSpPr>
        <p:spPr>
          <a:xfrm>
            <a:off x="6252322" y="4961112"/>
            <a:ext cx="2523833" cy="954107"/>
          </a:xfrm>
          <a:prstGeom prst="rect">
            <a:avLst/>
          </a:prstGeom>
          <a:noFill/>
        </p:spPr>
        <p:txBody>
          <a:bodyPr wrap="square" rtlCol="0">
            <a:spAutoFit/>
          </a:bodyPr>
          <a:lstStyle/>
          <a:p>
            <a:r>
              <a:rPr lang="es-MX" sz="2800" dirty="0"/>
              <a:t>Matemática</a:t>
            </a:r>
          </a:p>
          <a:p>
            <a:r>
              <a:rPr lang="es-MX" sz="2800" dirty="0"/>
              <a:t>Dialéctica</a:t>
            </a:r>
            <a:endParaRPr lang="es-PE" sz="2800" dirty="0"/>
          </a:p>
        </p:txBody>
      </p:sp>
      <p:sp>
        <p:nvSpPr>
          <p:cNvPr id="20" name="TextBox 19">
            <a:extLst>
              <a:ext uri="{FF2B5EF4-FFF2-40B4-BE49-F238E27FC236}">
                <a16:creationId xmlns:a16="http://schemas.microsoft.com/office/drawing/2014/main" id="{3A32EF2A-9D34-8EE7-C8B5-BC5DFDE6E34C}"/>
              </a:ext>
            </a:extLst>
          </p:cNvPr>
          <p:cNvSpPr txBox="1"/>
          <p:nvPr/>
        </p:nvSpPr>
        <p:spPr>
          <a:xfrm>
            <a:off x="8720504" y="4834809"/>
            <a:ext cx="1973353" cy="1384995"/>
          </a:xfrm>
          <a:prstGeom prst="rect">
            <a:avLst/>
          </a:prstGeom>
          <a:noFill/>
        </p:spPr>
        <p:txBody>
          <a:bodyPr wrap="square" rtlCol="0">
            <a:spAutoFit/>
          </a:bodyPr>
          <a:lstStyle/>
          <a:p>
            <a:r>
              <a:rPr lang="es-MX" sz="2800" dirty="0"/>
              <a:t>Captación intelectiva</a:t>
            </a:r>
          </a:p>
          <a:p>
            <a:r>
              <a:rPr lang="es-MX" sz="2800" dirty="0"/>
              <a:t>inmediata</a:t>
            </a:r>
            <a:endParaRPr lang="es-PE" sz="2800" dirty="0"/>
          </a:p>
        </p:txBody>
      </p:sp>
    </p:spTree>
    <p:extLst>
      <p:ext uri="{BB962C8B-B14F-4D97-AF65-F5344CB8AC3E}">
        <p14:creationId xmlns:p14="http://schemas.microsoft.com/office/powerpoint/2010/main" val="3784225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02BD2-7AAE-709E-21BF-184121C5FF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CD0B3C-B150-BE2D-E8FF-B8101FDC1296}"/>
              </a:ext>
            </a:extLst>
          </p:cNvPr>
          <p:cNvSpPr>
            <a:spLocks noGrp="1"/>
          </p:cNvSpPr>
          <p:nvPr>
            <p:ph idx="1"/>
          </p:nvPr>
        </p:nvSpPr>
        <p:spPr>
          <a:xfrm>
            <a:off x="1070957" y="2779631"/>
            <a:ext cx="10515600" cy="2981696"/>
          </a:xfrm>
        </p:spPr>
        <p:txBody>
          <a:bodyPr/>
          <a:lstStyle/>
          <a:p>
            <a:pPr marL="0" indent="0">
              <a:buNone/>
            </a:pPr>
            <a:r>
              <a:rPr lang="es-MX" dirty="0"/>
              <a:t>De la opinión al saber … es un proceso de 4 estaciones, es progresivo y secuencial: “no hay saltos mortales”. </a:t>
            </a:r>
          </a:p>
          <a:p>
            <a:pPr marL="0" indent="0">
              <a:buNone/>
            </a:pPr>
            <a:r>
              <a:rPr lang="es-MX" dirty="0"/>
              <a:t>Corrección del alma: superación de fases anteriores. Alegoría de la caverna. </a:t>
            </a:r>
          </a:p>
          <a:p>
            <a:pPr marL="0" indent="0">
              <a:buNone/>
            </a:pPr>
            <a:endParaRPr lang="es-PE" dirty="0"/>
          </a:p>
        </p:txBody>
      </p:sp>
      <p:cxnSp>
        <p:nvCxnSpPr>
          <p:cNvPr id="4" name="Straight Connector 3">
            <a:extLst>
              <a:ext uri="{FF2B5EF4-FFF2-40B4-BE49-F238E27FC236}">
                <a16:creationId xmlns:a16="http://schemas.microsoft.com/office/drawing/2014/main" id="{E5FE5569-8733-49B3-4E69-1A56C3B20489}"/>
              </a:ext>
            </a:extLst>
          </p:cNvPr>
          <p:cNvCxnSpPr/>
          <p:nvPr/>
        </p:nvCxnSpPr>
        <p:spPr>
          <a:xfrm>
            <a:off x="1483360" y="1810327"/>
            <a:ext cx="9225280"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7FA6DED-BD05-EC07-E169-3195B1542503}"/>
              </a:ext>
            </a:extLst>
          </p:cNvPr>
          <p:cNvSpPr txBox="1"/>
          <p:nvPr/>
        </p:nvSpPr>
        <p:spPr>
          <a:xfrm>
            <a:off x="2412539" y="615141"/>
            <a:ext cx="8495608" cy="523220"/>
          </a:xfrm>
          <a:prstGeom prst="rect">
            <a:avLst/>
          </a:prstGeom>
          <a:noFill/>
        </p:spPr>
        <p:txBody>
          <a:bodyPr wrap="square" rtlCol="0">
            <a:spAutoFit/>
          </a:bodyPr>
          <a:lstStyle/>
          <a:p>
            <a:r>
              <a:rPr lang="es-MX" sz="2800" dirty="0"/>
              <a:t>Doxa                                                                  Episteme</a:t>
            </a:r>
            <a:endParaRPr lang="es-PE" sz="2800" dirty="0"/>
          </a:p>
        </p:txBody>
      </p:sp>
      <p:sp>
        <p:nvSpPr>
          <p:cNvPr id="6" name="TextBox 5">
            <a:extLst>
              <a:ext uri="{FF2B5EF4-FFF2-40B4-BE49-F238E27FC236}">
                <a16:creationId xmlns:a16="http://schemas.microsoft.com/office/drawing/2014/main" id="{B6E3461D-7226-3A52-C8A2-B6BAFF50DDA1}"/>
              </a:ext>
            </a:extLst>
          </p:cNvPr>
          <p:cNvSpPr txBox="1"/>
          <p:nvPr/>
        </p:nvSpPr>
        <p:spPr>
          <a:xfrm>
            <a:off x="5226397" y="169434"/>
            <a:ext cx="2308166" cy="523220"/>
          </a:xfrm>
          <a:prstGeom prst="rect">
            <a:avLst/>
          </a:prstGeom>
          <a:noFill/>
        </p:spPr>
        <p:txBody>
          <a:bodyPr wrap="square" rtlCol="0">
            <a:spAutoFit/>
          </a:bodyPr>
          <a:lstStyle/>
          <a:p>
            <a:r>
              <a:rPr lang="es-MX" sz="2800" dirty="0"/>
              <a:t>(proceso)</a:t>
            </a:r>
            <a:endParaRPr lang="es-PE" sz="2800" dirty="0"/>
          </a:p>
        </p:txBody>
      </p:sp>
      <p:sp>
        <p:nvSpPr>
          <p:cNvPr id="7" name="Arrow: Right 6">
            <a:extLst>
              <a:ext uri="{FF2B5EF4-FFF2-40B4-BE49-F238E27FC236}">
                <a16:creationId xmlns:a16="http://schemas.microsoft.com/office/drawing/2014/main" id="{EA51E4AB-BD42-3FA4-2D00-595FD32DD832}"/>
              </a:ext>
            </a:extLst>
          </p:cNvPr>
          <p:cNvSpPr/>
          <p:nvPr/>
        </p:nvSpPr>
        <p:spPr>
          <a:xfrm>
            <a:off x="5529812" y="763622"/>
            <a:ext cx="1130531" cy="2262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4906368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F7A38-E5D0-EE0F-DC52-CE0AE0684BCA}"/>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E2F1B57-5CE9-C57B-B889-4A7693229FD5}"/>
              </a:ext>
            </a:extLst>
          </p:cNvPr>
          <p:cNvCxnSpPr/>
          <p:nvPr/>
        </p:nvCxnSpPr>
        <p:spPr>
          <a:xfrm>
            <a:off x="1248756" y="1959956"/>
            <a:ext cx="9225280"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B341ECB-C3E4-50FA-C879-887D9E0CACC8}"/>
              </a:ext>
            </a:extLst>
          </p:cNvPr>
          <p:cNvSpPr txBox="1"/>
          <p:nvPr/>
        </p:nvSpPr>
        <p:spPr>
          <a:xfrm>
            <a:off x="1960070" y="765339"/>
            <a:ext cx="8994370" cy="584775"/>
          </a:xfrm>
          <a:prstGeom prst="rect">
            <a:avLst/>
          </a:prstGeom>
          <a:noFill/>
        </p:spPr>
        <p:txBody>
          <a:bodyPr wrap="square" rtlCol="0">
            <a:spAutoFit/>
          </a:bodyPr>
          <a:lstStyle/>
          <a:p>
            <a:r>
              <a:rPr lang="es-MX" sz="3200" dirty="0">
                <a:solidFill>
                  <a:srgbClr val="FF0000"/>
                </a:solidFill>
              </a:rPr>
              <a:t>Doxa                                                                  Episteme</a:t>
            </a:r>
            <a:endParaRPr lang="es-PE" sz="3200" dirty="0">
              <a:solidFill>
                <a:srgbClr val="FF0000"/>
              </a:solidFill>
            </a:endParaRPr>
          </a:p>
        </p:txBody>
      </p:sp>
      <p:sp>
        <p:nvSpPr>
          <p:cNvPr id="6" name="TextBox 5">
            <a:extLst>
              <a:ext uri="{FF2B5EF4-FFF2-40B4-BE49-F238E27FC236}">
                <a16:creationId xmlns:a16="http://schemas.microsoft.com/office/drawing/2014/main" id="{B832BDE3-EC2F-A74E-22DC-6D4B6BEC9F64}"/>
              </a:ext>
            </a:extLst>
          </p:cNvPr>
          <p:cNvSpPr txBox="1"/>
          <p:nvPr/>
        </p:nvSpPr>
        <p:spPr>
          <a:xfrm>
            <a:off x="4991793" y="319063"/>
            <a:ext cx="2308166" cy="523220"/>
          </a:xfrm>
          <a:prstGeom prst="rect">
            <a:avLst/>
          </a:prstGeom>
          <a:noFill/>
        </p:spPr>
        <p:txBody>
          <a:bodyPr wrap="square" rtlCol="0">
            <a:spAutoFit/>
          </a:bodyPr>
          <a:lstStyle/>
          <a:p>
            <a:r>
              <a:rPr lang="es-MX" sz="2800" dirty="0"/>
              <a:t>(proceso)</a:t>
            </a:r>
            <a:endParaRPr lang="es-PE" sz="2800" dirty="0"/>
          </a:p>
        </p:txBody>
      </p:sp>
      <p:sp>
        <p:nvSpPr>
          <p:cNvPr id="7" name="Arrow: Right 6">
            <a:extLst>
              <a:ext uri="{FF2B5EF4-FFF2-40B4-BE49-F238E27FC236}">
                <a16:creationId xmlns:a16="http://schemas.microsoft.com/office/drawing/2014/main" id="{A75777F9-BCCB-7EF4-9557-CD2B669937E7}"/>
              </a:ext>
            </a:extLst>
          </p:cNvPr>
          <p:cNvSpPr/>
          <p:nvPr/>
        </p:nvSpPr>
        <p:spPr>
          <a:xfrm>
            <a:off x="5295208" y="913251"/>
            <a:ext cx="1130531" cy="2262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10" name="Straight Connector 9">
            <a:extLst>
              <a:ext uri="{FF2B5EF4-FFF2-40B4-BE49-F238E27FC236}">
                <a16:creationId xmlns:a16="http://schemas.microsoft.com/office/drawing/2014/main" id="{AD20915A-C0DD-AA55-3CE5-75FF11584ABA}"/>
              </a:ext>
            </a:extLst>
          </p:cNvPr>
          <p:cNvCxnSpPr>
            <a:cxnSpLocks/>
          </p:cNvCxnSpPr>
          <p:nvPr/>
        </p:nvCxnSpPr>
        <p:spPr>
          <a:xfrm flipV="1">
            <a:off x="3000986" y="1660697"/>
            <a:ext cx="0" cy="4128219"/>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67DC552-BB3B-7488-8B1A-4081CCAB0A4E}"/>
              </a:ext>
            </a:extLst>
          </p:cNvPr>
          <p:cNvSpPr txBox="1"/>
          <p:nvPr/>
        </p:nvSpPr>
        <p:spPr>
          <a:xfrm>
            <a:off x="1170361" y="2353578"/>
            <a:ext cx="1579418" cy="523220"/>
          </a:xfrm>
          <a:prstGeom prst="rect">
            <a:avLst/>
          </a:prstGeom>
          <a:noFill/>
        </p:spPr>
        <p:txBody>
          <a:bodyPr wrap="square" rtlCol="0">
            <a:spAutoFit/>
          </a:bodyPr>
          <a:lstStyle/>
          <a:p>
            <a:r>
              <a:rPr lang="es-MX" sz="2800" dirty="0"/>
              <a:t>Sombras</a:t>
            </a:r>
            <a:endParaRPr lang="es-PE" sz="2800" dirty="0"/>
          </a:p>
        </p:txBody>
      </p:sp>
      <p:sp>
        <p:nvSpPr>
          <p:cNvPr id="3" name="TextBox 2">
            <a:extLst>
              <a:ext uri="{FF2B5EF4-FFF2-40B4-BE49-F238E27FC236}">
                <a16:creationId xmlns:a16="http://schemas.microsoft.com/office/drawing/2014/main" id="{20A3427F-B1F0-7A29-A1E1-B28D31DCC8A9}"/>
              </a:ext>
            </a:extLst>
          </p:cNvPr>
          <p:cNvSpPr txBox="1"/>
          <p:nvPr/>
        </p:nvSpPr>
        <p:spPr>
          <a:xfrm>
            <a:off x="1111250" y="3181719"/>
            <a:ext cx="2162001" cy="954107"/>
          </a:xfrm>
          <a:prstGeom prst="rect">
            <a:avLst/>
          </a:prstGeom>
          <a:noFill/>
        </p:spPr>
        <p:txBody>
          <a:bodyPr wrap="square" rtlCol="0">
            <a:spAutoFit/>
          </a:bodyPr>
          <a:lstStyle/>
          <a:p>
            <a:r>
              <a:rPr lang="es-MX" sz="2800" dirty="0" err="1"/>
              <a:t>Eikasía</a:t>
            </a:r>
            <a:endParaRPr lang="es-MX" sz="2800" dirty="0"/>
          </a:p>
          <a:p>
            <a:r>
              <a:rPr lang="es-MX" sz="2800" dirty="0"/>
              <a:t>Imaginación</a:t>
            </a:r>
            <a:endParaRPr lang="es-PE" sz="2800" dirty="0"/>
          </a:p>
        </p:txBody>
      </p:sp>
      <p:sp>
        <p:nvSpPr>
          <p:cNvPr id="17" name="TextBox 16">
            <a:extLst>
              <a:ext uri="{FF2B5EF4-FFF2-40B4-BE49-F238E27FC236}">
                <a16:creationId xmlns:a16="http://schemas.microsoft.com/office/drawing/2014/main" id="{DB20042A-2B76-02D6-638B-C456127E5F1A}"/>
              </a:ext>
            </a:extLst>
          </p:cNvPr>
          <p:cNvSpPr txBox="1"/>
          <p:nvPr/>
        </p:nvSpPr>
        <p:spPr>
          <a:xfrm>
            <a:off x="1111250" y="4403921"/>
            <a:ext cx="2374663" cy="1384995"/>
          </a:xfrm>
          <a:prstGeom prst="rect">
            <a:avLst/>
          </a:prstGeom>
          <a:noFill/>
        </p:spPr>
        <p:txBody>
          <a:bodyPr wrap="square" rtlCol="0">
            <a:spAutoFit/>
          </a:bodyPr>
          <a:lstStyle/>
          <a:p>
            <a:r>
              <a:rPr lang="es-MX" sz="2800" dirty="0"/>
              <a:t>Reflejos de objetos sensoriales</a:t>
            </a:r>
            <a:endParaRPr lang="es-PE" sz="2800" dirty="0"/>
          </a:p>
        </p:txBody>
      </p:sp>
      <p:sp>
        <p:nvSpPr>
          <p:cNvPr id="23" name="TextBox 22">
            <a:extLst>
              <a:ext uri="{FF2B5EF4-FFF2-40B4-BE49-F238E27FC236}">
                <a16:creationId xmlns:a16="http://schemas.microsoft.com/office/drawing/2014/main" id="{A645A436-FE00-4A4C-5666-5553AF020CB1}"/>
              </a:ext>
            </a:extLst>
          </p:cNvPr>
          <p:cNvSpPr txBox="1"/>
          <p:nvPr/>
        </p:nvSpPr>
        <p:spPr>
          <a:xfrm>
            <a:off x="1839652" y="1430248"/>
            <a:ext cx="705196" cy="923330"/>
          </a:xfrm>
          <a:prstGeom prst="rect">
            <a:avLst/>
          </a:prstGeom>
          <a:noFill/>
          <a:ln>
            <a:noFill/>
          </a:ln>
        </p:spPr>
        <p:txBody>
          <a:bodyPr wrap="square" rtlCol="0">
            <a:spAutoFit/>
          </a:bodyPr>
          <a:lstStyle/>
          <a:p>
            <a:r>
              <a:rPr lang="es-MX" sz="5400" dirty="0">
                <a:solidFill>
                  <a:srgbClr val="0070C0"/>
                </a:solidFill>
              </a:rPr>
              <a:t>A</a:t>
            </a:r>
            <a:endParaRPr lang="es-PE" sz="5400" dirty="0">
              <a:solidFill>
                <a:srgbClr val="0070C0"/>
              </a:solidFill>
            </a:endParaRPr>
          </a:p>
        </p:txBody>
      </p:sp>
      <p:sp>
        <p:nvSpPr>
          <p:cNvPr id="24" name="TextBox 23">
            <a:extLst>
              <a:ext uri="{FF2B5EF4-FFF2-40B4-BE49-F238E27FC236}">
                <a16:creationId xmlns:a16="http://schemas.microsoft.com/office/drawing/2014/main" id="{8ACEEAB1-7DFF-EF1C-9927-1614C140674D}"/>
              </a:ext>
            </a:extLst>
          </p:cNvPr>
          <p:cNvSpPr txBox="1"/>
          <p:nvPr/>
        </p:nvSpPr>
        <p:spPr>
          <a:xfrm>
            <a:off x="3205918" y="2025908"/>
            <a:ext cx="8472730" cy="4832092"/>
          </a:xfrm>
          <a:prstGeom prst="rect">
            <a:avLst/>
          </a:prstGeom>
          <a:noFill/>
        </p:spPr>
        <p:txBody>
          <a:bodyPr wrap="square" rtlCol="0">
            <a:spAutoFit/>
          </a:bodyPr>
          <a:lstStyle/>
          <a:p>
            <a:pPr marL="457200" indent="-457200">
              <a:buFont typeface="Arial" panose="020B0604020202020204" pitchFamily="34" charset="0"/>
              <a:buChar char="•"/>
            </a:pPr>
            <a:r>
              <a:rPr lang="es-MX" sz="2800" dirty="0" err="1"/>
              <a:t>Eikasía</a:t>
            </a:r>
            <a:r>
              <a:rPr lang="es-MX" sz="2800" dirty="0"/>
              <a:t> =&gt; ícono</a:t>
            </a:r>
          </a:p>
          <a:p>
            <a:pPr marL="457200" indent="-457200">
              <a:buFont typeface="Arial" panose="020B0604020202020204" pitchFamily="34" charset="0"/>
              <a:buChar char="•"/>
            </a:pPr>
            <a:r>
              <a:rPr lang="es-MX" sz="2800" dirty="0"/>
              <a:t>Conjeturas; aturdimiento, grado alto de confusión.</a:t>
            </a:r>
          </a:p>
          <a:p>
            <a:pPr marL="457200" indent="-457200">
              <a:buFont typeface="Arial" panose="020B0604020202020204" pitchFamily="34" charset="0"/>
              <a:buChar char="•"/>
            </a:pPr>
            <a:r>
              <a:rPr lang="es-MX" sz="2800" dirty="0"/>
              <a:t>Mitos =&gt; entre “A” Imaginación y “B” Creencia</a:t>
            </a:r>
          </a:p>
          <a:p>
            <a:pPr marL="457200" indent="-457200">
              <a:buFont typeface="Arial" panose="020B0604020202020204" pitchFamily="34" charset="0"/>
              <a:buChar char="•"/>
            </a:pPr>
            <a:r>
              <a:rPr lang="es-MX" sz="2800" dirty="0"/>
              <a:t>Elemental y natural, usado por todos inicialmente.</a:t>
            </a:r>
          </a:p>
          <a:p>
            <a:pPr marL="457200" indent="-457200">
              <a:buFont typeface="Arial" panose="020B0604020202020204" pitchFamily="34" charset="0"/>
              <a:buChar char="•"/>
            </a:pPr>
            <a:r>
              <a:rPr lang="es-MX" sz="2800" dirty="0"/>
              <a:t>Lo que se manifiesta a los sentidos</a:t>
            </a:r>
          </a:p>
          <a:p>
            <a:pPr marL="457200" indent="-457200">
              <a:buFont typeface="Arial" panose="020B0604020202020204" pitchFamily="34" charset="0"/>
              <a:buChar char="•"/>
            </a:pPr>
            <a:r>
              <a:rPr lang="es-MX" sz="2800" dirty="0"/>
              <a:t>Lo que aparece y parece ser</a:t>
            </a:r>
          </a:p>
          <a:p>
            <a:pPr marL="457200" indent="-457200">
              <a:buFont typeface="Arial" panose="020B0604020202020204" pitchFamily="34" charset="0"/>
              <a:buChar char="•"/>
            </a:pPr>
            <a:r>
              <a:rPr lang="es-MX" sz="2800" dirty="0"/>
              <a:t>Percepción de objetos sensibles, copias o sombras imperfectas.</a:t>
            </a:r>
          </a:p>
          <a:p>
            <a:pPr marL="457200" indent="-457200">
              <a:buFont typeface="Arial" panose="020B0604020202020204" pitchFamily="34" charset="0"/>
              <a:buChar char="•"/>
            </a:pPr>
            <a:r>
              <a:rPr lang="es-MX" sz="2800" dirty="0"/>
              <a:t>Experiencia cotidiana</a:t>
            </a:r>
          </a:p>
          <a:p>
            <a:pPr marL="457200" indent="-457200">
              <a:buFont typeface="Arial" panose="020B0604020202020204" pitchFamily="34" charset="0"/>
              <a:buChar char="•"/>
            </a:pPr>
            <a:r>
              <a:rPr lang="es-MX" sz="2800" dirty="0"/>
              <a:t>Artes figurativas : copia de copia</a:t>
            </a:r>
          </a:p>
          <a:p>
            <a:pPr marL="457200" indent="-457200">
              <a:buFont typeface="Arial" panose="020B0604020202020204" pitchFamily="34" charset="0"/>
              <a:buChar char="•"/>
            </a:pPr>
            <a:r>
              <a:rPr lang="es-MX" sz="2800" dirty="0"/>
              <a:t>Mimético, representativo</a:t>
            </a:r>
            <a:endParaRPr lang="es-PE" sz="2800" dirty="0"/>
          </a:p>
        </p:txBody>
      </p:sp>
    </p:spTree>
    <p:extLst>
      <p:ext uri="{BB962C8B-B14F-4D97-AF65-F5344CB8AC3E}">
        <p14:creationId xmlns:p14="http://schemas.microsoft.com/office/powerpoint/2010/main" val="26905831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445C4-FB19-1CA8-1FB0-84B115C5FCAB}"/>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3128EF70-C4E0-33FB-466F-1FCA4AFA617C}"/>
              </a:ext>
            </a:extLst>
          </p:cNvPr>
          <p:cNvCxnSpPr/>
          <p:nvPr/>
        </p:nvCxnSpPr>
        <p:spPr>
          <a:xfrm>
            <a:off x="1248756" y="1959956"/>
            <a:ext cx="9225280"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A19741D-D534-1691-DAFA-43F1834C11E2}"/>
              </a:ext>
            </a:extLst>
          </p:cNvPr>
          <p:cNvSpPr txBox="1"/>
          <p:nvPr/>
        </p:nvSpPr>
        <p:spPr>
          <a:xfrm>
            <a:off x="1960070" y="765339"/>
            <a:ext cx="8994370" cy="584775"/>
          </a:xfrm>
          <a:prstGeom prst="rect">
            <a:avLst/>
          </a:prstGeom>
          <a:noFill/>
        </p:spPr>
        <p:txBody>
          <a:bodyPr wrap="square" rtlCol="0">
            <a:spAutoFit/>
          </a:bodyPr>
          <a:lstStyle/>
          <a:p>
            <a:r>
              <a:rPr lang="es-MX" sz="3200" dirty="0">
                <a:solidFill>
                  <a:srgbClr val="FF0000"/>
                </a:solidFill>
              </a:rPr>
              <a:t>Doxa                                                                  Episteme</a:t>
            </a:r>
            <a:endParaRPr lang="es-PE" sz="3200" dirty="0">
              <a:solidFill>
                <a:srgbClr val="FF0000"/>
              </a:solidFill>
            </a:endParaRPr>
          </a:p>
        </p:txBody>
      </p:sp>
      <p:sp>
        <p:nvSpPr>
          <p:cNvPr id="6" name="TextBox 5">
            <a:extLst>
              <a:ext uri="{FF2B5EF4-FFF2-40B4-BE49-F238E27FC236}">
                <a16:creationId xmlns:a16="http://schemas.microsoft.com/office/drawing/2014/main" id="{12018A29-BE7B-E2EB-88D5-7CC683030F5E}"/>
              </a:ext>
            </a:extLst>
          </p:cNvPr>
          <p:cNvSpPr txBox="1"/>
          <p:nvPr/>
        </p:nvSpPr>
        <p:spPr>
          <a:xfrm>
            <a:off x="4991793" y="319063"/>
            <a:ext cx="2308166" cy="523220"/>
          </a:xfrm>
          <a:prstGeom prst="rect">
            <a:avLst/>
          </a:prstGeom>
          <a:noFill/>
        </p:spPr>
        <p:txBody>
          <a:bodyPr wrap="square" rtlCol="0">
            <a:spAutoFit/>
          </a:bodyPr>
          <a:lstStyle/>
          <a:p>
            <a:r>
              <a:rPr lang="es-MX" sz="2800" dirty="0"/>
              <a:t>(proceso)</a:t>
            </a:r>
            <a:endParaRPr lang="es-PE" sz="2800" dirty="0"/>
          </a:p>
        </p:txBody>
      </p:sp>
      <p:sp>
        <p:nvSpPr>
          <p:cNvPr id="7" name="Arrow: Right 6">
            <a:extLst>
              <a:ext uri="{FF2B5EF4-FFF2-40B4-BE49-F238E27FC236}">
                <a16:creationId xmlns:a16="http://schemas.microsoft.com/office/drawing/2014/main" id="{06AD3DBA-2B2B-F67C-53EB-4AB96ED65AA6}"/>
              </a:ext>
            </a:extLst>
          </p:cNvPr>
          <p:cNvSpPr/>
          <p:nvPr/>
        </p:nvSpPr>
        <p:spPr>
          <a:xfrm>
            <a:off x="5295208" y="913251"/>
            <a:ext cx="1130531" cy="2262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 name="Straight Connector 1">
            <a:extLst>
              <a:ext uri="{FF2B5EF4-FFF2-40B4-BE49-F238E27FC236}">
                <a16:creationId xmlns:a16="http://schemas.microsoft.com/office/drawing/2014/main" id="{64358C9B-8B91-4629-7063-980839BFE950}"/>
              </a:ext>
            </a:extLst>
          </p:cNvPr>
          <p:cNvCxnSpPr>
            <a:cxnSpLocks/>
          </p:cNvCxnSpPr>
          <p:nvPr/>
        </p:nvCxnSpPr>
        <p:spPr>
          <a:xfrm flipV="1">
            <a:off x="4406391" y="1785601"/>
            <a:ext cx="0" cy="4128219"/>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7FB6F9B-B992-FD39-00D3-9ADB0B1EC87B}"/>
              </a:ext>
            </a:extLst>
          </p:cNvPr>
          <p:cNvCxnSpPr>
            <a:cxnSpLocks/>
          </p:cNvCxnSpPr>
          <p:nvPr/>
        </p:nvCxnSpPr>
        <p:spPr>
          <a:xfrm flipV="1">
            <a:off x="1961824" y="1660697"/>
            <a:ext cx="0" cy="4128219"/>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C52C0A2-CA99-066A-8960-6E75B6993A9A}"/>
              </a:ext>
            </a:extLst>
          </p:cNvPr>
          <p:cNvSpPr txBox="1"/>
          <p:nvPr/>
        </p:nvSpPr>
        <p:spPr>
          <a:xfrm>
            <a:off x="2530254" y="2365665"/>
            <a:ext cx="1579418" cy="523220"/>
          </a:xfrm>
          <a:prstGeom prst="rect">
            <a:avLst/>
          </a:prstGeom>
          <a:noFill/>
        </p:spPr>
        <p:txBody>
          <a:bodyPr wrap="square" rtlCol="0">
            <a:spAutoFit/>
          </a:bodyPr>
          <a:lstStyle/>
          <a:p>
            <a:r>
              <a:rPr lang="es-MX" sz="2800" dirty="0"/>
              <a:t>Sofística</a:t>
            </a:r>
            <a:endParaRPr lang="es-PE" sz="2800" dirty="0"/>
          </a:p>
        </p:txBody>
      </p:sp>
      <p:sp>
        <p:nvSpPr>
          <p:cNvPr id="8" name="TextBox 7">
            <a:extLst>
              <a:ext uri="{FF2B5EF4-FFF2-40B4-BE49-F238E27FC236}">
                <a16:creationId xmlns:a16="http://schemas.microsoft.com/office/drawing/2014/main" id="{A9CDA8F0-6CD6-24C3-BFC7-D68E8F815728}"/>
              </a:ext>
            </a:extLst>
          </p:cNvPr>
          <p:cNvSpPr txBox="1"/>
          <p:nvPr/>
        </p:nvSpPr>
        <p:spPr>
          <a:xfrm>
            <a:off x="2530254" y="3429000"/>
            <a:ext cx="1579418" cy="954107"/>
          </a:xfrm>
          <a:prstGeom prst="rect">
            <a:avLst/>
          </a:prstGeom>
          <a:noFill/>
        </p:spPr>
        <p:txBody>
          <a:bodyPr wrap="square" rtlCol="0">
            <a:spAutoFit/>
          </a:bodyPr>
          <a:lstStyle/>
          <a:p>
            <a:r>
              <a:rPr lang="es-MX" sz="2800" dirty="0" err="1"/>
              <a:t>Pistis</a:t>
            </a:r>
            <a:endParaRPr lang="es-MX" sz="2800" dirty="0"/>
          </a:p>
          <a:p>
            <a:r>
              <a:rPr lang="es-MX" sz="2800" dirty="0"/>
              <a:t>Creencia</a:t>
            </a:r>
            <a:endParaRPr lang="es-PE" sz="2800" dirty="0"/>
          </a:p>
        </p:txBody>
      </p:sp>
      <p:sp>
        <p:nvSpPr>
          <p:cNvPr id="18" name="TextBox 17">
            <a:extLst>
              <a:ext uri="{FF2B5EF4-FFF2-40B4-BE49-F238E27FC236}">
                <a16:creationId xmlns:a16="http://schemas.microsoft.com/office/drawing/2014/main" id="{26577CA2-F04E-3AEF-CBC4-5F61F5F4B72F}"/>
              </a:ext>
            </a:extLst>
          </p:cNvPr>
          <p:cNvSpPr txBox="1"/>
          <p:nvPr/>
        </p:nvSpPr>
        <p:spPr>
          <a:xfrm>
            <a:off x="2182283" y="4959713"/>
            <a:ext cx="2523829" cy="954107"/>
          </a:xfrm>
          <a:prstGeom prst="rect">
            <a:avLst/>
          </a:prstGeom>
          <a:noFill/>
        </p:spPr>
        <p:txBody>
          <a:bodyPr wrap="square" rtlCol="0">
            <a:spAutoFit/>
          </a:bodyPr>
          <a:lstStyle/>
          <a:p>
            <a:r>
              <a:rPr lang="es-MX" sz="2800" dirty="0"/>
              <a:t>Convenciones sociales</a:t>
            </a:r>
            <a:endParaRPr lang="es-PE" sz="2800" dirty="0"/>
          </a:p>
        </p:txBody>
      </p:sp>
      <p:sp>
        <p:nvSpPr>
          <p:cNvPr id="21" name="TextBox 20">
            <a:extLst>
              <a:ext uri="{FF2B5EF4-FFF2-40B4-BE49-F238E27FC236}">
                <a16:creationId xmlns:a16="http://schemas.microsoft.com/office/drawing/2014/main" id="{4E1E1C91-F819-8D11-FD65-C0E015F31E17}"/>
              </a:ext>
            </a:extLst>
          </p:cNvPr>
          <p:cNvSpPr txBox="1"/>
          <p:nvPr/>
        </p:nvSpPr>
        <p:spPr>
          <a:xfrm>
            <a:off x="2896709" y="1522079"/>
            <a:ext cx="705196" cy="923330"/>
          </a:xfrm>
          <a:prstGeom prst="rect">
            <a:avLst/>
          </a:prstGeom>
          <a:noFill/>
          <a:ln>
            <a:noFill/>
          </a:ln>
        </p:spPr>
        <p:txBody>
          <a:bodyPr wrap="square" rtlCol="0">
            <a:spAutoFit/>
          </a:bodyPr>
          <a:lstStyle/>
          <a:p>
            <a:r>
              <a:rPr lang="es-MX" sz="5400" dirty="0">
                <a:solidFill>
                  <a:srgbClr val="0070C0"/>
                </a:solidFill>
              </a:rPr>
              <a:t>B</a:t>
            </a:r>
            <a:endParaRPr lang="es-PE" sz="5400" dirty="0">
              <a:solidFill>
                <a:srgbClr val="0070C0"/>
              </a:solidFill>
            </a:endParaRPr>
          </a:p>
        </p:txBody>
      </p:sp>
      <p:sp>
        <p:nvSpPr>
          <p:cNvPr id="22" name="TextBox 21">
            <a:extLst>
              <a:ext uri="{FF2B5EF4-FFF2-40B4-BE49-F238E27FC236}">
                <a16:creationId xmlns:a16="http://schemas.microsoft.com/office/drawing/2014/main" id="{AEB6BAF8-9811-DC8B-2780-7636428499AB}"/>
              </a:ext>
            </a:extLst>
          </p:cNvPr>
          <p:cNvSpPr txBox="1"/>
          <p:nvPr/>
        </p:nvSpPr>
        <p:spPr>
          <a:xfrm>
            <a:off x="4536789" y="2261070"/>
            <a:ext cx="7380065" cy="3539430"/>
          </a:xfrm>
          <a:prstGeom prst="rect">
            <a:avLst/>
          </a:prstGeom>
          <a:noFill/>
        </p:spPr>
        <p:txBody>
          <a:bodyPr wrap="square" rtlCol="0">
            <a:spAutoFit/>
          </a:bodyPr>
          <a:lstStyle/>
          <a:p>
            <a:pPr marL="457200" indent="-457200">
              <a:buFont typeface="Arial" panose="020B0604020202020204" pitchFamily="34" charset="0"/>
              <a:buChar char="•"/>
            </a:pPr>
            <a:r>
              <a:rPr lang="es-MX" sz="2800" dirty="0"/>
              <a:t>Saber ≠ Creer</a:t>
            </a:r>
          </a:p>
          <a:p>
            <a:pPr marL="457200" indent="-457200">
              <a:buFont typeface="Arial" panose="020B0604020202020204" pitchFamily="34" charset="0"/>
              <a:buChar char="•"/>
            </a:pPr>
            <a:r>
              <a:rPr lang="es-MX" sz="2800" dirty="0"/>
              <a:t>Tradiciones heredadas (dogmas)</a:t>
            </a:r>
          </a:p>
          <a:p>
            <a:pPr marL="457200" indent="-457200">
              <a:buFont typeface="Arial" panose="020B0604020202020204" pitchFamily="34" charset="0"/>
              <a:buChar char="•"/>
            </a:pPr>
            <a:r>
              <a:rPr lang="es-MX" sz="2800" dirty="0"/>
              <a:t>Dogmatismo</a:t>
            </a:r>
          </a:p>
          <a:p>
            <a:pPr marL="457200" indent="-457200">
              <a:buFont typeface="Arial" panose="020B0604020202020204" pitchFamily="34" charset="0"/>
              <a:buChar char="•"/>
            </a:pPr>
            <a:r>
              <a:rPr lang="es-MX" sz="2800" dirty="0"/>
              <a:t>Sofística =&gt; no le importa la verdad</a:t>
            </a:r>
          </a:p>
          <a:p>
            <a:pPr marL="457200" indent="-457200">
              <a:buFont typeface="Arial" panose="020B0604020202020204" pitchFamily="34" charset="0"/>
              <a:buChar char="•"/>
            </a:pPr>
            <a:r>
              <a:rPr lang="es-MX" sz="2800" dirty="0"/>
              <a:t>Arte de discusión racional (alejado de la verdad)</a:t>
            </a:r>
          </a:p>
          <a:p>
            <a:pPr marL="457200" indent="-457200">
              <a:buFont typeface="Arial" panose="020B0604020202020204" pitchFamily="34" charset="0"/>
              <a:buChar char="•"/>
            </a:pPr>
            <a:r>
              <a:rPr lang="es-MX" sz="2800" dirty="0" err="1"/>
              <a:t>Tmb</a:t>
            </a:r>
            <a:r>
              <a:rPr lang="es-MX" sz="2800" dirty="0"/>
              <a:t> trabaja con representaciones sensibles: números y palabras</a:t>
            </a:r>
            <a:endParaRPr lang="es-PE" sz="2800" dirty="0"/>
          </a:p>
        </p:txBody>
      </p:sp>
      <p:sp>
        <p:nvSpPr>
          <p:cNvPr id="23" name="TextBox 22">
            <a:extLst>
              <a:ext uri="{FF2B5EF4-FFF2-40B4-BE49-F238E27FC236}">
                <a16:creationId xmlns:a16="http://schemas.microsoft.com/office/drawing/2014/main" id="{D52F90F9-4713-F358-E3A6-DE808F013497}"/>
              </a:ext>
            </a:extLst>
          </p:cNvPr>
          <p:cNvSpPr txBox="1"/>
          <p:nvPr/>
        </p:nvSpPr>
        <p:spPr>
          <a:xfrm>
            <a:off x="896158" y="1522079"/>
            <a:ext cx="705196" cy="923330"/>
          </a:xfrm>
          <a:prstGeom prst="rect">
            <a:avLst/>
          </a:prstGeom>
          <a:noFill/>
          <a:ln>
            <a:noFill/>
          </a:ln>
        </p:spPr>
        <p:txBody>
          <a:bodyPr wrap="square" rtlCol="0">
            <a:spAutoFit/>
          </a:bodyPr>
          <a:lstStyle/>
          <a:p>
            <a:r>
              <a:rPr lang="es-MX" sz="5400" dirty="0">
                <a:solidFill>
                  <a:srgbClr val="0070C0"/>
                </a:solidFill>
              </a:rPr>
              <a:t>A</a:t>
            </a:r>
            <a:endParaRPr lang="es-PE" sz="5400" dirty="0">
              <a:solidFill>
                <a:srgbClr val="0070C0"/>
              </a:solidFill>
            </a:endParaRPr>
          </a:p>
        </p:txBody>
      </p:sp>
    </p:spTree>
    <p:extLst>
      <p:ext uri="{BB962C8B-B14F-4D97-AF65-F5344CB8AC3E}">
        <p14:creationId xmlns:p14="http://schemas.microsoft.com/office/powerpoint/2010/main" val="26324077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1316D-A0EA-8E65-64A6-1A807899B3D8}"/>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93537E3-368C-0482-6D9E-BFDCF9E6C6CE}"/>
              </a:ext>
            </a:extLst>
          </p:cNvPr>
          <p:cNvCxnSpPr/>
          <p:nvPr/>
        </p:nvCxnSpPr>
        <p:spPr>
          <a:xfrm>
            <a:off x="1248756" y="1959956"/>
            <a:ext cx="9225280"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C577005-DDBE-6034-DEA9-856A834B4176}"/>
              </a:ext>
            </a:extLst>
          </p:cNvPr>
          <p:cNvSpPr txBox="1"/>
          <p:nvPr/>
        </p:nvSpPr>
        <p:spPr>
          <a:xfrm>
            <a:off x="1960070" y="765339"/>
            <a:ext cx="8994370" cy="584775"/>
          </a:xfrm>
          <a:prstGeom prst="rect">
            <a:avLst/>
          </a:prstGeom>
          <a:noFill/>
        </p:spPr>
        <p:txBody>
          <a:bodyPr wrap="square" rtlCol="0">
            <a:spAutoFit/>
          </a:bodyPr>
          <a:lstStyle/>
          <a:p>
            <a:r>
              <a:rPr lang="es-MX" sz="3200" dirty="0">
                <a:solidFill>
                  <a:srgbClr val="FF0000"/>
                </a:solidFill>
              </a:rPr>
              <a:t>Doxa                                                                  Episteme</a:t>
            </a:r>
            <a:endParaRPr lang="es-PE" sz="3200" dirty="0">
              <a:solidFill>
                <a:srgbClr val="FF0000"/>
              </a:solidFill>
            </a:endParaRPr>
          </a:p>
        </p:txBody>
      </p:sp>
      <p:sp>
        <p:nvSpPr>
          <p:cNvPr id="6" name="TextBox 5">
            <a:extLst>
              <a:ext uri="{FF2B5EF4-FFF2-40B4-BE49-F238E27FC236}">
                <a16:creationId xmlns:a16="http://schemas.microsoft.com/office/drawing/2014/main" id="{1BB71D28-7750-8C60-0AF7-1E983AA450E2}"/>
              </a:ext>
            </a:extLst>
          </p:cNvPr>
          <p:cNvSpPr txBox="1"/>
          <p:nvPr/>
        </p:nvSpPr>
        <p:spPr>
          <a:xfrm>
            <a:off x="7252925" y="3671397"/>
            <a:ext cx="2308166" cy="523220"/>
          </a:xfrm>
          <a:prstGeom prst="rect">
            <a:avLst/>
          </a:prstGeom>
          <a:noFill/>
        </p:spPr>
        <p:txBody>
          <a:bodyPr wrap="square" rtlCol="0">
            <a:spAutoFit/>
          </a:bodyPr>
          <a:lstStyle/>
          <a:p>
            <a:r>
              <a:rPr lang="es-MX" sz="2800" dirty="0"/>
              <a:t>(proceso)</a:t>
            </a:r>
            <a:endParaRPr lang="es-PE" sz="2800" dirty="0"/>
          </a:p>
        </p:txBody>
      </p:sp>
      <p:sp>
        <p:nvSpPr>
          <p:cNvPr id="7" name="Arrow: Right 6">
            <a:extLst>
              <a:ext uri="{FF2B5EF4-FFF2-40B4-BE49-F238E27FC236}">
                <a16:creationId xmlns:a16="http://schemas.microsoft.com/office/drawing/2014/main" id="{C7808503-9415-A2F7-699C-3B2A82ACF95C}"/>
              </a:ext>
            </a:extLst>
          </p:cNvPr>
          <p:cNvSpPr/>
          <p:nvPr/>
        </p:nvSpPr>
        <p:spPr>
          <a:xfrm>
            <a:off x="7546617" y="4345334"/>
            <a:ext cx="1130531" cy="2262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 name="Straight Connector 1">
            <a:extLst>
              <a:ext uri="{FF2B5EF4-FFF2-40B4-BE49-F238E27FC236}">
                <a16:creationId xmlns:a16="http://schemas.microsoft.com/office/drawing/2014/main" id="{31FFB8BC-5D37-AB34-30DE-31ADD45F8D1A}"/>
              </a:ext>
            </a:extLst>
          </p:cNvPr>
          <p:cNvCxnSpPr>
            <a:cxnSpLocks/>
          </p:cNvCxnSpPr>
          <p:nvPr/>
        </p:nvCxnSpPr>
        <p:spPr>
          <a:xfrm flipV="1">
            <a:off x="5749728" y="1638288"/>
            <a:ext cx="0" cy="4128219"/>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2E06B6D-539C-1594-D85C-517CBAEAFB8B}"/>
              </a:ext>
            </a:extLst>
          </p:cNvPr>
          <p:cNvCxnSpPr>
            <a:cxnSpLocks/>
          </p:cNvCxnSpPr>
          <p:nvPr/>
        </p:nvCxnSpPr>
        <p:spPr>
          <a:xfrm flipV="1">
            <a:off x="2821360" y="1638288"/>
            <a:ext cx="0" cy="4128219"/>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68B35FC-CF29-D613-F5CC-7A56A14F6BD9}"/>
              </a:ext>
            </a:extLst>
          </p:cNvPr>
          <p:cNvSpPr txBox="1"/>
          <p:nvPr/>
        </p:nvSpPr>
        <p:spPr>
          <a:xfrm>
            <a:off x="3928410" y="1498291"/>
            <a:ext cx="840222" cy="923330"/>
          </a:xfrm>
          <a:prstGeom prst="rect">
            <a:avLst/>
          </a:prstGeom>
          <a:noFill/>
          <a:ln>
            <a:noFill/>
          </a:ln>
        </p:spPr>
        <p:txBody>
          <a:bodyPr wrap="square" rtlCol="0">
            <a:spAutoFit/>
          </a:bodyPr>
          <a:lstStyle/>
          <a:p>
            <a:r>
              <a:rPr lang="es-MX" sz="5400" dirty="0">
                <a:solidFill>
                  <a:srgbClr val="0070C0"/>
                </a:solidFill>
              </a:rPr>
              <a:t>B</a:t>
            </a:r>
            <a:endParaRPr lang="es-PE" sz="5400" dirty="0">
              <a:solidFill>
                <a:srgbClr val="0070C0"/>
              </a:solidFill>
            </a:endParaRPr>
          </a:p>
        </p:txBody>
      </p:sp>
      <p:sp>
        <p:nvSpPr>
          <p:cNvPr id="22" name="TextBox 21">
            <a:extLst>
              <a:ext uri="{FF2B5EF4-FFF2-40B4-BE49-F238E27FC236}">
                <a16:creationId xmlns:a16="http://schemas.microsoft.com/office/drawing/2014/main" id="{2E337D55-3CD4-8400-B9B9-AED818703A93}"/>
              </a:ext>
            </a:extLst>
          </p:cNvPr>
          <p:cNvSpPr txBox="1"/>
          <p:nvPr/>
        </p:nvSpPr>
        <p:spPr>
          <a:xfrm>
            <a:off x="1135586" y="3671397"/>
            <a:ext cx="5585648" cy="1323439"/>
          </a:xfrm>
          <a:prstGeom prst="rect">
            <a:avLst/>
          </a:prstGeom>
          <a:noFill/>
        </p:spPr>
        <p:txBody>
          <a:bodyPr wrap="square" rtlCol="0">
            <a:spAutoFit/>
          </a:bodyPr>
          <a:lstStyle/>
          <a:p>
            <a:r>
              <a:rPr lang="es-MX" sz="8000" dirty="0"/>
              <a:t>Caverna</a:t>
            </a:r>
            <a:endParaRPr lang="es-PE" sz="2800" dirty="0"/>
          </a:p>
        </p:txBody>
      </p:sp>
      <p:sp>
        <p:nvSpPr>
          <p:cNvPr id="23" name="TextBox 22">
            <a:extLst>
              <a:ext uri="{FF2B5EF4-FFF2-40B4-BE49-F238E27FC236}">
                <a16:creationId xmlns:a16="http://schemas.microsoft.com/office/drawing/2014/main" id="{CE4EB41D-31AA-70D9-B56C-0559D84ADB41}"/>
              </a:ext>
            </a:extLst>
          </p:cNvPr>
          <p:cNvSpPr txBox="1"/>
          <p:nvPr/>
        </p:nvSpPr>
        <p:spPr>
          <a:xfrm>
            <a:off x="1479606" y="1498291"/>
            <a:ext cx="705196" cy="923330"/>
          </a:xfrm>
          <a:prstGeom prst="rect">
            <a:avLst/>
          </a:prstGeom>
          <a:noFill/>
          <a:ln>
            <a:noFill/>
          </a:ln>
        </p:spPr>
        <p:txBody>
          <a:bodyPr wrap="square" rtlCol="0">
            <a:spAutoFit/>
          </a:bodyPr>
          <a:lstStyle/>
          <a:p>
            <a:r>
              <a:rPr lang="es-MX" sz="5400" dirty="0">
                <a:solidFill>
                  <a:srgbClr val="0070C0"/>
                </a:solidFill>
              </a:rPr>
              <a:t>A</a:t>
            </a:r>
            <a:endParaRPr lang="es-PE" sz="5400" dirty="0">
              <a:solidFill>
                <a:srgbClr val="0070C0"/>
              </a:solidFill>
            </a:endParaRPr>
          </a:p>
        </p:txBody>
      </p:sp>
      <p:pic>
        <p:nvPicPr>
          <p:cNvPr id="9" name="Picture 8">
            <a:extLst>
              <a:ext uri="{FF2B5EF4-FFF2-40B4-BE49-F238E27FC236}">
                <a16:creationId xmlns:a16="http://schemas.microsoft.com/office/drawing/2014/main" id="{D2982186-915C-0B6E-DE00-1D2F4C55E6DA}"/>
              </a:ext>
            </a:extLst>
          </p:cNvPr>
          <p:cNvPicPr>
            <a:picLocks noChangeAspect="1"/>
          </p:cNvPicPr>
          <p:nvPr/>
        </p:nvPicPr>
        <p:blipFill>
          <a:blip r:embed="rId2"/>
          <a:stretch>
            <a:fillRect/>
          </a:stretch>
        </p:blipFill>
        <p:spPr>
          <a:xfrm>
            <a:off x="10915650" y="3702397"/>
            <a:ext cx="1276350" cy="1285875"/>
          </a:xfrm>
          <a:prstGeom prst="rect">
            <a:avLst/>
          </a:prstGeom>
        </p:spPr>
      </p:pic>
    </p:spTree>
    <p:extLst>
      <p:ext uri="{BB962C8B-B14F-4D97-AF65-F5344CB8AC3E}">
        <p14:creationId xmlns:p14="http://schemas.microsoft.com/office/powerpoint/2010/main" val="13518818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5F30C-B570-77C9-813D-F66D11601A40}"/>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39E457BB-2065-EEDA-234A-C39BB41A48F6}"/>
              </a:ext>
            </a:extLst>
          </p:cNvPr>
          <p:cNvCxnSpPr/>
          <p:nvPr/>
        </p:nvCxnSpPr>
        <p:spPr>
          <a:xfrm>
            <a:off x="1248756" y="1959956"/>
            <a:ext cx="9225280"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BA6B5AE-B23B-DC87-BBFC-E8F7C59DA1A1}"/>
              </a:ext>
            </a:extLst>
          </p:cNvPr>
          <p:cNvSpPr txBox="1"/>
          <p:nvPr/>
        </p:nvSpPr>
        <p:spPr>
          <a:xfrm>
            <a:off x="1960070" y="765339"/>
            <a:ext cx="8994370" cy="584775"/>
          </a:xfrm>
          <a:prstGeom prst="rect">
            <a:avLst/>
          </a:prstGeom>
          <a:noFill/>
        </p:spPr>
        <p:txBody>
          <a:bodyPr wrap="square" rtlCol="0">
            <a:spAutoFit/>
          </a:bodyPr>
          <a:lstStyle/>
          <a:p>
            <a:r>
              <a:rPr lang="es-MX" sz="3200" dirty="0">
                <a:solidFill>
                  <a:srgbClr val="FF0000"/>
                </a:solidFill>
              </a:rPr>
              <a:t>Doxa                                                                  Episteme</a:t>
            </a:r>
            <a:endParaRPr lang="es-PE" sz="3200" dirty="0">
              <a:solidFill>
                <a:srgbClr val="FF0000"/>
              </a:solidFill>
            </a:endParaRPr>
          </a:p>
        </p:txBody>
      </p:sp>
      <p:sp>
        <p:nvSpPr>
          <p:cNvPr id="6" name="TextBox 5">
            <a:extLst>
              <a:ext uri="{FF2B5EF4-FFF2-40B4-BE49-F238E27FC236}">
                <a16:creationId xmlns:a16="http://schemas.microsoft.com/office/drawing/2014/main" id="{19E3833B-E832-84A8-05A4-B955BB5B642F}"/>
              </a:ext>
            </a:extLst>
          </p:cNvPr>
          <p:cNvSpPr txBox="1"/>
          <p:nvPr/>
        </p:nvSpPr>
        <p:spPr>
          <a:xfrm>
            <a:off x="4991793" y="319063"/>
            <a:ext cx="2308166" cy="523220"/>
          </a:xfrm>
          <a:prstGeom prst="rect">
            <a:avLst/>
          </a:prstGeom>
          <a:noFill/>
        </p:spPr>
        <p:txBody>
          <a:bodyPr wrap="square" rtlCol="0">
            <a:spAutoFit/>
          </a:bodyPr>
          <a:lstStyle/>
          <a:p>
            <a:r>
              <a:rPr lang="es-MX" sz="2800" dirty="0"/>
              <a:t>(proceso)</a:t>
            </a:r>
            <a:endParaRPr lang="es-PE" sz="2800" dirty="0"/>
          </a:p>
        </p:txBody>
      </p:sp>
      <p:sp>
        <p:nvSpPr>
          <p:cNvPr id="7" name="Arrow: Right 6">
            <a:extLst>
              <a:ext uri="{FF2B5EF4-FFF2-40B4-BE49-F238E27FC236}">
                <a16:creationId xmlns:a16="http://schemas.microsoft.com/office/drawing/2014/main" id="{BB95DCC5-6034-B618-98D4-13C7716E3011}"/>
              </a:ext>
            </a:extLst>
          </p:cNvPr>
          <p:cNvSpPr/>
          <p:nvPr/>
        </p:nvSpPr>
        <p:spPr>
          <a:xfrm>
            <a:off x="5254680" y="874383"/>
            <a:ext cx="1130531" cy="2262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 name="Straight Connector 1">
            <a:extLst>
              <a:ext uri="{FF2B5EF4-FFF2-40B4-BE49-F238E27FC236}">
                <a16:creationId xmlns:a16="http://schemas.microsoft.com/office/drawing/2014/main" id="{12D8E39D-02B0-27A5-53AE-732EC81E22CE}"/>
              </a:ext>
            </a:extLst>
          </p:cNvPr>
          <p:cNvCxnSpPr>
            <a:cxnSpLocks/>
          </p:cNvCxnSpPr>
          <p:nvPr/>
        </p:nvCxnSpPr>
        <p:spPr>
          <a:xfrm flipV="1">
            <a:off x="7367851" y="1421003"/>
            <a:ext cx="0" cy="4128219"/>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2667483-15D7-DEE8-B8A0-4EB8FE58A736}"/>
              </a:ext>
            </a:extLst>
          </p:cNvPr>
          <p:cNvCxnSpPr>
            <a:cxnSpLocks/>
          </p:cNvCxnSpPr>
          <p:nvPr/>
        </p:nvCxnSpPr>
        <p:spPr>
          <a:xfrm flipV="1">
            <a:off x="10035769" y="1421003"/>
            <a:ext cx="0" cy="4254522"/>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FDF57DC-796A-FBAC-B14B-CEDE69A2557B}"/>
              </a:ext>
            </a:extLst>
          </p:cNvPr>
          <p:cNvSpPr txBox="1"/>
          <p:nvPr/>
        </p:nvSpPr>
        <p:spPr>
          <a:xfrm>
            <a:off x="7548421" y="2019522"/>
            <a:ext cx="2523833" cy="954107"/>
          </a:xfrm>
          <a:prstGeom prst="rect">
            <a:avLst/>
          </a:prstGeom>
          <a:noFill/>
        </p:spPr>
        <p:txBody>
          <a:bodyPr wrap="square" rtlCol="0">
            <a:spAutoFit/>
          </a:bodyPr>
          <a:lstStyle/>
          <a:p>
            <a:r>
              <a:rPr lang="es-MX" sz="2800" dirty="0"/>
              <a:t>Razonamiento</a:t>
            </a:r>
          </a:p>
          <a:p>
            <a:r>
              <a:rPr lang="es-MX" sz="2800" dirty="0"/>
              <a:t>Discursivo</a:t>
            </a:r>
            <a:endParaRPr lang="es-PE" sz="2800" dirty="0"/>
          </a:p>
        </p:txBody>
      </p:sp>
      <p:sp>
        <p:nvSpPr>
          <p:cNvPr id="9" name="TextBox 8">
            <a:extLst>
              <a:ext uri="{FF2B5EF4-FFF2-40B4-BE49-F238E27FC236}">
                <a16:creationId xmlns:a16="http://schemas.microsoft.com/office/drawing/2014/main" id="{3F8D4578-3680-C519-FC8B-AE224B4D83E0}"/>
              </a:ext>
            </a:extLst>
          </p:cNvPr>
          <p:cNvSpPr txBox="1"/>
          <p:nvPr/>
        </p:nvSpPr>
        <p:spPr>
          <a:xfrm>
            <a:off x="7950203" y="3429000"/>
            <a:ext cx="2523833" cy="954107"/>
          </a:xfrm>
          <a:prstGeom prst="rect">
            <a:avLst/>
          </a:prstGeom>
          <a:noFill/>
        </p:spPr>
        <p:txBody>
          <a:bodyPr wrap="square" rtlCol="0">
            <a:spAutoFit/>
          </a:bodyPr>
          <a:lstStyle/>
          <a:p>
            <a:r>
              <a:rPr lang="es-MX" sz="2800" dirty="0" err="1"/>
              <a:t>Dianoia</a:t>
            </a:r>
            <a:endParaRPr lang="es-MX" sz="2800" dirty="0"/>
          </a:p>
          <a:p>
            <a:endParaRPr lang="es-PE" sz="2800" dirty="0"/>
          </a:p>
        </p:txBody>
      </p:sp>
      <p:sp>
        <p:nvSpPr>
          <p:cNvPr id="19" name="TextBox 18">
            <a:extLst>
              <a:ext uri="{FF2B5EF4-FFF2-40B4-BE49-F238E27FC236}">
                <a16:creationId xmlns:a16="http://schemas.microsoft.com/office/drawing/2014/main" id="{0356CF2A-470C-CA5D-098C-B79A44DE70BB}"/>
              </a:ext>
            </a:extLst>
          </p:cNvPr>
          <p:cNvSpPr txBox="1"/>
          <p:nvPr/>
        </p:nvSpPr>
        <p:spPr>
          <a:xfrm>
            <a:off x="7823894" y="4721418"/>
            <a:ext cx="2523833" cy="954107"/>
          </a:xfrm>
          <a:prstGeom prst="rect">
            <a:avLst/>
          </a:prstGeom>
          <a:noFill/>
        </p:spPr>
        <p:txBody>
          <a:bodyPr wrap="square" rtlCol="0">
            <a:spAutoFit/>
          </a:bodyPr>
          <a:lstStyle/>
          <a:p>
            <a:r>
              <a:rPr lang="es-MX" sz="2800" dirty="0"/>
              <a:t>Matemática</a:t>
            </a:r>
          </a:p>
          <a:p>
            <a:r>
              <a:rPr lang="es-MX" sz="2800" dirty="0"/>
              <a:t>Dialéctica</a:t>
            </a:r>
            <a:endParaRPr lang="es-PE" sz="2800" dirty="0"/>
          </a:p>
        </p:txBody>
      </p:sp>
      <p:sp>
        <p:nvSpPr>
          <p:cNvPr id="21" name="TextBox 20">
            <a:extLst>
              <a:ext uri="{FF2B5EF4-FFF2-40B4-BE49-F238E27FC236}">
                <a16:creationId xmlns:a16="http://schemas.microsoft.com/office/drawing/2014/main" id="{0585B192-C5AD-C8AC-91D7-0062AF3547BD}"/>
              </a:ext>
            </a:extLst>
          </p:cNvPr>
          <p:cNvSpPr txBox="1"/>
          <p:nvPr/>
        </p:nvSpPr>
        <p:spPr>
          <a:xfrm>
            <a:off x="8287790" y="1110420"/>
            <a:ext cx="705196" cy="923330"/>
          </a:xfrm>
          <a:prstGeom prst="rect">
            <a:avLst/>
          </a:prstGeom>
          <a:noFill/>
          <a:ln>
            <a:noFill/>
          </a:ln>
        </p:spPr>
        <p:txBody>
          <a:bodyPr wrap="square" rtlCol="0">
            <a:spAutoFit/>
          </a:bodyPr>
          <a:lstStyle/>
          <a:p>
            <a:r>
              <a:rPr lang="es-MX" sz="5400" dirty="0">
                <a:solidFill>
                  <a:srgbClr val="0070C0"/>
                </a:solidFill>
              </a:rPr>
              <a:t>C</a:t>
            </a:r>
            <a:endParaRPr lang="es-PE" sz="5400" dirty="0">
              <a:solidFill>
                <a:srgbClr val="0070C0"/>
              </a:solidFill>
            </a:endParaRPr>
          </a:p>
        </p:txBody>
      </p:sp>
      <p:sp>
        <p:nvSpPr>
          <p:cNvPr id="26" name="TextBox 25">
            <a:extLst>
              <a:ext uri="{FF2B5EF4-FFF2-40B4-BE49-F238E27FC236}">
                <a16:creationId xmlns:a16="http://schemas.microsoft.com/office/drawing/2014/main" id="{625F7A7F-906B-9C30-0CFE-FF9A4884DD24}"/>
              </a:ext>
            </a:extLst>
          </p:cNvPr>
          <p:cNvSpPr txBox="1"/>
          <p:nvPr/>
        </p:nvSpPr>
        <p:spPr>
          <a:xfrm>
            <a:off x="750708" y="2520815"/>
            <a:ext cx="6359447" cy="2677656"/>
          </a:xfrm>
          <a:prstGeom prst="rect">
            <a:avLst/>
          </a:prstGeom>
          <a:noFill/>
        </p:spPr>
        <p:txBody>
          <a:bodyPr wrap="square" rtlCol="0">
            <a:spAutoFit/>
          </a:bodyPr>
          <a:lstStyle/>
          <a:p>
            <a:pPr marL="457200" indent="-457200">
              <a:buFont typeface="Arial" panose="020B0604020202020204" pitchFamily="34" charset="0"/>
              <a:buChar char="•"/>
            </a:pPr>
            <a:r>
              <a:rPr lang="es-MX" sz="2800" dirty="0"/>
              <a:t>Matemáticas =&gt; instrumento pedagógico por excelencia.</a:t>
            </a:r>
          </a:p>
          <a:p>
            <a:pPr marL="457200" indent="-457200">
              <a:buFont typeface="Arial" panose="020B0604020202020204" pitchFamily="34" charset="0"/>
              <a:buChar char="•"/>
            </a:pPr>
            <a:r>
              <a:rPr lang="es-MX" sz="2800" dirty="0"/>
              <a:t>Entes matemáticos corresponden a formas.</a:t>
            </a:r>
          </a:p>
          <a:p>
            <a:pPr marL="457200" indent="-457200">
              <a:buFont typeface="Arial" panose="020B0604020202020204" pitchFamily="34" charset="0"/>
              <a:buChar char="•"/>
            </a:pPr>
            <a:r>
              <a:rPr lang="es-MX" sz="2800" dirty="0"/>
              <a:t>Representaciones de axiomas y lógica</a:t>
            </a:r>
          </a:p>
          <a:p>
            <a:pPr marL="457200" indent="-457200">
              <a:buFont typeface="Arial" panose="020B0604020202020204" pitchFamily="34" charset="0"/>
              <a:buChar char="•"/>
            </a:pPr>
            <a:r>
              <a:rPr lang="es-MX" sz="2800" dirty="0"/>
              <a:t>Arte de discusión racional =&gt; Dialéctica</a:t>
            </a:r>
            <a:endParaRPr lang="es-PE" sz="2800" dirty="0"/>
          </a:p>
        </p:txBody>
      </p:sp>
    </p:spTree>
    <p:extLst>
      <p:ext uri="{BB962C8B-B14F-4D97-AF65-F5344CB8AC3E}">
        <p14:creationId xmlns:p14="http://schemas.microsoft.com/office/powerpoint/2010/main" val="18783943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39D07-5108-3A63-D94C-5DE6BFFA6D81}"/>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1063DC9-90BD-2167-878E-D567905F75A5}"/>
              </a:ext>
            </a:extLst>
          </p:cNvPr>
          <p:cNvCxnSpPr/>
          <p:nvPr/>
        </p:nvCxnSpPr>
        <p:spPr>
          <a:xfrm>
            <a:off x="1248756" y="1959956"/>
            <a:ext cx="9225280"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638D65B-F732-1A52-1C4F-221742D23548}"/>
              </a:ext>
            </a:extLst>
          </p:cNvPr>
          <p:cNvSpPr txBox="1"/>
          <p:nvPr/>
        </p:nvSpPr>
        <p:spPr>
          <a:xfrm>
            <a:off x="1960070" y="765339"/>
            <a:ext cx="8994370" cy="584775"/>
          </a:xfrm>
          <a:prstGeom prst="rect">
            <a:avLst/>
          </a:prstGeom>
          <a:noFill/>
        </p:spPr>
        <p:txBody>
          <a:bodyPr wrap="square" rtlCol="0">
            <a:spAutoFit/>
          </a:bodyPr>
          <a:lstStyle/>
          <a:p>
            <a:r>
              <a:rPr lang="es-MX" sz="3200" dirty="0">
                <a:solidFill>
                  <a:srgbClr val="FF0000"/>
                </a:solidFill>
              </a:rPr>
              <a:t>Doxa                                                                  Episteme</a:t>
            </a:r>
            <a:endParaRPr lang="es-PE" sz="3200" dirty="0">
              <a:solidFill>
                <a:srgbClr val="FF0000"/>
              </a:solidFill>
            </a:endParaRPr>
          </a:p>
        </p:txBody>
      </p:sp>
      <p:sp>
        <p:nvSpPr>
          <p:cNvPr id="6" name="TextBox 5">
            <a:extLst>
              <a:ext uri="{FF2B5EF4-FFF2-40B4-BE49-F238E27FC236}">
                <a16:creationId xmlns:a16="http://schemas.microsoft.com/office/drawing/2014/main" id="{1BDC40A6-C29B-5069-F92E-11EB44F9CF7C}"/>
              </a:ext>
            </a:extLst>
          </p:cNvPr>
          <p:cNvSpPr txBox="1"/>
          <p:nvPr/>
        </p:nvSpPr>
        <p:spPr>
          <a:xfrm>
            <a:off x="4991793" y="319063"/>
            <a:ext cx="2308166" cy="523220"/>
          </a:xfrm>
          <a:prstGeom prst="rect">
            <a:avLst/>
          </a:prstGeom>
          <a:noFill/>
        </p:spPr>
        <p:txBody>
          <a:bodyPr wrap="square" rtlCol="0">
            <a:spAutoFit/>
          </a:bodyPr>
          <a:lstStyle/>
          <a:p>
            <a:r>
              <a:rPr lang="es-MX" sz="2800" dirty="0"/>
              <a:t>(proceso)</a:t>
            </a:r>
            <a:endParaRPr lang="es-PE" sz="2800" dirty="0"/>
          </a:p>
        </p:txBody>
      </p:sp>
      <p:sp>
        <p:nvSpPr>
          <p:cNvPr id="7" name="Arrow: Right 6">
            <a:extLst>
              <a:ext uri="{FF2B5EF4-FFF2-40B4-BE49-F238E27FC236}">
                <a16:creationId xmlns:a16="http://schemas.microsoft.com/office/drawing/2014/main" id="{1D529854-F8E8-D056-5B98-F5828F32E963}"/>
              </a:ext>
            </a:extLst>
          </p:cNvPr>
          <p:cNvSpPr/>
          <p:nvPr/>
        </p:nvSpPr>
        <p:spPr>
          <a:xfrm>
            <a:off x="5295208" y="913251"/>
            <a:ext cx="1130531" cy="2262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11" name="Straight Connector 10">
            <a:extLst>
              <a:ext uri="{FF2B5EF4-FFF2-40B4-BE49-F238E27FC236}">
                <a16:creationId xmlns:a16="http://schemas.microsoft.com/office/drawing/2014/main" id="{789695E5-2BE9-97A7-1424-4F0D4A3D15C8}"/>
              </a:ext>
            </a:extLst>
          </p:cNvPr>
          <p:cNvCxnSpPr>
            <a:cxnSpLocks/>
          </p:cNvCxnSpPr>
          <p:nvPr/>
        </p:nvCxnSpPr>
        <p:spPr>
          <a:xfrm flipV="1">
            <a:off x="8464197" y="1660697"/>
            <a:ext cx="0" cy="4254522"/>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F7E4237-CC0D-CFBC-12A3-14DCEB29E387}"/>
              </a:ext>
            </a:extLst>
          </p:cNvPr>
          <p:cNvSpPr txBox="1"/>
          <p:nvPr/>
        </p:nvSpPr>
        <p:spPr>
          <a:xfrm>
            <a:off x="8500683" y="2474659"/>
            <a:ext cx="1973353" cy="523220"/>
          </a:xfrm>
          <a:prstGeom prst="rect">
            <a:avLst/>
          </a:prstGeom>
          <a:noFill/>
        </p:spPr>
        <p:txBody>
          <a:bodyPr wrap="square" rtlCol="0">
            <a:spAutoFit/>
          </a:bodyPr>
          <a:lstStyle/>
          <a:p>
            <a:r>
              <a:rPr lang="es-MX" sz="2800" dirty="0"/>
              <a:t>Intelección</a:t>
            </a:r>
            <a:endParaRPr lang="es-PE" sz="2800" dirty="0"/>
          </a:p>
        </p:txBody>
      </p:sp>
      <p:sp>
        <p:nvSpPr>
          <p:cNvPr id="16" name="TextBox 15">
            <a:extLst>
              <a:ext uri="{FF2B5EF4-FFF2-40B4-BE49-F238E27FC236}">
                <a16:creationId xmlns:a16="http://schemas.microsoft.com/office/drawing/2014/main" id="{DEDF4498-32C8-0594-1B86-4F426A522699}"/>
              </a:ext>
            </a:extLst>
          </p:cNvPr>
          <p:cNvSpPr txBox="1"/>
          <p:nvPr/>
        </p:nvSpPr>
        <p:spPr>
          <a:xfrm>
            <a:off x="8783317" y="3668694"/>
            <a:ext cx="1973353" cy="523220"/>
          </a:xfrm>
          <a:prstGeom prst="rect">
            <a:avLst/>
          </a:prstGeom>
          <a:noFill/>
        </p:spPr>
        <p:txBody>
          <a:bodyPr wrap="square" rtlCol="0">
            <a:spAutoFit/>
          </a:bodyPr>
          <a:lstStyle/>
          <a:p>
            <a:r>
              <a:rPr lang="es-MX" sz="2800" dirty="0"/>
              <a:t>Noesis</a:t>
            </a:r>
            <a:endParaRPr lang="es-PE" sz="2800" dirty="0"/>
          </a:p>
        </p:txBody>
      </p:sp>
      <p:sp>
        <p:nvSpPr>
          <p:cNvPr id="20" name="TextBox 19">
            <a:extLst>
              <a:ext uri="{FF2B5EF4-FFF2-40B4-BE49-F238E27FC236}">
                <a16:creationId xmlns:a16="http://schemas.microsoft.com/office/drawing/2014/main" id="{66CE0630-EFB4-B93A-4A76-BC4C80290686}"/>
              </a:ext>
            </a:extLst>
          </p:cNvPr>
          <p:cNvSpPr txBox="1"/>
          <p:nvPr/>
        </p:nvSpPr>
        <p:spPr>
          <a:xfrm>
            <a:off x="8720504" y="4834809"/>
            <a:ext cx="1973353" cy="1384995"/>
          </a:xfrm>
          <a:prstGeom prst="rect">
            <a:avLst/>
          </a:prstGeom>
          <a:noFill/>
        </p:spPr>
        <p:txBody>
          <a:bodyPr wrap="square" rtlCol="0">
            <a:spAutoFit/>
          </a:bodyPr>
          <a:lstStyle/>
          <a:p>
            <a:r>
              <a:rPr lang="es-MX" sz="2800" dirty="0"/>
              <a:t>Captación intelectiva</a:t>
            </a:r>
          </a:p>
          <a:p>
            <a:r>
              <a:rPr lang="es-MX" sz="2800" dirty="0"/>
              <a:t>inmediata</a:t>
            </a:r>
            <a:endParaRPr lang="es-PE" sz="2800" dirty="0"/>
          </a:p>
        </p:txBody>
      </p:sp>
      <p:sp>
        <p:nvSpPr>
          <p:cNvPr id="21" name="TextBox 20">
            <a:extLst>
              <a:ext uri="{FF2B5EF4-FFF2-40B4-BE49-F238E27FC236}">
                <a16:creationId xmlns:a16="http://schemas.microsoft.com/office/drawing/2014/main" id="{846782E7-29DB-44AB-302D-1C2F4B00168D}"/>
              </a:ext>
            </a:extLst>
          </p:cNvPr>
          <p:cNvSpPr txBox="1"/>
          <p:nvPr/>
        </p:nvSpPr>
        <p:spPr>
          <a:xfrm>
            <a:off x="9354582" y="1389244"/>
            <a:ext cx="705196" cy="923330"/>
          </a:xfrm>
          <a:prstGeom prst="rect">
            <a:avLst/>
          </a:prstGeom>
          <a:noFill/>
          <a:ln>
            <a:noFill/>
          </a:ln>
        </p:spPr>
        <p:txBody>
          <a:bodyPr wrap="square" rtlCol="0">
            <a:spAutoFit/>
          </a:bodyPr>
          <a:lstStyle/>
          <a:p>
            <a:r>
              <a:rPr lang="es-MX" sz="5400" dirty="0">
                <a:solidFill>
                  <a:srgbClr val="0070C0"/>
                </a:solidFill>
              </a:rPr>
              <a:t>D</a:t>
            </a:r>
            <a:endParaRPr lang="es-PE" sz="5400" dirty="0">
              <a:solidFill>
                <a:srgbClr val="0070C0"/>
              </a:solidFill>
            </a:endParaRPr>
          </a:p>
        </p:txBody>
      </p:sp>
      <p:sp>
        <p:nvSpPr>
          <p:cNvPr id="22" name="TextBox 21">
            <a:extLst>
              <a:ext uri="{FF2B5EF4-FFF2-40B4-BE49-F238E27FC236}">
                <a16:creationId xmlns:a16="http://schemas.microsoft.com/office/drawing/2014/main" id="{FC37E538-066F-45C2-10A8-4EA13BDFADC8}"/>
              </a:ext>
            </a:extLst>
          </p:cNvPr>
          <p:cNvSpPr txBox="1"/>
          <p:nvPr/>
        </p:nvSpPr>
        <p:spPr>
          <a:xfrm>
            <a:off x="483659" y="2280644"/>
            <a:ext cx="8077286" cy="3970318"/>
          </a:xfrm>
          <a:prstGeom prst="rect">
            <a:avLst/>
          </a:prstGeom>
          <a:noFill/>
        </p:spPr>
        <p:txBody>
          <a:bodyPr wrap="square" rtlCol="0">
            <a:spAutoFit/>
          </a:bodyPr>
          <a:lstStyle/>
          <a:p>
            <a:pPr marL="457200" indent="-457200">
              <a:buFont typeface="Arial" panose="020B0604020202020204" pitchFamily="34" charset="0"/>
              <a:buChar char="•"/>
            </a:pPr>
            <a:r>
              <a:rPr lang="es-MX" sz="2800" dirty="0"/>
              <a:t>Captación de formas Inmediata =&gt; sin mediación</a:t>
            </a:r>
          </a:p>
          <a:p>
            <a:pPr marL="457200" indent="-457200">
              <a:buFont typeface="Arial" panose="020B0604020202020204" pitchFamily="34" charset="0"/>
              <a:buChar char="•"/>
            </a:pPr>
            <a:r>
              <a:rPr lang="es-MX" sz="2800" dirty="0" err="1"/>
              <a:t>Supra-lingüistica</a:t>
            </a:r>
            <a:r>
              <a:rPr lang="es-MX" sz="2800" dirty="0"/>
              <a:t>: “las palabras sobran”</a:t>
            </a:r>
          </a:p>
          <a:p>
            <a:pPr marL="457200" indent="-457200">
              <a:buFont typeface="Arial" panose="020B0604020202020204" pitchFamily="34" charset="0"/>
              <a:buChar char="•"/>
            </a:pPr>
            <a:r>
              <a:rPr lang="es-MX" sz="2800" dirty="0"/>
              <a:t>Conocimiento =&gt; mirar con los ojos del alma</a:t>
            </a:r>
          </a:p>
          <a:p>
            <a:pPr marL="457200" indent="-457200">
              <a:buFont typeface="Arial" panose="020B0604020202020204" pitchFamily="34" charset="0"/>
              <a:buChar char="•"/>
            </a:pPr>
            <a:r>
              <a:rPr lang="es-MX" sz="2800" dirty="0"/>
              <a:t>“La vista es como el alma del ojo”</a:t>
            </a:r>
          </a:p>
          <a:p>
            <a:pPr marL="457200" indent="-457200">
              <a:buFont typeface="Arial" panose="020B0604020202020204" pitchFamily="34" charset="0"/>
              <a:buChar char="•"/>
            </a:pPr>
            <a:r>
              <a:rPr lang="es-MX" sz="2800" dirty="0"/>
              <a:t>Se necesita de luz para ver y la forma del bien, que es como el sol, para </a:t>
            </a:r>
            <a:r>
              <a:rPr lang="es-MX" sz="2800" dirty="0" err="1"/>
              <a:t>inteligir</a:t>
            </a:r>
            <a:r>
              <a:rPr lang="es-MX" sz="2800" dirty="0"/>
              <a:t>. </a:t>
            </a:r>
          </a:p>
          <a:p>
            <a:pPr marL="457200" indent="-457200">
              <a:buFont typeface="Arial" panose="020B0604020202020204" pitchFamily="34" charset="0"/>
              <a:buChar char="•"/>
            </a:pPr>
            <a:r>
              <a:rPr lang="es-MX" sz="2800" dirty="0"/>
              <a:t>1eros principios ontológicos + fin último =&gt; Aristóteles le llamará causas</a:t>
            </a:r>
          </a:p>
          <a:p>
            <a:pPr marL="457200" indent="-457200">
              <a:buFont typeface="Arial" panose="020B0604020202020204" pitchFamily="34" charset="0"/>
              <a:buChar char="•"/>
            </a:pPr>
            <a:r>
              <a:rPr lang="es-MX" sz="2800" dirty="0"/>
              <a:t>Se puede ocupar de lo divino</a:t>
            </a:r>
          </a:p>
        </p:txBody>
      </p:sp>
      <p:pic>
        <p:nvPicPr>
          <p:cNvPr id="23" name="Picture 22">
            <a:extLst>
              <a:ext uri="{FF2B5EF4-FFF2-40B4-BE49-F238E27FC236}">
                <a16:creationId xmlns:a16="http://schemas.microsoft.com/office/drawing/2014/main" id="{32D2DE2B-4AA5-0247-848F-CC1A8DAE74A1}"/>
              </a:ext>
            </a:extLst>
          </p:cNvPr>
          <p:cNvPicPr>
            <a:picLocks noChangeAspect="1"/>
          </p:cNvPicPr>
          <p:nvPr/>
        </p:nvPicPr>
        <p:blipFill>
          <a:blip r:embed="rId2"/>
          <a:stretch>
            <a:fillRect/>
          </a:stretch>
        </p:blipFill>
        <p:spPr>
          <a:xfrm>
            <a:off x="10756670" y="3328480"/>
            <a:ext cx="1276350" cy="1285875"/>
          </a:xfrm>
          <a:prstGeom prst="rect">
            <a:avLst/>
          </a:prstGeom>
        </p:spPr>
      </p:pic>
    </p:spTree>
    <p:extLst>
      <p:ext uri="{BB962C8B-B14F-4D97-AF65-F5344CB8AC3E}">
        <p14:creationId xmlns:p14="http://schemas.microsoft.com/office/powerpoint/2010/main" val="9085849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1FE87-5CC3-30DE-6535-25024084F441}"/>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E4907DA-4868-8E4B-4DB4-D5E419AF0DD2}"/>
              </a:ext>
            </a:extLst>
          </p:cNvPr>
          <p:cNvCxnSpPr/>
          <p:nvPr/>
        </p:nvCxnSpPr>
        <p:spPr>
          <a:xfrm>
            <a:off x="1305283" y="1198946"/>
            <a:ext cx="9225280"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C21DF43-666B-8253-33C1-6CAC9EA3F768}"/>
              </a:ext>
            </a:extLst>
          </p:cNvPr>
          <p:cNvSpPr txBox="1"/>
          <p:nvPr/>
        </p:nvSpPr>
        <p:spPr>
          <a:xfrm>
            <a:off x="2252750" y="445707"/>
            <a:ext cx="8495608" cy="523220"/>
          </a:xfrm>
          <a:prstGeom prst="rect">
            <a:avLst/>
          </a:prstGeom>
          <a:noFill/>
        </p:spPr>
        <p:txBody>
          <a:bodyPr wrap="square" rtlCol="0">
            <a:spAutoFit/>
          </a:bodyPr>
          <a:lstStyle/>
          <a:p>
            <a:r>
              <a:rPr lang="es-MX" sz="2800" dirty="0"/>
              <a:t>Doxa                                                                  Episteme</a:t>
            </a:r>
            <a:endParaRPr lang="es-PE" sz="2800" dirty="0"/>
          </a:p>
        </p:txBody>
      </p:sp>
      <p:sp>
        <p:nvSpPr>
          <p:cNvPr id="6" name="TextBox 5">
            <a:extLst>
              <a:ext uri="{FF2B5EF4-FFF2-40B4-BE49-F238E27FC236}">
                <a16:creationId xmlns:a16="http://schemas.microsoft.com/office/drawing/2014/main" id="{EFF165D4-1387-25FD-C14C-DEFFE0DD7789}"/>
              </a:ext>
            </a:extLst>
          </p:cNvPr>
          <p:cNvSpPr txBox="1"/>
          <p:nvPr/>
        </p:nvSpPr>
        <p:spPr>
          <a:xfrm>
            <a:off x="5066608" y="0"/>
            <a:ext cx="2308166" cy="523220"/>
          </a:xfrm>
          <a:prstGeom prst="rect">
            <a:avLst/>
          </a:prstGeom>
          <a:noFill/>
        </p:spPr>
        <p:txBody>
          <a:bodyPr wrap="square" rtlCol="0">
            <a:spAutoFit/>
          </a:bodyPr>
          <a:lstStyle/>
          <a:p>
            <a:r>
              <a:rPr lang="es-MX" sz="2800" dirty="0"/>
              <a:t>(proceso)</a:t>
            </a:r>
            <a:endParaRPr lang="es-PE" sz="2800" dirty="0"/>
          </a:p>
        </p:txBody>
      </p:sp>
      <p:sp>
        <p:nvSpPr>
          <p:cNvPr id="7" name="Arrow: Right 6">
            <a:extLst>
              <a:ext uri="{FF2B5EF4-FFF2-40B4-BE49-F238E27FC236}">
                <a16:creationId xmlns:a16="http://schemas.microsoft.com/office/drawing/2014/main" id="{F6B558CB-B43B-D2E7-CCAD-7137882B6E19}"/>
              </a:ext>
            </a:extLst>
          </p:cNvPr>
          <p:cNvSpPr/>
          <p:nvPr/>
        </p:nvSpPr>
        <p:spPr>
          <a:xfrm>
            <a:off x="5370023" y="594188"/>
            <a:ext cx="1130531" cy="2262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 name="Straight Connector 1">
            <a:extLst>
              <a:ext uri="{FF2B5EF4-FFF2-40B4-BE49-F238E27FC236}">
                <a16:creationId xmlns:a16="http://schemas.microsoft.com/office/drawing/2014/main" id="{061D77F4-034A-4A2C-3BE7-AFFA29588100}"/>
              </a:ext>
            </a:extLst>
          </p:cNvPr>
          <p:cNvCxnSpPr>
            <a:cxnSpLocks/>
          </p:cNvCxnSpPr>
          <p:nvPr/>
        </p:nvCxnSpPr>
        <p:spPr>
          <a:xfrm flipV="1">
            <a:off x="5852806" y="899687"/>
            <a:ext cx="0" cy="665943"/>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61DE0CE-56B2-ECAF-1AE2-D7C306579CCA}"/>
              </a:ext>
            </a:extLst>
          </p:cNvPr>
          <p:cNvCxnSpPr>
            <a:cxnSpLocks/>
          </p:cNvCxnSpPr>
          <p:nvPr/>
        </p:nvCxnSpPr>
        <p:spPr>
          <a:xfrm flipV="1">
            <a:off x="3478137" y="899687"/>
            <a:ext cx="0" cy="665943"/>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0ED530D-0641-177F-822E-2FB86A8B9A5E}"/>
              </a:ext>
            </a:extLst>
          </p:cNvPr>
          <p:cNvCxnSpPr>
            <a:cxnSpLocks/>
          </p:cNvCxnSpPr>
          <p:nvPr/>
        </p:nvCxnSpPr>
        <p:spPr>
          <a:xfrm flipV="1">
            <a:off x="8216391" y="899687"/>
            <a:ext cx="0" cy="665943"/>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6134B8C-E716-6ECD-0FDF-841C0470D2E7}"/>
              </a:ext>
            </a:extLst>
          </p:cNvPr>
          <p:cNvSpPr txBox="1"/>
          <p:nvPr/>
        </p:nvSpPr>
        <p:spPr>
          <a:xfrm>
            <a:off x="489551" y="1644871"/>
            <a:ext cx="10891473" cy="5262979"/>
          </a:xfrm>
          <a:prstGeom prst="rect">
            <a:avLst/>
          </a:prstGeom>
          <a:noFill/>
        </p:spPr>
        <p:txBody>
          <a:bodyPr wrap="square" rtlCol="0">
            <a:spAutoFit/>
          </a:bodyPr>
          <a:lstStyle/>
          <a:p>
            <a:pPr marL="457200" indent="-457200">
              <a:buFont typeface="Arial" panose="020B0604020202020204" pitchFamily="34" charset="0"/>
              <a:buChar char="•"/>
            </a:pPr>
            <a:r>
              <a:rPr lang="es-MX" sz="2800" dirty="0"/>
              <a:t>Platón quiere expulsar a los poetas de la </a:t>
            </a:r>
            <a:r>
              <a:rPr lang="es-MX" sz="2800" dirty="0" err="1"/>
              <a:t>pólis</a:t>
            </a:r>
            <a:r>
              <a:rPr lang="es-MX" sz="2800" dirty="0"/>
              <a:t>.</a:t>
            </a:r>
          </a:p>
          <a:p>
            <a:pPr marL="457200" indent="-457200">
              <a:buFont typeface="Arial" panose="020B0604020202020204" pitchFamily="34" charset="0"/>
              <a:buChar char="•"/>
            </a:pPr>
            <a:r>
              <a:rPr lang="es-MX" sz="2800" dirty="0"/>
              <a:t>Sustituir poesía por matemáticas y gimnasia.</a:t>
            </a:r>
          </a:p>
          <a:p>
            <a:pPr marL="457200" indent="-457200">
              <a:buFont typeface="Arial" panose="020B0604020202020204" pitchFamily="34" charset="0"/>
              <a:buChar char="•"/>
            </a:pPr>
            <a:r>
              <a:rPr lang="es-MX" sz="2800" dirty="0"/>
              <a:t>Los poetas mienten, tanto épicos como trágicos, sobre el carácter de los dioses y respecto del antropomorfismo olímpico.</a:t>
            </a:r>
          </a:p>
          <a:p>
            <a:pPr marL="457200" indent="-457200">
              <a:buFont typeface="Arial" panose="020B0604020202020204" pitchFamily="34" charset="0"/>
              <a:buChar char="•"/>
            </a:pPr>
            <a:r>
              <a:rPr lang="es-MX" sz="2800" dirty="0"/>
              <a:t>Para Platón, lo divino en la forma del bien no es antropomórfica. Para los poetas, los dioses son imperfectos.</a:t>
            </a:r>
          </a:p>
          <a:p>
            <a:pPr marL="457200" indent="-457200">
              <a:buFont typeface="Arial" panose="020B0604020202020204" pitchFamily="34" charset="0"/>
              <a:buChar char="•"/>
            </a:pPr>
            <a:r>
              <a:rPr lang="es-MX" sz="2800" dirty="0"/>
              <a:t>Jenófanes de Colofón: vs la tragedia porque miente sobre el sentido de la vida humana (otorgan un role desmesurado a las pasiones humanas) y describen al ser humano como un esclavo de las pasiones y la fortuna.</a:t>
            </a:r>
          </a:p>
          <a:p>
            <a:pPr marL="457200" indent="-457200">
              <a:buFont typeface="Arial" panose="020B0604020202020204" pitchFamily="34" charset="0"/>
              <a:buChar char="•"/>
            </a:pPr>
            <a:r>
              <a:rPr lang="es-MX" sz="2800" dirty="0"/>
              <a:t>Para Platón, el logos debe regir lo humano, no las pasiones. (Figura del </a:t>
            </a:r>
            <a:r>
              <a:rPr lang="es-MX" sz="2800" dirty="0" err="1"/>
              <a:t>áuriga</a:t>
            </a:r>
            <a:r>
              <a:rPr lang="es-MX" sz="2800" dirty="0"/>
              <a:t>)</a:t>
            </a:r>
          </a:p>
        </p:txBody>
      </p:sp>
    </p:spTree>
    <p:extLst>
      <p:ext uri="{BB962C8B-B14F-4D97-AF65-F5344CB8AC3E}">
        <p14:creationId xmlns:p14="http://schemas.microsoft.com/office/powerpoint/2010/main" val="37880708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779EB-9F91-8026-46F0-CCAA48A2DE7E}"/>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A8B5DB8-D9EC-ADC3-AF2B-B8C97B6B84DB}"/>
              </a:ext>
            </a:extLst>
          </p:cNvPr>
          <p:cNvCxnSpPr/>
          <p:nvPr/>
        </p:nvCxnSpPr>
        <p:spPr>
          <a:xfrm>
            <a:off x="1305283" y="1198946"/>
            <a:ext cx="9225280"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885340D-1CCE-1F93-D594-02E9687CACAB}"/>
              </a:ext>
            </a:extLst>
          </p:cNvPr>
          <p:cNvSpPr txBox="1"/>
          <p:nvPr/>
        </p:nvSpPr>
        <p:spPr>
          <a:xfrm>
            <a:off x="2252750" y="445707"/>
            <a:ext cx="8495608" cy="523220"/>
          </a:xfrm>
          <a:prstGeom prst="rect">
            <a:avLst/>
          </a:prstGeom>
          <a:noFill/>
        </p:spPr>
        <p:txBody>
          <a:bodyPr wrap="square" rtlCol="0">
            <a:spAutoFit/>
          </a:bodyPr>
          <a:lstStyle/>
          <a:p>
            <a:r>
              <a:rPr lang="es-MX" sz="2800" dirty="0"/>
              <a:t>Doxa                                                                  Episteme</a:t>
            </a:r>
            <a:endParaRPr lang="es-PE" sz="2800" dirty="0"/>
          </a:p>
        </p:txBody>
      </p:sp>
      <p:sp>
        <p:nvSpPr>
          <p:cNvPr id="6" name="TextBox 5">
            <a:extLst>
              <a:ext uri="{FF2B5EF4-FFF2-40B4-BE49-F238E27FC236}">
                <a16:creationId xmlns:a16="http://schemas.microsoft.com/office/drawing/2014/main" id="{A16C79DC-2330-A8D1-D34B-CD4F4C57BD61}"/>
              </a:ext>
            </a:extLst>
          </p:cNvPr>
          <p:cNvSpPr txBox="1"/>
          <p:nvPr/>
        </p:nvSpPr>
        <p:spPr>
          <a:xfrm>
            <a:off x="5066608" y="0"/>
            <a:ext cx="2308166" cy="523220"/>
          </a:xfrm>
          <a:prstGeom prst="rect">
            <a:avLst/>
          </a:prstGeom>
          <a:noFill/>
        </p:spPr>
        <p:txBody>
          <a:bodyPr wrap="square" rtlCol="0">
            <a:spAutoFit/>
          </a:bodyPr>
          <a:lstStyle/>
          <a:p>
            <a:r>
              <a:rPr lang="es-MX" sz="2800" dirty="0"/>
              <a:t>(proceso)</a:t>
            </a:r>
            <a:endParaRPr lang="es-PE" sz="2800" dirty="0"/>
          </a:p>
        </p:txBody>
      </p:sp>
      <p:sp>
        <p:nvSpPr>
          <p:cNvPr id="7" name="Arrow: Right 6">
            <a:extLst>
              <a:ext uri="{FF2B5EF4-FFF2-40B4-BE49-F238E27FC236}">
                <a16:creationId xmlns:a16="http://schemas.microsoft.com/office/drawing/2014/main" id="{3DE3F7EF-0FCF-09D7-52E5-3F113D4A71E7}"/>
              </a:ext>
            </a:extLst>
          </p:cNvPr>
          <p:cNvSpPr/>
          <p:nvPr/>
        </p:nvSpPr>
        <p:spPr>
          <a:xfrm>
            <a:off x="5370023" y="594188"/>
            <a:ext cx="1130531" cy="2262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 name="Straight Connector 1">
            <a:extLst>
              <a:ext uri="{FF2B5EF4-FFF2-40B4-BE49-F238E27FC236}">
                <a16:creationId xmlns:a16="http://schemas.microsoft.com/office/drawing/2014/main" id="{D1E07BCE-0554-6B43-7EF6-BBB87C533827}"/>
              </a:ext>
            </a:extLst>
          </p:cNvPr>
          <p:cNvCxnSpPr>
            <a:cxnSpLocks/>
          </p:cNvCxnSpPr>
          <p:nvPr/>
        </p:nvCxnSpPr>
        <p:spPr>
          <a:xfrm flipV="1">
            <a:off x="5852806" y="899687"/>
            <a:ext cx="0" cy="665943"/>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98F7FD7-A15B-BE1E-5EEB-24599E22EECA}"/>
              </a:ext>
            </a:extLst>
          </p:cNvPr>
          <p:cNvCxnSpPr>
            <a:cxnSpLocks/>
          </p:cNvCxnSpPr>
          <p:nvPr/>
        </p:nvCxnSpPr>
        <p:spPr>
          <a:xfrm flipV="1">
            <a:off x="3478137" y="899687"/>
            <a:ext cx="0" cy="665943"/>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39E67C4-4FE1-FEB4-4086-D4BF5304643D}"/>
              </a:ext>
            </a:extLst>
          </p:cNvPr>
          <p:cNvCxnSpPr>
            <a:cxnSpLocks/>
          </p:cNvCxnSpPr>
          <p:nvPr/>
        </p:nvCxnSpPr>
        <p:spPr>
          <a:xfrm flipV="1">
            <a:off x="8216391" y="899687"/>
            <a:ext cx="0" cy="665943"/>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5AE97A2-F314-1A08-8CE0-F2D7B03E7D64}"/>
              </a:ext>
            </a:extLst>
          </p:cNvPr>
          <p:cNvSpPr txBox="1"/>
          <p:nvPr/>
        </p:nvSpPr>
        <p:spPr>
          <a:xfrm>
            <a:off x="489551" y="1644871"/>
            <a:ext cx="10891473" cy="4401205"/>
          </a:xfrm>
          <a:prstGeom prst="rect">
            <a:avLst/>
          </a:prstGeom>
          <a:noFill/>
        </p:spPr>
        <p:txBody>
          <a:bodyPr wrap="square" rtlCol="0">
            <a:spAutoFit/>
          </a:bodyPr>
          <a:lstStyle/>
          <a:p>
            <a:pPr marL="457200" indent="-457200">
              <a:buFont typeface="Arial" panose="020B0604020202020204" pitchFamily="34" charset="0"/>
              <a:buChar char="•"/>
            </a:pPr>
            <a:r>
              <a:rPr lang="es-MX" sz="2800" dirty="0"/>
              <a:t>Platón: el sabio tiene autosuficiencia contemplando el bien.</a:t>
            </a:r>
          </a:p>
          <a:p>
            <a:pPr marL="457200" indent="-457200">
              <a:buFont typeface="Arial" panose="020B0604020202020204" pitchFamily="34" charset="0"/>
              <a:buChar char="•"/>
            </a:pPr>
            <a:r>
              <a:rPr lang="es-MX" sz="2800" dirty="0"/>
              <a:t>En el sol, confluyen Bondad, Belleza y Verdad.</a:t>
            </a:r>
          </a:p>
          <a:p>
            <a:pPr marL="457200" indent="-457200">
              <a:buFont typeface="Arial" panose="020B0604020202020204" pitchFamily="34" charset="0"/>
              <a:buChar char="•"/>
            </a:pPr>
            <a:r>
              <a:rPr lang="es-MX" sz="2800" dirty="0"/>
              <a:t>De la salida de la caverna hay que regresar para (1) darle a cada cosa su lugar y (2) ayudar a los demás (paso político).</a:t>
            </a:r>
          </a:p>
          <a:p>
            <a:pPr marL="457200" indent="-457200">
              <a:buFont typeface="Arial" panose="020B0604020202020204" pitchFamily="34" charset="0"/>
              <a:buChar char="•"/>
            </a:pPr>
            <a:r>
              <a:rPr lang="es-MX" sz="2800" dirty="0"/>
              <a:t>El rey debe ser filósofo porque sabe y porque no quiere ser rey.</a:t>
            </a:r>
          </a:p>
          <a:p>
            <a:pPr marL="457200" indent="-457200">
              <a:buFont typeface="Arial" panose="020B0604020202020204" pitchFamily="34" charset="0"/>
              <a:buChar char="•"/>
            </a:pPr>
            <a:r>
              <a:rPr lang="es-MX" sz="2800" dirty="0"/>
              <a:t>Para Platón, la democracia no es un gobierno ideal, sino que teme que incurra en una </a:t>
            </a:r>
            <a:r>
              <a:rPr lang="es-MX" sz="2800" dirty="0" err="1"/>
              <a:t>ochlocracia</a:t>
            </a:r>
            <a:r>
              <a:rPr lang="es-MX" sz="2800" dirty="0"/>
              <a:t>. (y porque condenaron a Sócrates en virtud de que “apoyó a los 30 tiranos” de Esparta) (En realidad no les apoyó, solo no se pronunció, en un momento duro para Atenas durante la guerra del Peloponeso)</a:t>
            </a:r>
          </a:p>
        </p:txBody>
      </p:sp>
    </p:spTree>
    <p:extLst>
      <p:ext uri="{BB962C8B-B14F-4D97-AF65-F5344CB8AC3E}">
        <p14:creationId xmlns:p14="http://schemas.microsoft.com/office/powerpoint/2010/main" val="8295009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78602-5D61-9B86-A78D-DCD18F4D48FA}"/>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0EBDDDD-CC95-8145-58AD-9AF91F377A9B}"/>
              </a:ext>
            </a:extLst>
          </p:cNvPr>
          <p:cNvCxnSpPr/>
          <p:nvPr/>
        </p:nvCxnSpPr>
        <p:spPr>
          <a:xfrm>
            <a:off x="1305283" y="1198946"/>
            <a:ext cx="9225280"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6824265-1A07-7F07-D802-A8BA2E660B68}"/>
              </a:ext>
            </a:extLst>
          </p:cNvPr>
          <p:cNvSpPr txBox="1"/>
          <p:nvPr/>
        </p:nvSpPr>
        <p:spPr>
          <a:xfrm>
            <a:off x="2252750" y="445707"/>
            <a:ext cx="8495608" cy="523220"/>
          </a:xfrm>
          <a:prstGeom prst="rect">
            <a:avLst/>
          </a:prstGeom>
          <a:noFill/>
        </p:spPr>
        <p:txBody>
          <a:bodyPr wrap="square" rtlCol="0">
            <a:spAutoFit/>
          </a:bodyPr>
          <a:lstStyle/>
          <a:p>
            <a:r>
              <a:rPr lang="es-MX" sz="2800" dirty="0"/>
              <a:t>Doxa                                                                  Episteme</a:t>
            </a:r>
            <a:endParaRPr lang="es-PE" sz="2800" dirty="0"/>
          </a:p>
        </p:txBody>
      </p:sp>
      <p:sp>
        <p:nvSpPr>
          <p:cNvPr id="6" name="TextBox 5">
            <a:extLst>
              <a:ext uri="{FF2B5EF4-FFF2-40B4-BE49-F238E27FC236}">
                <a16:creationId xmlns:a16="http://schemas.microsoft.com/office/drawing/2014/main" id="{AED90379-E51A-518B-75F0-F9C96CD599BC}"/>
              </a:ext>
            </a:extLst>
          </p:cNvPr>
          <p:cNvSpPr txBox="1"/>
          <p:nvPr/>
        </p:nvSpPr>
        <p:spPr>
          <a:xfrm>
            <a:off x="5066608" y="0"/>
            <a:ext cx="2308166" cy="523220"/>
          </a:xfrm>
          <a:prstGeom prst="rect">
            <a:avLst/>
          </a:prstGeom>
          <a:noFill/>
        </p:spPr>
        <p:txBody>
          <a:bodyPr wrap="square" rtlCol="0">
            <a:spAutoFit/>
          </a:bodyPr>
          <a:lstStyle/>
          <a:p>
            <a:r>
              <a:rPr lang="es-MX" sz="2800" dirty="0"/>
              <a:t>(proceso)</a:t>
            </a:r>
            <a:endParaRPr lang="es-PE" sz="2800" dirty="0"/>
          </a:p>
        </p:txBody>
      </p:sp>
      <p:sp>
        <p:nvSpPr>
          <p:cNvPr id="7" name="Arrow: Right 6">
            <a:extLst>
              <a:ext uri="{FF2B5EF4-FFF2-40B4-BE49-F238E27FC236}">
                <a16:creationId xmlns:a16="http://schemas.microsoft.com/office/drawing/2014/main" id="{A7067964-C437-6CCA-23A5-A15DB54A56C4}"/>
              </a:ext>
            </a:extLst>
          </p:cNvPr>
          <p:cNvSpPr/>
          <p:nvPr/>
        </p:nvSpPr>
        <p:spPr>
          <a:xfrm>
            <a:off x="5370023" y="594188"/>
            <a:ext cx="1130531" cy="2262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 name="Straight Connector 1">
            <a:extLst>
              <a:ext uri="{FF2B5EF4-FFF2-40B4-BE49-F238E27FC236}">
                <a16:creationId xmlns:a16="http://schemas.microsoft.com/office/drawing/2014/main" id="{6371873C-2619-F1FA-18FE-352432437462}"/>
              </a:ext>
            </a:extLst>
          </p:cNvPr>
          <p:cNvCxnSpPr>
            <a:cxnSpLocks/>
          </p:cNvCxnSpPr>
          <p:nvPr/>
        </p:nvCxnSpPr>
        <p:spPr>
          <a:xfrm flipV="1">
            <a:off x="5852806" y="899687"/>
            <a:ext cx="0" cy="665943"/>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3C186FA-7754-A20C-9C7C-69DCDEFC3C29}"/>
              </a:ext>
            </a:extLst>
          </p:cNvPr>
          <p:cNvCxnSpPr>
            <a:cxnSpLocks/>
          </p:cNvCxnSpPr>
          <p:nvPr/>
        </p:nvCxnSpPr>
        <p:spPr>
          <a:xfrm flipV="1">
            <a:off x="3478137" y="899687"/>
            <a:ext cx="0" cy="665943"/>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36330F-552C-B3F3-98F2-C4AD2277C4CA}"/>
              </a:ext>
            </a:extLst>
          </p:cNvPr>
          <p:cNvCxnSpPr>
            <a:cxnSpLocks/>
          </p:cNvCxnSpPr>
          <p:nvPr/>
        </p:nvCxnSpPr>
        <p:spPr>
          <a:xfrm flipV="1">
            <a:off x="8216391" y="899687"/>
            <a:ext cx="0" cy="665943"/>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418B370-5AF7-4BB7-6EE4-D87C1FF5D08A}"/>
              </a:ext>
            </a:extLst>
          </p:cNvPr>
          <p:cNvSpPr txBox="1"/>
          <p:nvPr/>
        </p:nvSpPr>
        <p:spPr>
          <a:xfrm>
            <a:off x="489551" y="1644871"/>
            <a:ext cx="10891473" cy="3970318"/>
          </a:xfrm>
          <a:prstGeom prst="rect">
            <a:avLst/>
          </a:prstGeom>
          <a:noFill/>
        </p:spPr>
        <p:txBody>
          <a:bodyPr wrap="square" rtlCol="0">
            <a:spAutoFit/>
          </a:bodyPr>
          <a:lstStyle/>
          <a:p>
            <a:pPr marL="457200" indent="-457200">
              <a:buFont typeface="Arial" panose="020B0604020202020204" pitchFamily="34" charset="0"/>
              <a:buChar char="•"/>
            </a:pPr>
            <a:r>
              <a:rPr lang="es-MX" sz="2800" dirty="0"/>
              <a:t>Propone un régimen estamental sobre la base de qué parte prima del alma en cada uno: </a:t>
            </a:r>
            <a:r>
              <a:rPr lang="es-MX" sz="2800" dirty="0">
                <a:solidFill>
                  <a:srgbClr val="FF0000"/>
                </a:solidFill>
              </a:rPr>
              <a:t>guardianes</a:t>
            </a:r>
            <a:r>
              <a:rPr lang="es-MX" sz="2800" dirty="0"/>
              <a:t> del logos, </a:t>
            </a:r>
            <a:r>
              <a:rPr lang="es-MX" sz="2800" dirty="0">
                <a:solidFill>
                  <a:srgbClr val="FF0000"/>
                </a:solidFill>
              </a:rPr>
              <a:t>guerreros</a:t>
            </a:r>
            <a:r>
              <a:rPr lang="es-MX" sz="2800" dirty="0"/>
              <a:t>, auxiliares en quienes prima el coraje y los </a:t>
            </a:r>
            <a:r>
              <a:rPr lang="es-MX" sz="2800" dirty="0">
                <a:solidFill>
                  <a:srgbClr val="FF0000"/>
                </a:solidFill>
              </a:rPr>
              <a:t>productores</a:t>
            </a:r>
            <a:r>
              <a:rPr lang="es-MX" sz="2800" dirty="0"/>
              <a:t>, en quienes prima la apetencia. </a:t>
            </a:r>
          </a:p>
          <a:p>
            <a:pPr marL="457200" indent="-457200">
              <a:buFont typeface="Arial" panose="020B0604020202020204" pitchFamily="34" charset="0"/>
              <a:buChar char="•"/>
            </a:pPr>
            <a:r>
              <a:rPr lang="es-MX" sz="2800" dirty="0"/>
              <a:t>Existe movilidad social. </a:t>
            </a:r>
          </a:p>
          <a:p>
            <a:pPr marL="457200" indent="-457200">
              <a:buFont typeface="Arial" panose="020B0604020202020204" pitchFamily="34" charset="0"/>
              <a:buChar char="•"/>
            </a:pPr>
            <a:r>
              <a:rPr lang="es-MX" sz="2800" dirty="0"/>
              <a:t>Abolición de esclavitud</a:t>
            </a:r>
          </a:p>
          <a:p>
            <a:pPr marL="457200" indent="-457200">
              <a:buFont typeface="Arial" panose="020B0604020202020204" pitchFamily="34" charset="0"/>
              <a:buChar char="•"/>
            </a:pPr>
            <a:r>
              <a:rPr lang="es-MX" sz="2800" dirty="0"/>
              <a:t>Igualdad entre varones y mujeres</a:t>
            </a:r>
          </a:p>
          <a:p>
            <a:pPr marL="457200" indent="-457200">
              <a:buFont typeface="Arial" panose="020B0604020202020204" pitchFamily="34" charset="0"/>
              <a:buChar char="•"/>
            </a:pPr>
            <a:r>
              <a:rPr lang="es-MX" sz="2800" dirty="0"/>
              <a:t>Abolición de propiedad privada en algunos estamentos</a:t>
            </a:r>
          </a:p>
          <a:p>
            <a:pPr marL="457200" indent="-457200">
              <a:buFont typeface="Arial" panose="020B0604020202020204" pitchFamily="34" charset="0"/>
              <a:buChar char="•"/>
            </a:pPr>
            <a:r>
              <a:rPr lang="es-MX" sz="2800" dirty="0"/>
              <a:t>Res-Pública = Politeia</a:t>
            </a:r>
          </a:p>
        </p:txBody>
      </p:sp>
    </p:spTree>
    <p:extLst>
      <p:ext uri="{BB962C8B-B14F-4D97-AF65-F5344CB8AC3E}">
        <p14:creationId xmlns:p14="http://schemas.microsoft.com/office/powerpoint/2010/main" val="15457826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A351A-50F5-A063-5A5A-DBE23C0AD5C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EB75F80-512F-B912-CC70-260B4C289DED}"/>
              </a:ext>
            </a:extLst>
          </p:cNvPr>
          <p:cNvPicPr>
            <a:picLocks noChangeAspect="1"/>
          </p:cNvPicPr>
          <p:nvPr/>
        </p:nvPicPr>
        <p:blipFill>
          <a:blip r:embed="rId2"/>
          <a:stretch>
            <a:fillRect/>
          </a:stretch>
        </p:blipFill>
        <p:spPr>
          <a:xfrm>
            <a:off x="339209" y="393927"/>
            <a:ext cx="11513581" cy="6070146"/>
          </a:xfrm>
          <a:prstGeom prst="rect">
            <a:avLst/>
          </a:prstGeom>
        </p:spPr>
      </p:pic>
    </p:spTree>
    <p:extLst>
      <p:ext uri="{BB962C8B-B14F-4D97-AF65-F5344CB8AC3E}">
        <p14:creationId xmlns:p14="http://schemas.microsoft.com/office/powerpoint/2010/main" val="31996213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8C6B4-3EBB-EE3E-0FD1-D5D1F4A4592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B5A6418-DB41-BD7A-CA49-E90BC1BB61D1}"/>
              </a:ext>
            </a:extLst>
          </p:cNvPr>
          <p:cNvPicPr>
            <a:picLocks noChangeAspect="1"/>
          </p:cNvPicPr>
          <p:nvPr/>
        </p:nvPicPr>
        <p:blipFill>
          <a:blip r:embed="rId2"/>
          <a:stretch>
            <a:fillRect/>
          </a:stretch>
        </p:blipFill>
        <p:spPr>
          <a:xfrm>
            <a:off x="1116077" y="0"/>
            <a:ext cx="9959846" cy="6788870"/>
          </a:xfrm>
          <a:prstGeom prst="rect">
            <a:avLst/>
          </a:prstGeom>
        </p:spPr>
      </p:pic>
    </p:spTree>
    <p:extLst>
      <p:ext uri="{BB962C8B-B14F-4D97-AF65-F5344CB8AC3E}">
        <p14:creationId xmlns:p14="http://schemas.microsoft.com/office/powerpoint/2010/main" val="20101014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955A0-F46E-AC99-3920-86B25122157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63148FC-E94D-1C0B-568E-9AF3959A3B13}"/>
              </a:ext>
            </a:extLst>
          </p:cNvPr>
          <p:cNvPicPr>
            <a:picLocks noChangeAspect="1"/>
          </p:cNvPicPr>
          <p:nvPr/>
        </p:nvPicPr>
        <p:blipFill>
          <a:blip r:embed="rId2"/>
          <a:stretch>
            <a:fillRect/>
          </a:stretch>
        </p:blipFill>
        <p:spPr>
          <a:xfrm>
            <a:off x="1437010" y="561508"/>
            <a:ext cx="8733357" cy="5734984"/>
          </a:xfrm>
          <a:prstGeom prst="rect">
            <a:avLst/>
          </a:prstGeom>
        </p:spPr>
      </p:pic>
    </p:spTree>
    <p:extLst>
      <p:ext uri="{BB962C8B-B14F-4D97-AF65-F5344CB8AC3E}">
        <p14:creationId xmlns:p14="http://schemas.microsoft.com/office/powerpoint/2010/main" val="17185260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64120-EAE1-F256-63AF-D4A2A23A1243}"/>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D35A247-9965-136E-1F84-07B84DCFD673}"/>
              </a:ext>
            </a:extLst>
          </p:cNvPr>
          <p:cNvCxnSpPr/>
          <p:nvPr/>
        </p:nvCxnSpPr>
        <p:spPr>
          <a:xfrm>
            <a:off x="1248756" y="1959956"/>
            <a:ext cx="9225280"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191B829-1C57-A578-DF87-2A179FD5D25C}"/>
              </a:ext>
            </a:extLst>
          </p:cNvPr>
          <p:cNvSpPr txBox="1"/>
          <p:nvPr/>
        </p:nvSpPr>
        <p:spPr>
          <a:xfrm>
            <a:off x="1960070" y="765339"/>
            <a:ext cx="8994370" cy="584775"/>
          </a:xfrm>
          <a:prstGeom prst="rect">
            <a:avLst/>
          </a:prstGeom>
          <a:noFill/>
        </p:spPr>
        <p:txBody>
          <a:bodyPr wrap="square" rtlCol="0">
            <a:spAutoFit/>
          </a:bodyPr>
          <a:lstStyle/>
          <a:p>
            <a:r>
              <a:rPr lang="es-MX" sz="3200" dirty="0">
                <a:solidFill>
                  <a:srgbClr val="FF0000"/>
                </a:solidFill>
              </a:rPr>
              <a:t>Doxa                                                                  Episteme</a:t>
            </a:r>
            <a:endParaRPr lang="es-PE" sz="3200" dirty="0">
              <a:solidFill>
                <a:srgbClr val="FF0000"/>
              </a:solidFill>
            </a:endParaRPr>
          </a:p>
        </p:txBody>
      </p:sp>
      <p:sp>
        <p:nvSpPr>
          <p:cNvPr id="6" name="TextBox 5">
            <a:extLst>
              <a:ext uri="{FF2B5EF4-FFF2-40B4-BE49-F238E27FC236}">
                <a16:creationId xmlns:a16="http://schemas.microsoft.com/office/drawing/2014/main" id="{12766165-09C6-C737-79D6-F402C5565A92}"/>
              </a:ext>
            </a:extLst>
          </p:cNvPr>
          <p:cNvSpPr txBox="1"/>
          <p:nvPr/>
        </p:nvSpPr>
        <p:spPr>
          <a:xfrm>
            <a:off x="4991793" y="319063"/>
            <a:ext cx="2308166" cy="523220"/>
          </a:xfrm>
          <a:prstGeom prst="rect">
            <a:avLst/>
          </a:prstGeom>
          <a:noFill/>
        </p:spPr>
        <p:txBody>
          <a:bodyPr wrap="square" rtlCol="0">
            <a:spAutoFit/>
          </a:bodyPr>
          <a:lstStyle/>
          <a:p>
            <a:r>
              <a:rPr lang="es-MX" sz="2800" dirty="0"/>
              <a:t>(proceso)</a:t>
            </a:r>
            <a:endParaRPr lang="es-PE" sz="2800" dirty="0"/>
          </a:p>
        </p:txBody>
      </p:sp>
      <p:sp>
        <p:nvSpPr>
          <p:cNvPr id="7" name="Arrow: Right 6">
            <a:extLst>
              <a:ext uri="{FF2B5EF4-FFF2-40B4-BE49-F238E27FC236}">
                <a16:creationId xmlns:a16="http://schemas.microsoft.com/office/drawing/2014/main" id="{FB551FE8-A6DB-2D6F-1EFB-A61A27F14055}"/>
              </a:ext>
            </a:extLst>
          </p:cNvPr>
          <p:cNvSpPr/>
          <p:nvPr/>
        </p:nvSpPr>
        <p:spPr>
          <a:xfrm>
            <a:off x="5295208" y="913251"/>
            <a:ext cx="1130531" cy="2262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 name="Straight Connector 1">
            <a:extLst>
              <a:ext uri="{FF2B5EF4-FFF2-40B4-BE49-F238E27FC236}">
                <a16:creationId xmlns:a16="http://schemas.microsoft.com/office/drawing/2014/main" id="{FD1BFBD2-262E-D835-6BD9-D7AE6D3DC57A}"/>
              </a:ext>
            </a:extLst>
          </p:cNvPr>
          <p:cNvCxnSpPr>
            <a:cxnSpLocks/>
          </p:cNvCxnSpPr>
          <p:nvPr/>
        </p:nvCxnSpPr>
        <p:spPr>
          <a:xfrm flipV="1">
            <a:off x="5796279" y="1660697"/>
            <a:ext cx="0" cy="4128219"/>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47CC36-6088-7E3B-1FB2-6C173975654A}"/>
              </a:ext>
            </a:extLst>
          </p:cNvPr>
          <p:cNvCxnSpPr>
            <a:cxnSpLocks/>
          </p:cNvCxnSpPr>
          <p:nvPr/>
        </p:nvCxnSpPr>
        <p:spPr>
          <a:xfrm flipV="1">
            <a:off x="3421610" y="1660697"/>
            <a:ext cx="0" cy="4128219"/>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664381B-FEF8-733D-1CF2-F61C3E33F530}"/>
              </a:ext>
            </a:extLst>
          </p:cNvPr>
          <p:cNvCxnSpPr>
            <a:cxnSpLocks/>
          </p:cNvCxnSpPr>
          <p:nvPr/>
        </p:nvCxnSpPr>
        <p:spPr>
          <a:xfrm flipV="1">
            <a:off x="8464197" y="1660697"/>
            <a:ext cx="0" cy="4254522"/>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8A49A38-F614-A10F-3C08-EBC005BEBC7B}"/>
              </a:ext>
            </a:extLst>
          </p:cNvPr>
          <p:cNvSpPr txBox="1"/>
          <p:nvPr/>
        </p:nvSpPr>
        <p:spPr>
          <a:xfrm>
            <a:off x="1545474" y="2175644"/>
            <a:ext cx="1579418" cy="523220"/>
          </a:xfrm>
          <a:prstGeom prst="rect">
            <a:avLst/>
          </a:prstGeom>
          <a:noFill/>
        </p:spPr>
        <p:txBody>
          <a:bodyPr wrap="square" rtlCol="0">
            <a:spAutoFit/>
          </a:bodyPr>
          <a:lstStyle/>
          <a:p>
            <a:r>
              <a:rPr lang="es-MX" sz="2800" dirty="0">
                <a:solidFill>
                  <a:srgbClr val="FF0000"/>
                </a:solidFill>
              </a:rPr>
              <a:t>Sombras</a:t>
            </a:r>
            <a:endParaRPr lang="es-PE" sz="2800" dirty="0">
              <a:solidFill>
                <a:srgbClr val="FF0000"/>
              </a:solidFill>
            </a:endParaRPr>
          </a:p>
        </p:txBody>
      </p:sp>
      <p:sp>
        <p:nvSpPr>
          <p:cNvPr id="13" name="TextBox 12">
            <a:extLst>
              <a:ext uri="{FF2B5EF4-FFF2-40B4-BE49-F238E27FC236}">
                <a16:creationId xmlns:a16="http://schemas.microsoft.com/office/drawing/2014/main" id="{9733429F-AB07-6FD9-8589-72048E604FFA}"/>
              </a:ext>
            </a:extLst>
          </p:cNvPr>
          <p:cNvSpPr txBox="1"/>
          <p:nvPr/>
        </p:nvSpPr>
        <p:spPr>
          <a:xfrm>
            <a:off x="3920142" y="2240761"/>
            <a:ext cx="1579418" cy="523220"/>
          </a:xfrm>
          <a:prstGeom prst="rect">
            <a:avLst/>
          </a:prstGeom>
          <a:noFill/>
        </p:spPr>
        <p:txBody>
          <a:bodyPr wrap="square" rtlCol="0">
            <a:spAutoFit/>
          </a:bodyPr>
          <a:lstStyle/>
          <a:p>
            <a:r>
              <a:rPr lang="es-MX" sz="2800" dirty="0">
                <a:solidFill>
                  <a:srgbClr val="FF0000"/>
                </a:solidFill>
              </a:rPr>
              <a:t>Sofística</a:t>
            </a:r>
            <a:endParaRPr lang="es-PE" sz="2800" dirty="0">
              <a:solidFill>
                <a:srgbClr val="FF0000"/>
              </a:solidFill>
            </a:endParaRPr>
          </a:p>
        </p:txBody>
      </p:sp>
      <p:sp>
        <p:nvSpPr>
          <p:cNvPr id="14" name="TextBox 13">
            <a:extLst>
              <a:ext uri="{FF2B5EF4-FFF2-40B4-BE49-F238E27FC236}">
                <a16:creationId xmlns:a16="http://schemas.microsoft.com/office/drawing/2014/main" id="{793E3DDD-5BFB-2D1E-4C4D-22B3789BBBB1}"/>
              </a:ext>
            </a:extLst>
          </p:cNvPr>
          <p:cNvSpPr txBox="1"/>
          <p:nvPr/>
        </p:nvSpPr>
        <p:spPr>
          <a:xfrm>
            <a:off x="5976849" y="2259216"/>
            <a:ext cx="2523833" cy="954107"/>
          </a:xfrm>
          <a:prstGeom prst="rect">
            <a:avLst/>
          </a:prstGeom>
          <a:noFill/>
        </p:spPr>
        <p:txBody>
          <a:bodyPr wrap="square" rtlCol="0">
            <a:spAutoFit/>
          </a:bodyPr>
          <a:lstStyle/>
          <a:p>
            <a:r>
              <a:rPr lang="es-MX" sz="2800" dirty="0">
                <a:solidFill>
                  <a:srgbClr val="FF0000"/>
                </a:solidFill>
              </a:rPr>
              <a:t>Razonamiento</a:t>
            </a:r>
          </a:p>
          <a:p>
            <a:r>
              <a:rPr lang="es-MX" sz="2800" dirty="0">
                <a:solidFill>
                  <a:srgbClr val="FF0000"/>
                </a:solidFill>
              </a:rPr>
              <a:t>Discursivo</a:t>
            </a:r>
            <a:endParaRPr lang="es-PE" sz="2800" dirty="0">
              <a:solidFill>
                <a:srgbClr val="FF0000"/>
              </a:solidFill>
            </a:endParaRPr>
          </a:p>
        </p:txBody>
      </p:sp>
      <p:sp>
        <p:nvSpPr>
          <p:cNvPr id="15" name="TextBox 14">
            <a:extLst>
              <a:ext uri="{FF2B5EF4-FFF2-40B4-BE49-F238E27FC236}">
                <a16:creationId xmlns:a16="http://schemas.microsoft.com/office/drawing/2014/main" id="{F3C0B531-51EB-B851-BDC4-A07319BCDF7F}"/>
              </a:ext>
            </a:extLst>
          </p:cNvPr>
          <p:cNvSpPr txBox="1"/>
          <p:nvPr/>
        </p:nvSpPr>
        <p:spPr>
          <a:xfrm>
            <a:off x="8500683" y="2474659"/>
            <a:ext cx="1973353" cy="523220"/>
          </a:xfrm>
          <a:prstGeom prst="rect">
            <a:avLst/>
          </a:prstGeom>
          <a:noFill/>
        </p:spPr>
        <p:txBody>
          <a:bodyPr wrap="square" rtlCol="0">
            <a:spAutoFit/>
          </a:bodyPr>
          <a:lstStyle/>
          <a:p>
            <a:r>
              <a:rPr lang="es-MX" sz="2800" dirty="0">
                <a:solidFill>
                  <a:srgbClr val="FF0000"/>
                </a:solidFill>
              </a:rPr>
              <a:t>Intelección</a:t>
            </a:r>
            <a:endParaRPr lang="es-PE" sz="2800" dirty="0">
              <a:solidFill>
                <a:srgbClr val="FF0000"/>
              </a:solidFill>
            </a:endParaRPr>
          </a:p>
        </p:txBody>
      </p:sp>
      <p:sp>
        <p:nvSpPr>
          <p:cNvPr id="3" name="TextBox 2">
            <a:extLst>
              <a:ext uri="{FF2B5EF4-FFF2-40B4-BE49-F238E27FC236}">
                <a16:creationId xmlns:a16="http://schemas.microsoft.com/office/drawing/2014/main" id="{62CC08D1-AF54-4BF4-5D45-818982EFF4D0}"/>
              </a:ext>
            </a:extLst>
          </p:cNvPr>
          <p:cNvSpPr txBox="1"/>
          <p:nvPr/>
        </p:nvSpPr>
        <p:spPr>
          <a:xfrm>
            <a:off x="879070" y="3304097"/>
            <a:ext cx="2162001" cy="954107"/>
          </a:xfrm>
          <a:prstGeom prst="rect">
            <a:avLst/>
          </a:prstGeom>
          <a:noFill/>
        </p:spPr>
        <p:txBody>
          <a:bodyPr wrap="square" rtlCol="0">
            <a:spAutoFit/>
          </a:bodyPr>
          <a:lstStyle/>
          <a:p>
            <a:r>
              <a:rPr lang="es-MX" sz="2800" dirty="0" err="1"/>
              <a:t>Eikasía</a:t>
            </a:r>
            <a:endParaRPr lang="es-MX" sz="2800" dirty="0"/>
          </a:p>
          <a:p>
            <a:r>
              <a:rPr lang="es-MX" sz="2800" dirty="0"/>
              <a:t>Imaginación</a:t>
            </a:r>
            <a:endParaRPr lang="es-PE" sz="2800" dirty="0"/>
          </a:p>
        </p:txBody>
      </p:sp>
      <p:sp>
        <p:nvSpPr>
          <p:cNvPr id="8" name="TextBox 7">
            <a:extLst>
              <a:ext uri="{FF2B5EF4-FFF2-40B4-BE49-F238E27FC236}">
                <a16:creationId xmlns:a16="http://schemas.microsoft.com/office/drawing/2014/main" id="{CC4B4047-F2ED-5B1F-A553-3B1844AD0530}"/>
              </a:ext>
            </a:extLst>
          </p:cNvPr>
          <p:cNvSpPr txBox="1"/>
          <p:nvPr/>
        </p:nvSpPr>
        <p:spPr>
          <a:xfrm>
            <a:off x="3920142" y="3304096"/>
            <a:ext cx="1579418" cy="954107"/>
          </a:xfrm>
          <a:prstGeom prst="rect">
            <a:avLst/>
          </a:prstGeom>
          <a:noFill/>
        </p:spPr>
        <p:txBody>
          <a:bodyPr wrap="square" rtlCol="0">
            <a:spAutoFit/>
          </a:bodyPr>
          <a:lstStyle/>
          <a:p>
            <a:r>
              <a:rPr lang="es-MX" sz="2800" dirty="0" err="1"/>
              <a:t>Pistis</a:t>
            </a:r>
            <a:endParaRPr lang="es-MX" sz="2800" dirty="0"/>
          </a:p>
          <a:p>
            <a:r>
              <a:rPr lang="es-MX" sz="2800" dirty="0"/>
              <a:t>Creencia</a:t>
            </a:r>
            <a:endParaRPr lang="es-PE" sz="2800" dirty="0"/>
          </a:p>
        </p:txBody>
      </p:sp>
      <p:sp>
        <p:nvSpPr>
          <p:cNvPr id="9" name="TextBox 8">
            <a:extLst>
              <a:ext uri="{FF2B5EF4-FFF2-40B4-BE49-F238E27FC236}">
                <a16:creationId xmlns:a16="http://schemas.microsoft.com/office/drawing/2014/main" id="{5061DB38-E2C2-9508-501F-F24294F5BD7B}"/>
              </a:ext>
            </a:extLst>
          </p:cNvPr>
          <p:cNvSpPr txBox="1"/>
          <p:nvPr/>
        </p:nvSpPr>
        <p:spPr>
          <a:xfrm>
            <a:off x="6378631" y="3668694"/>
            <a:ext cx="2523833" cy="954107"/>
          </a:xfrm>
          <a:prstGeom prst="rect">
            <a:avLst/>
          </a:prstGeom>
          <a:noFill/>
        </p:spPr>
        <p:txBody>
          <a:bodyPr wrap="square" rtlCol="0">
            <a:spAutoFit/>
          </a:bodyPr>
          <a:lstStyle/>
          <a:p>
            <a:r>
              <a:rPr lang="es-MX" sz="2800" dirty="0" err="1"/>
              <a:t>Dianoia</a:t>
            </a:r>
            <a:endParaRPr lang="es-MX" sz="2800" dirty="0"/>
          </a:p>
          <a:p>
            <a:endParaRPr lang="es-PE" sz="2800" dirty="0"/>
          </a:p>
        </p:txBody>
      </p:sp>
      <p:sp>
        <p:nvSpPr>
          <p:cNvPr id="16" name="TextBox 15">
            <a:extLst>
              <a:ext uri="{FF2B5EF4-FFF2-40B4-BE49-F238E27FC236}">
                <a16:creationId xmlns:a16="http://schemas.microsoft.com/office/drawing/2014/main" id="{F7F1A133-2440-97D7-E893-029E76A4D750}"/>
              </a:ext>
            </a:extLst>
          </p:cNvPr>
          <p:cNvSpPr txBox="1"/>
          <p:nvPr/>
        </p:nvSpPr>
        <p:spPr>
          <a:xfrm>
            <a:off x="8783317" y="3668694"/>
            <a:ext cx="1973353" cy="523220"/>
          </a:xfrm>
          <a:prstGeom prst="rect">
            <a:avLst/>
          </a:prstGeom>
          <a:noFill/>
        </p:spPr>
        <p:txBody>
          <a:bodyPr wrap="square" rtlCol="0">
            <a:spAutoFit/>
          </a:bodyPr>
          <a:lstStyle/>
          <a:p>
            <a:r>
              <a:rPr lang="es-MX" sz="2800" dirty="0"/>
              <a:t>Noesis</a:t>
            </a:r>
            <a:endParaRPr lang="es-PE" sz="2800" dirty="0"/>
          </a:p>
        </p:txBody>
      </p:sp>
      <p:sp>
        <p:nvSpPr>
          <p:cNvPr id="17" name="TextBox 16">
            <a:extLst>
              <a:ext uri="{FF2B5EF4-FFF2-40B4-BE49-F238E27FC236}">
                <a16:creationId xmlns:a16="http://schemas.microsoft.com/office/drawing/2014/main" id="{7EDEE2D7-20D8-CCC9-24F6-CE2717FE9C9A}"/>
              </a:ext>
            </a:extLst>
          </p:cNvPr>
          <p:cNvSpPr txBox="1"/>
          <p:nvPr/>
        </p:nvSpPr>
        <p:spPr>
          <a:xfrm>
            <a:off x="530632" y="4745669"/>
            <a:ext cx="2374663" cy="1384995"/>
          </a:xfrm>
          <a:prstGeom prst="rect">
            <a:avLst/>
          </a:prstGeom>
          <a:noFill/>
        </p:spPr>
        <p:txBody>
          <a:bodyPr wrap="square" rtlCol="0">
            <a:spAutoFit/>
          </a:bodyPr>
          <a:lstStyle/>
          <a:p>
            <a:r>
              <a:rPr lang="es-MX" sz="2800" dirty="0"/>
              <a:t>Reflejos de objetos sensoriales</a:t>
            </a:r>
            <a:endParaRPr lang="es-PE" sz="2800" dirty="0"/>
          </a:p>
        </p:txBody>
      </p:sp>
      <p:sp>
        <p:nvSpPr>
          <p:cNvPr id="18" name="TextBox 17">
            <a:extLst>
              <a:ext uri="{FF2B5EF4-FFF2-40B4-BE49-F238E27FC236}">
                <a16:creationId xmlns:a16="http://schemas.microsoft.com/office/drawing/2014/main" id="{737C3D2C-CD38-53F4-2C16-8C9E5E17E1CB}"/>
              </a:ext>
            </a:extLst>
          </p:cNvPr>
          <p:cNvSpPr txBox="1"/>
          <p:nvPr/>
        </p:nvSpPr>
        <p:spPr>
          <a:xfrm>
            <a:off x="3572171" y="4834809"/>
            <a:ext cx="2523829" cy="954107"/>
          </a:xfrm>
          <a:prstGeom prst="rect">
            <a:avLst/>
          </a:prstGeom>
          <a:noFill/>
        </p:spPr>
        <p:txBody>
          <a:bodyPr wrap="square" rtlCol="0">
            <a:spAutoFit/>
          </a:bodyPr>
          <a:lstStyle/>
          <a:p>
            <a:r>
              <a:rPr lang="es-MX" sz="2800" dirty="0"/>
              <a:t>Convenciones sociales</a:t>
            </a:r>
            <a:endParaRPr lang="es-PE" sz="2800" dirty="0"/>
          </a:p>
        </p:txBody>
      </p:sp>
      <p:sp>
        <p:nvSpPr>
          <p:cNvPr id="19" name="TextBox 18">
            <a:extLst>
              <a:ext uri="{FF2B5EF4-FFF2-40B4-BE49-F238E27FC236}">
                <a16:creationId xmlns:a16="http://schemas.microsoft.com/office/drawing/2014/main" id="{2D843E50-10F6-3AD2-55D4-E3F607DE6C8D}"/>
              </a:ext>
            </a:extLst>
          </p:cNvPr>
          <p:cNvSpPr txBox="1"/>
          <p:nvPr/>
        </p:nvSpPr>
        <p:spPr>
          <a:xfrm>
            <a:off x="6252322" y="4961112"/>
            <a:ext cx="2523833" cy="954107"/>
          </a:xfrm>
          <a:prstGeom prst="rect">
            <a:avLst/>
          </a:prstGeom>
          <a:noFill/>
        </p:spPr>
        <p:txBody>
          <a:bodyPr wrap="square" rtlCol="0">
            <a:spAutoFit/>
          </a:bodyPr>
          <a:lstStyle/>
          <a:p>
            <a:r>
              <a:rPr lang="es-MX" sz="2800" dirty="0"/>
              <a:t>Matemática</a:t>
            </a:r>
          </a:p>
          <a:p>
            <a:r>
              <a:rPr lang="es-MX" sz="2800" dirty="0"/>
              <a:t>Dialéctica</a:t>
            </a:r>
            <a:endParaRPr lang="es-PE" sz="2800" dirty="0"/>
          </a:p>
        </p:txBody>
      </p:sp>
      <p:sp>
        <p:nvSpPr>
          <p:cNvPr id="20" name="TextBox 19">
            <a:extLst>
              <a:ext uri="{FF2B5EF4-FFF2-40B4-BE49-F238E27FC236}">
                <a16:creationId xmlns:a16="http://schemas.microsoft.com/office/drawing/2014/main" id="{4CE2E59F-E6B8-380F-891A-99809A7586BE}"/>
              </a:ext>
            </a:extLst>
          </p:cNvPr>
          <p:cNvSpPr txBox="1"/>
          <p:nvPr/>
        </p:nvSpPr>
        <p:spPr>
          <a:xfrm>
            <a:off x="8720504" y="4834809"/>
            <a:ext cx="1973353" cy="1384995"/>
          </a:xfrm>
          <a:prstGeom prst="rect">
            <a:avLst/>
          </a:prstGeom>
          <a:noFill/>
        </p:spPr>
        <p:txBody>
          <a:bodyPr wrap="square" rtlCol="0">
            <a:spAutoFit/>
          </a:bodyPr>
          <a:lstStyle/>
          <a:p>
            <a:r>
              <a:rPr lang="es-MX" sz="2800" dirty="0"/>
              <a:t>Captación intelectiva</a:t>
            </a:r>
          </a:p>
          <a:p>
            <a:r>
              <a:rPr lang="es-MX" sz="2800" dirty="0"/>
              <a:t>inmediata</a:t>
            </a:r>
            <a:endParaRPr lang="es-PE" sz="2800" dirty="0"/>
          </a:p>
        </p:txBody>
      </p:sp>
    </p:spTree>
    <p:extLst>
      <p:ext uri="{BB962C8B-B14F-4D97-AF65-F5344CB8AC3E}">
        <p14:creationId xmlns:p14="http://schemas.microsoft.com/office/powerpoint/2010/main" val="4211764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2084</TotalTime>
  <Words>2613</Words>
  <Application>Microsoft Office PowerPoint</Application>
  <PresentationFormat>Widescreen</PresentationFormat>
  <Paragraphs>251</Paragraphs>
  <Slides>46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¿Quién es Antígona?</vt:lpstr>
      <vt:lpstr>PowerPoint Presentation</vt:lpstr>
      <vt:lpstr>¿Qué sucede en la tragedia de Antígona?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 Garcìa Alcalà</dc:creator>
  <cp:lastModifiedBy>F. Garcìa Alcalà</cp:lastModifiedBy>
  <cp:revision>48</cp:revision>
  <dcterms:created xsi:type="dcterms:W3CDTF">2026-05-25T12:35:28Z</dcterms:created>
  <dcterms:modified xsi:type="dcterms:W3CDTF">2026-05-26T23:20:05Z</dcterms:modified>
</cp:coreProperties>
</file>