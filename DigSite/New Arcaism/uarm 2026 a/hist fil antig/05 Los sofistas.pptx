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312" r:id="rId4"/>
    <p:sldId id="263" r:id="rId5"/>
    <p:sldId id="264" r:id="rId6"/>
    <p:sldId id="258" r:id="rId7"/>
    <p:sldId id="261" r:id="rId8"/>
    <p:sldId id="262" r:id="rId9"/>
    <p:sldId id="257" r:id="rId10"/>
    <p:sldId id="259" r:id="rId11"/>
    <p:sldId id="265" r:id="rId12"/>
    <p:sldId id="293" r:id="rId13"/>
    <p:sldId id="294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305" r:id="rId22"/>
    <p:sldId id="309" r:id="rId23"/>
    <p:sldId id="299" r:id="rId24"/>
    <p:sldId id="303" r:id="rId25"/>
    <p:sldId id="300" r:id="rId26"/>
    <p:sldId id="306" r:id="rId27"/>
    <p:sldId id="307" r:id="rId28"/>
    <p:sldId id="308" r:id="rId29"/>
    <p:sldId id="298" r:id="rId30"/>
    <p:sldId id="273" r:id="rId31"/>
    <p:sldId id="301" r:id="rId32"/>
    <p:sldId id="302" r:id="rId33"/>
    <p:sldId id="310" r:id="rId34"/>
    <p:sldId id="329" r:id="rId35"/>
    <p:sldId id="330" r:id="rId36"/>
    <p:sldId id="313" r:id="rId37"/>
    <p:sldId id="314" r:id="rId38"/>
    <p:sldId id="332" r:id="rId39"/>
    <p:sldId id="331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  <p:sldId id="325" r:id="rId51"/>
    <p:sldId id="326" r:id="rId52"/>
    <p:sldId id="327" r:id="rId53"/>
    <p:sldId id="333" r:id="rId54"/>
    <p:sldId id="328" r:id="rId5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. Garcìa Alcalà" initials="FG" lastIdx="1" clrIdx="0">
    <p:extLst>
      <p:ext uri="{19B8F6BF-5375-455C-9EA6-DF929625EA0E}">
        <p15:presenceInfo xmlns:p15="http://schemas.microsoft.com/office/powerpoint/2012/main" userId="3108a74226d351c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5" autoAdjust="0"/>
    <p:restoredTop sz="94660"/>
  </p:normalViewPr>
  <p:slideViewPr>
    <p:cSldViewPr snapToGrid="0">
      <p:cViewPr varScale="1">
        <p:scale>
          <a:sx n="49" d="100"/>
          <a:sy n="49" d="100"/>
        </p:scale>
        <p:origin x="6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FA5B-0FFE-2356-3194-675567CFE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202D9-DFA3-04B2-5C38-666B0C8DF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9FDAD-085D-428A-4110-59C1C24A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8D39D-F6FF-3DBF-F5E3-33E74944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DF52-3D54-B7FD-ADA5-AE8769DC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582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C125-E65A-0B7F-9146-B109CB11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D8F5-18F4-0784-6FBE-F77397033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C3F1B-AD97-FD17-7B51-FF1E887E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6737B-7529-9199-7600-95B05390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DD709-C3F8-E63B-A342-67B6A1CF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0689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C0EF-5704-725C-6BF3-0D68B9F3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3C4E8-CD8B-B01E-8CB3-E6BE8A71C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92F66-3B56-5B4A-FC0D-AA1DD4DB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08B6-1724-0AD1-D62B-5A3841C3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A066F-8F3C-3166-F23B-360DEE4FF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6786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7690-241E-DE20-FDBC-8305800E0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8A34A-2934-2223-0C24-8D71046EB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A87E1-B636-8FA3-B405-2BE65B62C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82B1E-4F21-271E-C5AF-57BD6645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E3B88-A23F-87C5-AAC5-817484C0D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C0944-D4D2-383A-6ABB-ABCE74321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1403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A1EC-46DC-183B-13C2-EF44C007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EE3C0-6B5F-E026-5A80-B2F38C23F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80D7F-5604-0AAB-646A-CE9965BF1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18619-EB05-8DAD-791A-DBEBBF26C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7EC66-75C3-37D3-92AA-A6F1555C6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117D41-D00B-76D4-449A-314E101B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B43AA1-ABC1-4AD6-D9B9-BF70A7E3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D0BC46-BAF3-86EC-311A-65394480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785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9A1BB-39C0-1D88-8710-B14A8D23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B29D3-2F8F-74BE-4BD2-5A68E330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537B7-556C-A223-4850-CEFE2C47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4C747-61E0-B8A8-EAFE-AF240869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33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EC27A-6FCC-8FA3-5144-4481DA13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20305-AAE1-5A3F-7D24-B631E806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C7BDB-6147-2C7A-0142-EED19394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910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1F90-81BA-3D13-83D9-E4DFBC130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C9731-AA2E-53D7-A934-ECFAF00D1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E646A-D70F-2FCE-14C4-2041B2D24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E552D-933F-0387-1135-887F20439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DF95E-4F76-3771-DAD5-0951A485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2F545-E538-3F77-ACD5-68091B16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314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D2FC-4257-8343-0ABD-D9B0E1201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879999-3E08-021F-B72F-FD7241AC5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FB7C9-8D01-0E6C-9641-F6C4F6968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E9EBE-429C-FC18-9445-E4248746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92984-F90A-1A78-8709-DD88557A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F0F1F-8E03-AC27-07F4-59F66D6F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4926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ECF5-0B31-AF6C-4762-99E2954D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031AA-C870-069A-EFD8-4F8CA8676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70C16-C62F-1CF6-6C5F-E82A68F9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CD6BE-D0C4-E1D9-840E-D8452733B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16612-81B5-45FA-7055-44A4F750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574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5BC2C-D611-899C-73C3-5FCD24167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F01B0-20BB-FC3E-E327-669D3A9A2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81F9-E58B-1ECD-0549-7DBF9C18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E9F1E-B730-82C5-9944-BEEC7BB8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36B3B-1914-4FEB-9A7E-58F224B1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098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9CE44-70B1-AC73-5A3B-1571C8CE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C1F16-493C-7396-6FA8-804EB1CDC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FAC39-8802-05FE-DBB9-18B5C22E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0E540-9595-4A39-9107-1FB7575E8623}" type="datetimeFigureOut">
              <a:rPr lang="es-PE" smtClean="0"/>
              <a:t>20/04/2026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AA904-6A5B-D25D-B271-7C6E56CDB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A15D3-57B3-C429-0637-C3B1FF81C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E793E-0C13-4A65-93F8-13EEAD494AD8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204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google.com/search?q=relativismo+moral+y+cultural&amp;oq=los+sofistas&amp;gs_lcrp=EgZjaHJvbWUyCQgAEEUYORiABDIHCAEQABiABDIHCAIQABiABDIICAMQABgWGB4yCAgEEAAYFhgeMgYIBRBFGDwyBggGEEUYPDIGCAcQRRg90gEIMjY0NmowajeoAgCwAgA&amp;sourceid=chrome&amp;ie=UTF-8&amp;ved=2ahUKEwiP2-yd6v2TAxXvrZUCHbevN2AQgK4QegYIAQgAEAQ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32.png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3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44.png"/><Relationship Id="rId4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63C7-ED80-DF3E-5F6D-1A3DDA3A4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571"/>
            <a:ext cx="9144000" cy="1273629"/>
          </a:xfrm>
        </p:spPr>
        <p:txBody>
          <a:bodyPr>
            <a:normAutofit/>
          </a:bodyPr>
          <a:lstStyle/>
          <a:p>
            <a:r>
              <a:rPr lang="es-MX" sz="8000" b="1" u="sng" dirty="0"/>
              <a:t>Los sofistas</a:t>
            </a:r>
            <a:endParaRPr lang="es-PE" sz="80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797E6-07A5-C432-406B-EE1F0C158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53842"/>
            <a:ext cx="9144000" cy="604157"/>
          </a:xfrm>
        </p:spPr>
        <p:txBody>
          <a:bodyPr/>
          <a:lstStyle/>
          <a:p>
            <a:r>
              <a:rPr lang="es-MX" dirty="0"/>
              <a:t>Protágoras, Gorgias &amp; otros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FF37F-9E50-393F-CBD3-216BA3BAA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067" y="1565738"/>
            <a:ext cx="6221866" cy="468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26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00F9-46CF-9CFE-8C83-83C660ED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DA2E0D-857D-2893-7C25-54F008AEF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272"/>
            <a:ext cx="9144000" cy="555172"/>
          </a:xfrm>
        </p:spPr>
        <p:txBody>
          <a:bodyPr/>
          <a:lstStyle/>
          <a:p>
            <a:r>
              <a:rPr lang="es-MX" dirty="0"/>
              <a:t>Los sofistas</a:t>
            </a:r>
            <a:endParaRPr lang="es-P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2BE22-1FA0-CE05-DDBA-566697C6E9EF}"/>
              </a:ext>
            </a:extLst>
          </p:cNvPr>
          <p:cNvSpPr txBox="1"/>
          <p:nvPr/>
        </p:nvSpPr>
        <p:spPr>
          <a:xfrm>
            <a:off x="1004207" y="685802"/>
            <a:ext cx="101835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 err="1">
                <a:latin typeface="Google Sans"/>
              </a:rPr>
              <a:t>Aprox</a:t>
            </a:r>
            <a:r>
              <a:rPr lang="es-MX" sz="3200" dirty="0">
                <a:latin typeface="Google Sans"/>
              </a:rPr>
              <a:t>: siglo dorado de </a:t>
            </a:r>
            <a:r>
              <a:rPr lang="es-MX" sz="3200" dirty="0">
                <a:solidFill>
                  <a:srgbClr val="FF0000"/>
                </a:solidFill>
                <a:latin typeface="Google Sans"/>
              </a:rPr>
              <a:t>Pericles</a:t>
            </a:r>
            <a:r>
              <a:rPr lang="es-MX" sz="3200" dirty="0">
                <a:latin typeface="Google Sans"/>
              </a:rPr>
              <a:t> (siglos V-IV a.C.) </a:t>
            </a:r>
          </a:p>
          <a:p>
            <a:r>
              <a:rPr lang="es-MX" sz="3200" dirty="0"/>
              <a:t>Maestros de </a:t>
            </a:r>
            <a:r>
              <a:rPr lang="es-MX" sz="3200" dirty="0">
                <a:solidFill>
                  <a:srgbClr val="FF0000"/>
                </a:solidFill>
              </a:rPr>
              <a:t>retórica</a:t>
            </a:r>
            <a:r>
              <a:rPr lang="es-MX" sz="3200" dirty="0"/>
              <a:t> y la </a:t>
            </a:r>
            <a:r>
              <a:rPr lang="es-MX" sz="3200" dirty="0">
                <a:solidFill>
                  <a:srgbClr val="FF0000"/>
                </a:solidFill>
              </a:rPr>
              <a:t>persuasión</a:t>
            </a:r>
          </a:p>
          <a:p>
            <a:r>
              <a:rPr lang="es-MX" sz="3200" dirty="0"/>
              <a:t>Tomados por Sabios</a:t>
            </a:r>
          </a:p>
          <a:p>
            <a:r>
              <a:rPr lang="es-MX" sz="3200" dirty="0"/>
              <a:t>Itinerantes y ¿cosmopolitas?</a:t>
            </a:r>
          </a:p>
          <a:p>
            <a:endParaRPr lang="es-MX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47C4E6-C1F1-ADD7-CA64-F692600B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171" y="2876979"/>
            <a:ext cx="6509657" cy="37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24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07969-73C1-28CF-7C56-247F2D86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CAA46-760C-6285-9ADD-FFA04854A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272"/>
            <a:ext cx="9144000" cy="555172"/>
          </a:xfrm>
        </p:spPr>
        <p:txBody>
          <a:bodyPr/>
          <a:lstStyle/>
          <a:p>
            <a:r>
              <a:rPr lang="es-MX" dirty="0"/>
              <a:t>Los sofistas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B0B4F-EB4D-B3FA-7239-21726634E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66" y="809389"/>
            <a:ext cx="11204067" cy="58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4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7826-C18A-E483-5AA2-7CE3927D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9552F5-2A64-E09A-34B6-0BDBD87E7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272"/>
            <a:ext cx="9144000" cy="555172"/>
          </a:xfrm>
        </p:spPr>
        <p:txBody>
          <a:bodyPr/>
          <a:lstStyle/>
          <a:p>
            <a:r>
              <a:rPr lang="es-MX" dirty="0"/>
              <a:t>Los sofistas</a:t>
            </a:r>
            <a:endParaRPr lang="es-P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1F6F8-E46A-F547-0A99-CE619F5738EF}"/>
              </a:ext>
            </a:extLst>
          </p:cNvPr>
          <p:cNvSpPr txBox="1"/>
          <p:nvPr/>
        </p:nvSpPr>
        <p:spPr>
          <a:xfrm>
            <a:off x="1004207" y="685802"/>
            <a:ext cx="101835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0" i="0" dirty="0">
                <a:effectLst/>
                <a:latin typeface="Google Sans"/>
              </a:rPr>
              <a:t>Cobraban por enseñar el arte de persuadir, la oratoria y la política. </a:t>
            </a:r>
          </a:p>
          <a:p>
            <a:endParaRPr lang="es-MX" sz="3200" dirty="0">
              <a:latin typeface="Google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787BE-8A04-88D7-BBCC-91D09C420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476" y="1749277"/>
            <a:ext cx="6902225" cy="469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0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F9642-81C4-B617-D3B9-2CFC936C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42ED8A-A968-61A3-6011-524F51544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272"/>
            <a:ext cx="9144000" cy="555172"/>
          </a:xfrm>
        </p:spPr>
        <p:txBody>
          <a:bodyPr/>
          <a:lstStyle/>
          <a:p>
            <a:r>
              <a:rPr lang="es-MX" dirty="0"/>
              <a:t>Los sofistas</a:t>
            </a:r>
            <a:endParaRPr lang="es-P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9D4AF-3010-EA37-BF40-4F6ECEF0D2FA}"/>
              </a:ext>
            </a:extLst>
          </p:cNvPr>
          <p:cNvSpPr txBox="1"/>
          <p:nvPr/>
        </p:nvSpPr>
        <p:spPr>
          <a:xfrm>
            <a:off x="1004207" y="685802"/>
            <a:ext cx="101835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0" i="0" dirty="0">
                <a:effectLst/>
                <a:latin typeface="Google Sans"/>
              </a:rPr>
              <a:t>Protágoras y Gorgias fueron figuras destacadas que promovieron el</a:t>
            </a:r>
            <a:r>
              <a:rPr lang="es-MX" sz="3200" b="1" i="0" dirty="0">
                <a:effectLst/>
                <a:latin typeface="Google Sans"/>
              </a:rPr>
              <a:t> </a:t>
            </a:r>
            <a:r>
              <a:rPr lang="es-MX" sz="3200" b="1" i="0" dirty="0">
                <a:solidFill>
                  <a:srgbClr val="FF0000"/>
                </a:solidFill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relativismo moral y cultural</a:t>
            </a:r>
            <a:r>
              <a:rPr lang="es-MX" sz="3200" b="0" i="0" dirty="0">
                <a:effectLst/>
                <a:latin typeface="Google Sans"/>
              </a:rPr>
              <a:t>, argumentando que </a:t>
            </a:r>
            <a:r>
              <a:rPr lang="es-MX" sz="3200" b="1" i="0" u="sng" dirty="0">
                <a:solidFill>
                  <a:srgbClr val="FF0000"/>
                </a:solidFill>
                <a:effectLst/>
                <a:latin typeface="Google Sans"/>
              </a:rPr>
              <a:t>la verdad es subjetiva y depende del contexto.</a:t>
            </a:r>
            <a:endParaRPr lang="es-PE" sz="3200" b="1" u="sn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413DFF-EF83-CDFC-9A93-C143CF0A9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871" y="2376754"/>
            <a:ext cx="7884257" cy="423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7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392B45-00FA-9C9F-FA76-57D95882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3" y="740907"/>
            <a:ext cx="11525253" cy="572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8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6F08-659C-44D1-A041-616A4B80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AFB51A-6CAD-6D14-C9C5-5F527E920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272"/>
            <a:ext cx="9144000" cy="555172"/>
          </a:xfrm>
        </p:spPr>
        <p:txBody>
          <a:bodyPr/>
          <a:lstStyle/>
          <a:p>
            <a:r>
              <a:rPr lang="es-MX" dirty="0"/>
              <a:t>Los sofistas</a:t>
            </a:r>
            <a:endParaRPr lang="es-P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22716A-8755-C767-B87B-BF1188DDCAEF}"/>
              </a:ext>
            </a:extLst>
          </p:cNvPr>
          <p:cNvSpPr txBox="1"/>
          <p:nvPr/>
        </p:nvSpPr>
        <p:spPr>
          <a:xfrm>
            <a:off x="440871" y="1100941"/>
            <a:ext cx="1100545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FF0000"/>
                </a:solidFill>
              </a:rPr>
              <a:t>Relativismo y Escepticismo</a:t>
            </a:r>
            <a:r>
              <a:rPr lang="es-MX" sz="2400" dirty="0"/>
              <a:t>: Creían que no existen verdades absolutas, sino opiniones ("El hombre es la medida de todas las cosas").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Maestros de </a:t>
            </a:r>
            <a:r>
              <a:rPr lang="es-MX" sz="2400" dirty="0">
                <a:solidFill>
                  <a:srgbClr val="FF0000"/>
                </a:solidFill>
              </a:rPr>
              <a:t>Retórica</a:t>
            </a:r>
            <a:r>
              <a:rPr lang="es-MX" sz="2400" dirty="0"/>
              <a:t>: Se enfocaban en la elocuencia para convencer en la vida pública y política, independientemente de la verdad objetiva.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FF0000"/>
                </a:solidFill>
              </a:rPr>
              <a:t>Profesionalización</a:t>
            </a:r>
            <a:r>
              <a:rPr lang="es-MX" sz="2400" dirty="0"/>
              <a:t>: Fueron los primeros en cobrar altas sumas de dinero por sus enseñanzas, enfocadas en la </a:t>
            </a:r>
            <a:r>
              <a:rPr lang="es-MX" sz="2400" dirty="0" err="1"/>
              <a:t>areté</a:t>
            </a:r>
            <a:r>
              <a:rPr lang="es-MX" sz="2400" dirty="0"/>
              <a:t> (virtud o excelencia) para el éxito.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FF0000"/>
                </a:solidFill>
              </a:rPr>
              <a:t>Humanistas</a:t>
            </a:r>
            <a:r>
              <a:rPr lang="es-MX" sz="2400" dirty="0"/>
              <a:t>: Desplazaron el foco de la filosofía de la naturaleza (presocráticos) hacia el ser humano, la ética, la sociedad y el lenguaje.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Enfoque en el "</a:t>
            </a:r>
            <a:r>
              <a:rPr lang="es-MX" sz="2400" dirty="0">
                <a:solidFill>
                  <a:srgbClr val="FF0000"/>
                </a:solidFill>
              </a:rPr>
              <a:t>Pro y Contra</a:t>
            </a:r>
            <a:r>
              <a:rPr lang="es-MX" sz="2400" dirty="0"/>
              <a:t>": Enseñar a defender cualquier postura y su contraria para fortalecer la argumentación. ¿Proto-dialéctica?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27300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4316C-30B7-E56B-AC9E-23808AF5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247B42-DE6A-FBD7-AADD-9292F6E38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272"/>
            <a:ext cx="9144000" cy="555172"/>
          </a:xfrm>
        </p:spPr>
        <p:txBody>
          <a:bodyPr/>
          <a:lstStyle/>
          <a:p>
            <a:r>
              <a:rPr lang="es-MX" dirty="0"/>
              <a:t>Los sofistas</a:t>
            </a:r>
            <a:endParaRPr lang="es-P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CD7F8-DB24-05DE-CEC4-51F471008E27}"/>
              </a:ext>
            </a:extLst>
          </p:cNvPr>
          <p:cNvSpPr txBox="1"/>
          <p:nvPr/>
        </p:nvSpPr>
        <p:spPr>
          <a:xfrm>
            <a:off x="440871" y="767444"/>
            <a:ext cx="11005457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Fueron duramente criticados por Sócrates, Platón y Aristóteles, quienes los acusaban de utilizar argumentos falaces ("sofismas") para ganar debates en lugar de buscar la verdad.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endParaRPr lang="es-MX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endParaRPr lang="es-MX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Su enfoque en la utilidad y el éxito político sobre la moral absoluta los llevó a una connotación peyorativa de "charlatanes", aunque su contribución a la educación y el pensamiento crítico es reconocida.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431CFD-A5F5-45C2-5517-0C53E72AE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4" y="2372405"/>
            <a:ext cx="8824232" cy="282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12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E0DDF7D-15F1-D14C-09E8-D7E93D4F0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44037" cy="5513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DF37DD-B4DD-4831-44A6-5200823AC284}"/>
              </a:ext>
            </a:extLst>
          </p:cNvPr>
          <p:cNvSpPr txBox="1"/>
          <p:nvPr/>
        </p:nvSpPr>
        <p:spPr>
          <a:xfrm>
            <a:off x="1523846" y="342797"/>
            <a:ext cx="169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Demócrito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04E5D-2D50-B225-8369-2E1111065265}"/>
              </a:ext>
            </a:extLst>
          </p:cNvPr>
          <p:cNvSpPr txBox="1"/>
          <p:nvPr/>
        </p:nvSpPr>
        <p:spPr>
          <a:xfrm>
            <a:off x="4397828" y="3059668"/>
            <a:ext cx="169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Protágoras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325D6FD-21EA-E375-F0D0-329D2D7AC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684" y="52779"/>
            <a:ext cx="4762500" cy="68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18366A-73EB-EBE7-BB09-4155CFC9D186}"/>
              </a:ext>
            </a:extLst>
          </p:cNvPr>
          <p:cNvSpPr txBox="1"/>
          <p:nvPr/>
        </p:nvSpPr>
        <p:spPr>
          <a:xfrm>
            <a:off x="6879769" y="6308272"/>
            <a:ext cx="467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Salvator</a:t>
            </a:r>
            <a:r>
              <a:rPr lang="es-MX" dirty="0">
                <a:solidFill>
                  <a:schemeClr val="bg1"/>
                </a:solidFill>
              </a:rPr>
              <a:t> Rosa – </a:t>
            </a:r>
            <a:r>
              <a:rPr lang="es-MX" dirty="0" err="1">
                <a:solidFill>
                  <a:schemeClr val="bg1"/>
                </a:solidFill>
              </a:rPr>
              <a:t>Democrito</a:t>
            </a:r>
            <a:r>
              <a:rPr lang="es-MX" dirty="0">
                <a:solidFill>
                  <a:schemeClr val="bg1"/>
                </a:solidFill>
              </a:rPr>
              <a:t> e </a:t>
            </a:r>
            <a:r>
              <a:rPr lang="es-MX" dirty="0" err="1">
                <a:solidFill>
                  <a:schemeClr val="bg1"/>
                </a:solidFill>
              </a:rPr>
              <a:t>Protagora</a:t>
            </a:r>
            <a:r>
              <a:rPr lang="es-MX" dirty="0">
                <a:solidFill>
                  <a:schemeClr val="bg1"/>
                </a:solidFill>
              </a:rPr>
              <a:t> - </a:t>
            </a:r>
            <a:r>
              <a:rPr lang="es-MX" dirty="0" err="1">
                <a:solidFill>
                  <a:schemeClr val="bg1"/>
                </a:solidFill>
              </a:rPr>
              <a:t>sXVII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A1AC3-9500-BE00-0F31-8FAEF3D14F92}"/>
              </a:ext>
            </a:extLst>
          </p:cNvPr>
          <p:cNvSpPr txBox="1"/>
          <p:nvPr/>
        </p:nvSpPr>
        <p:spPr>
          <a:xfrm>
            <a:off x="-2721" y="5513615"/>
            <a:ext cx="66484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Muestra a Demócrito (el filósofo que ríe) sentado en el centro en un paisaje sombrío rodeado de ruinas y elementos de la naturaleza, mientras se representa una conversación con su discípulo Protágoras a la derecha. Hay una buena razón porque un pintor del S. XVII los represente.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8684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BE16F-F35F-D5A1-41AD-4A4BB2C1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0B997D-43EE-A964-E5B9-90BFEAF9B99C}"/>
              </a:ext>
            </a:extLst>
          </p:cNvPr>
          <p:cNvSpPr txBox="1"/>
          <p:nvPr/>
        </p:nvSpPr>
        <p:spPr>
          <a:xfrm>
            <a:off x="828676" y="390827"/>
            <a:ext cx="447811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r>
              <a:rPr lang="es-MX" sz="2800" dirty="0"/>
              <a:t>Es el más famoso. Propuso el Relativismo: "El hombre es la medida de todas las cosas".</a:t>
            </a:r>
          </a:p>
          <a:p>
            <a:endParaRPr lang="es-MX" sz="2800" dirty="0"/>
          </a:p>
          <a:p>
            <a:r>
              <a:rPr lang="es-MX" sz="2800" dirty="0"/>
              <a:t>Para él, no hay una verdad absoluta; las cosas son como le parecen a cada persona.</a:t>
            </a:r>
          </a:p>
          <a:p>
            <a:endParaRPr lang="es-MX" sz="2800" dirty="0"/>
          </a:p>
          <a:p>
            <a:r>
              <a:rPr lang="es-MX" sz="2800" dirty="0"/>
              <a:t>Fue el primero en llamarse a sí mismo "sofista". (De acuerdo a la atribución de Platón)</a:t>
            </a:r>
            <a:endParaRPr lang="es-PE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D64157-A54A-B08A-E107-047124995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1" y="-5628"/>
            <a:ext cx="6493329" cy="691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2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01AD-7703-FC14-9490-3F02A696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40F4F4-5709-873E-61FF-7D70F3406907}"/>
              </a:ext>
            </a:extLst>
          </p:cNvPr>
          <p:cNvSpPr txBox="1"/>
          <p:nvPr/>
        </p:nvSpPr>
        <p:spPr>
          <a:xfrm>
            <a:off x="584427" y="366623"/>
            <a:ext cx="60987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Gorgias de </a:t>
            </a:r>
            <a:r>
              <a:rPr lang="es-MX" sz="2800" dirty="0" err="1"/>
              <a:t>Leontinos</a:t>
            </a:r>
            <a:endParaRPr lang="es-MX" sz="2800" dirty="0"/>
          </a:p>
          <a:p>
            <a:endParaRPr lang="es-MX" sz="2800" dirty="0"/>
          </a:p>
          <a:p>
            <a:r>
              <a:rPr lang="es-MX" sz="2800" dirty="0"/>
              <a:t>Padre del Nihilismo y el escepticismo radical. Sostenía tres tesis famosas:</a:t>
            </a:r>
          </a:p>
          <a:p>
            <a:endParaRPr lang="es-MX" sz="2800" dirty="0"/>
          </a:p>
          <a:p>
            <a:pPr marL="514350" indent="-514350">
              <a:buFont typeface="+mj-lt"/>
              <a:buAutoNum type="arabicPeriod"/>
            </a:pPr>
            <a:r>
              <a:rPr lang="es-MX" sz="2800" dirty="0"/>
              <a:t>Nada existe.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800" dirty="0"/>
              <a:t>Si algo existiera, no podríamos conocerlo.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800" dirty="0"/>
              <a:t>Si pudiéramos conocerlo, no podríamos comunicarlo.</a:t>
            </a:r>
          </a:p>
          <a:p>
            <a:endParaRPr lang="es-MX" sz="2800" dirty="0"/>
          </a:p>
          <a:p>
            <a:r>
              <a:rPr lang="es-MX" sz="2800" dirty="0"/>
              <a:t>Se enfocó en el poder de la palabra como una "droga" capaz de moldear la mente.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7BF09-59FE-88FA-8626-DD48556C7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658" y="188242"/>
            <a:ext cx="4716915" cy="648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1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03C2-252E-9EC8-531C-221762F0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B12EE9-D386-7E5F-A1B6-BB847C747056}"/>
              </a:ext>
            </a:extLst>
          </p:cNvPr>
          <p:cNvSpPr txBox="1"/>
          <p:nvPr/>
        </p:nvSpPr>
        <p:spPr>
          <a:xfrm>
            <a:off x="583746" y="1228397"/>
            <a:ext cx="60987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Hipias de Elis</a:t>
            </a:r>
          </a:p>
          <a:p>
            <a:endParaRPr lang="es-MX" sz="2800" dirty="0"/>
          </a:p>
          <a:p>
            <a:r>
              <a:rPr lang="es-MX" sz="2800" dirty="0"/>
              <a:t>Defendió la Polimatía (saber de todo).</a:t>
            </a:r>
          </a:p>
          <a:p>
            <a:endParaRPr lang="es-MX" sz="2800" dirty="0"/>
          </a:p>
          <a:p>
            <a:r>
              <a:rPr lang="es-MX" sz="2800" dirty="0"/>
              <a:t>Fue un sabio que dominaba matemáticas, astronomía y artes.</a:t>
            </a:r>
          </a:p>
          <a:p>
            <a:endParaRPr lang="es-MX" sz="2800" dirty="0"/>
          </a:p>
          <a:p>
            <a:r>
              <a:rPr lang="es-MX" sz="2800" dirty="0"/>
              <a:t>Propuso la distinción entre la Naturaleza (Physis), que une a los hombres, y la Ley (Nomos), que los separa artificialmente.</a:t>
            </a:r>
            <a:endParaRPr lang="es-P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C9FC4-BDEA-2C33-FD1F-C8D6DA87E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643" y="164353"/>
            <a:ext cx="4861832" cy="650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06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E071-1F7B-B030-FACA-E74456B36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DF76C4-8F4E-E08F-31E0-67EA201172EF}"/>
              </a:ext>
            </a:extLst>
          </p:cNvPr>
          <p:cNvSpPr txBox="1"/>
          <p:nvPr/>
        </p:nvSpPr>
        <p:spPr>
          <a:xfrm>
            <a:off x="536121" y="900014"/>
            <a:ext cx="539251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 err="1"/>
              <a:t>Pródico</a:t>
            </a:r>
            <a:r>
              <a:rPr lang="es-MX" sz="2800" dirty="0"/>
              <a:t> de Ceos</a:t>
            </a:r>
          </a:p>
          <a:p>
            <a:endParaRPr lang="es-MX" sz="2800" dirty="0"/>
          </a:p>
          <a:p>
            <a:r>
              <a:rPr lang="es-MX" sz="2800" dirty="0"/>
              <a:t>Se especializó en el lenguaje y la Sinonimia (distinguir el significado exacto de las palabras). </a:t>
            </a:r>
          </a:p>
          <a:p>
            <a:endParaRPr lang="es-MX" sz="2800" dirty="0"/>
          </a:p>
          <a:p>
            <a:r>
              <a:rPr lang="es-MX" sz="2800" dirty="0"/>
              <a:t>Es famoso por su teoría de la religión: decía que los dioses son simplemente cosas que los antiguos consideraban útiles (como el sol o el vino) personificadas.</a:t>
            </a:r>
            <a:endParaRPr lang="es-P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52844-4FBC-2B05-0AB5-D964CF353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3179"/>
            <a:ext cx="5559879" cy="616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36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32D9CD-472F-2541-304B-B70AD02E4966}"/>
              </a:ext>
            </a:extLst>
          </p:cNvPr>
          <p:cNvSpPr txBox="1"/>
          <p:nvPr/>
        </p:nvSpPr>
        <p:spPr>
          <a:xfrm>
            <a:off x="387804" y="1012954"/>
            <a:ext cx="60987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 err="1"/>
              <a:t>Antifonte</a:t>
            </a:r>
            <a:endParaRPr lang="es-MX" sz="2800" dirty="0"/>
          </a:p>
          <a:p>
            <a:endParaRPr lang="es-MX" sz="2800" dirty="0"/>
          </a:p>
          <a:p>
            <a:r>
              <a:rPr lang="es-MX" sz="2800" dirty="0"/>
              <a:t>Un psicólogo primitivo. </a:t>
            </a:r>
          </a:p>
          <a:p>
            <a:endParaRPr lang="es-MX" sz="2800" dirty="0"/>
          </a:p>
          <a:p>
            <a:r>
              <a:rPr lang="es-MX" sz="2800" dirty="0"/>
              <a:t>Propuso que las leyes humanas suelen ir en contra de la naturaleza. </a:t>
            </a:r>
          </a:p>
          <a:p>
            <a:endParaRPr lang="es-MX" sz="2800" dirty="0"/>
          </a:p>
          <a:p>
            <a:r>
              <a:rPr lang="es-MX" sz="2800" dirty="0"/>
              <a:t>Afirmaba que, por naturaleza, todos los hombres son iguales (griegos y bárbaros), desafiando las jerarquías sociales de su época.</a:t>
            </a:r>
            <a:endParaRPr lang="es-PE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55B8F-BDB6-A1B8-F23E-38EDA059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371" y="224721"/>
            <a:ext cx="5240111" cy="656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99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06FA-C62F-5FE1-A11D-FECF8095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77ECB-632A-9BD6-2F63-B14A324951F2}"/>
              </a:ext>
            </a:extLst>
          </p:cNvPr>
          <p:cNvSpPr txBox="1"/>
          <p:nvPr/>
        </p:nvSpPr>
        <p:spPr>
          <a:xfrm>
            <a:off x="485775" y="914687"/>
            <a:ext cx="506593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 err="1"/>
              <a:t>Trasímaco</a:t>
            </a:r>
            <a:endParaRPr lang="es-MX" sz="2800" dirty="0"/>
          </a:p>
          <a:p>
            <a:endParaRPr lang="es-MX" sz="2800" dirty="0"/>
          </a:p>
          <a:p>
            <a:r>
              <a:rPr lang="es-MX" sz="2800" dirty="0"/>
              <a:t>Aparece en "La República" de Platón. </a:t>
            </a:r>
          </a:p>
          <a:p>
            <a:endParaRPr lang="es-MX" sz="2800" dirty="0"/>
          </a:p>
          <a:p>
            <a:r>
              <a:rPr lang="es-MX" sz="2800" dirty="0"/>
              <a:t>"La justicia no es otra cosa que lo que conviene al más fuerte". </a:t>
            </a:r>
          </a:p>
          <a:p>
            <a:endParaRPr lang="es-MX" sz="2800" dirty="0"/>
          </a:p>
          <a:p>
            <a:r>
              <a:rPr lang="es-MX" sz="2800" dirty="0"/>
              <a:t>Según él, las leyes las hacen quienes mandan para su propio beneficio.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A7905-5BA6-63D7-E398-9C690E8EE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2359"/>
            <a:ext cx="5440815" cy="58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09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ED5D-55CF-0C1A-0084-0C7EACD93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C2B17C-C1CD-21EF-F6EF-ABFCC6A73B82}"/>
              </a:ext>
            </a:extLst>
          </p:cNvPr>
          <p:cNvSpPr txBox="1"/>
          <p:nvPr/>
        </p:nvSpPr>
        <p:spPr>
          <a:xfrm>
            <a:off x="498023" y="1046073"/>
            <a:ext cx="60987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Calicles</a:t>
            </a:r>
          </a:p>
          <a:p>
            <a:endParaRPr lang="es-MX" sz="2800" dirty="0"/>
          </a:p>
          <a:p>
            <a:r>
              <a:rPr lang="es-MX" sz="2800" dirty="0"/>
              <a:t>Representa el Derecho del más fuerte.</a:t>
            </a:r>
          </a:p>
          <a:p>
            <a:endParaRPr lang="es-MX" sz="2800" dirty="0"/>
          </a:p>
          <a:p>
            <a:r>
              <a:rPr lang="es-MX" sz="2800" dirty="0"/>
              <a:t>Sostenía que las leyes morales son un invento de los débiles para frenar a los individuos superiores. </a:t>
            </a:r>
          </a:p>
          <a:p>
            <a:endParaRPr lang="es-MX" sz="2800" dirty="0"/>
          </a:p>
          <a:p>
            <a:r>
              <a:rPr lang="es-MX" sz="2800" dirty="0"/>
              <a:t>Para él, lo natural es que el hombre "poderoso" satisfaga todos sus deseos.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8D4778-BE72-E420-0B3E-1AA24E8E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0" y="431129"/>
            <a:ext cx="4428619" cy="563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20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BA797-89C1-1C55-0187-22A0E464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0A42E-0A51-E961-C4C3-70D985CE8DD9}"/>
              </a:ext>
            </a:extLst>
          </p:cNvPr>
          <p:cNvSpPr txBox="1"/>
          <p:nvPr/>
        </p:nvSpPr>
        <p:spPr>
          <a:xfrm>
            <a:off x="1302203" y="366623"/>
            <a:ext cx="387395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 err="1"/>
              <a:t>Critias</a:t>
            </a:r>
            <a:endParaRPr lang="es-MX" sz="2800" dirty="0"/>
          </a:p>
          <a:p>
            <a:endParaRPr lang="es-MX" sz="2800" dirty="0"/>
          </a:p>
          <a:p>
            <a:r>
              <a:rPr lang="es-MX" sz="2800" dirty="0"/>
              <a:t>Fue uno de los "Treinta Tiranos".</a:t>
            </a:r>
          </a:p>
          <a:p>
            <a:endParaRPr lang="es-MX" sz="2800" dirty="0"/>
          </a:p>
          <a:p>
            <a:r>
              <a:rPr lang="es-MX" sz="2800" dirty="0"/>
              <a:t>Propuso una visión política de la religión: decía que los dioses fueron inventados por un gobernante astuto para que la gente tuviera miedo de cometer crímenes, incluso cuando nadie los veía.</a:t>
            </a:r>
            <a:endParaRPr lang="es-P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4A8DB-8FC5-BFBF-5672-05AB69CDC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54894"/>
            <a:ext cx="5246643" cy="474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8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70D8-CFCE-4693-CB86-C7D7C21E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1137C-D76A-9ECA-BA61-F5A33A32A182}"/>
              </a:ext>
            </a:extLst>
          </p:cNvPr>
          <p:cNvSpPr txBox="1"/>
          <p:nvPr/>
        </p:nvSpPr>
        <p:spPr>
          <a:xfrm>
            <a:off x="312293" y="577725"/>
            <a:ext cx="60987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 err="1"/>
              <a:t>Licofrón</a:t>
            </a:r>
            <a:endParaRPr lang="es-MX" sz="2800" dirty="0"/>
          </a:p>
          <a:p>
            <a:endParaRPr lang="es-MX" sz="2800" dirty="0"/>
          </a:p>
          <a:p>
            <a:r>
              <a:rPr lang="es-MX" sz="2800" dirty="0"/>
              <a:t>Discípulo de Gorgias. </a:t>
            </a:r>
          </a:p>
          <a:p>
            <a:endParaRPr lang="es-MX" sz="2800" dirty="0"/>
          </a:p>
          <a:p>
            <a:r>
              <a:rPr lang="es-MX" sz="2800" dirty="0"/>
              <a:t>Fue uno de los primeros en proponer que la nobleza de sangre es falsa.</a:t>
            </a:r>
          </a:p>
          <a:p>
            <a:endParaRPr lang="es-MX" sz="2800" dirty="0"/>
          </a:p>
          <a:p>
            <a:r>
              <a:rPr lang="es-MX" sz="2800" dirty="0"/>
              <a:t>Sostenía que todos los seres humanos tienen el mismo valor y que la ley es un "contrato" que garantiza los derechos de los ciudadanos.</a:t>
            </a:r>
          </a:p>
          <a:p>
            <a:endParaRPr lang="es-MX" sz="2800" dirty="0"/>
          </a:p>
          <a:p>
            <a:r>
              <a:rPr lang="es-MX" sz="2800" dirty="0"/>
              <a:t>Estas ideas tomarían fuerza unos dos mil años después….</a:t>
            </a:r>
            <a:endParaRPr lang="es-P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D5FD6-76BC-8201-98CD-18C150B65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285" y="577725"/>
            <a:ext cx="4989731" cy="570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53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D6B8-DFDB-546B-B667-83B248A9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654EA8-FEFF-EF37-12DC-F104BD0C4A8A}"/>
              </a:ext>
            </a:extLst>
          </p:cNvPr>
          <p:cNvSpPr txBox="1"/>
          <p:nvPr/>
        </p:nvSpPr>
        <p:spPr>
          <a:xfrm>
            <a:off x="432709" y="886323"/>
            <a:ext cx="60987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 err="1"/>
              <a:t>Alcidamante</a:t>
            </a:r>
            <a:endParaRPr lang="es-MX" sz="2800" dirty="0"/>
          </a:p>
          <a:p>
            <a:endParaRPr lang="es-MX" sz="2800" dirty="0"/>
          </a:p>
          <a:p>
            <a:r>
              <a:rPr lang="es-MX" sz="2800" dirty="0"/>
              <a:t>Seguidor de Gorgias, fue un defensor radical de la libertad. </a:t>
            </a:r>
          </a:p>
          <a:p>
            <a:endParaRPr lang="es-MX" sz="2800" dirty="0"/>
          </a:p>
          <a:p>
            <a:r>
              <a:rPr lang="es-MX" sz="2800" dirty="0"/>
              <a:t>Su frase más célebre es: "Dios ha dejado a todos los hombres libres; la naturaleza no ha hecho a nadie esclavo", posicionándose en contra de la esclavitud en un mundo que la veía como algo normal.</a:t>
            </a:r>
            <a:endParaRPr lang="es-P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31B54-65A0-88CD-99CC-2AB3DBF84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9" y="197687"/>
            <a:ext cx="4818289" cy="646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54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ED6A-ACAE-B426-AA51-A67C0A04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4F2C2-5402-69D0-2041-21AECB80D45D}"/>
              </a:ext>
            </a:extLst>
          </p:cNvPr>
          <p:cNvSpPr txBox="1"/>
          <p:nvPr/>
        </p:nvSpPr>
        <p:spPr>
          <a:xfrm>
            <a:off x="3783466" y="24387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Protágoras de Abdera</a:t>
            </a:r>
          </a:p>
          <a:p>
            <a:endParaRPr lang="es-MX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1A295-30F7-0E90-6953-06AB01DD8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1212782"/>
            <a:ext cx="5295900" cy="510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19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B6EE-62FC-170B-C5A9-CF5D902C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78454A-A56F-2242-4446-EFE8FAC389DB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82B248-94B9-DF00-0996-949C27CE1402}"/>
              </a:ext>
            </a:extLst>
          </p:cNvPr>
          <p:cNvSpPr txBox="1"/>
          <p:nvPr/>
        </p:nvSpPr>
        <p:spPr>
          <a:xfrm>
            <a:off x="161678" y="891925"/>
            <a:ext cx="1203032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Conoció a Sócrates. Fue amigo de Pericles, quien le encargó la constitución de Turios, en donde se estableció la educación pública y obligatoria por primera vez en la historia. 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3042B-D27B-E7FF-8B1E-3F807FAD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710" y="2057734"/>
            <a:ext cx="7978496" cy="437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52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2B43-5E9C-90E5-A5B7-90AD8128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735339-ACFE-D484-A89B-3AFBA9DB2886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698C9-B0B5-AA23-515F-EED2566E7EDC}"/>
              </a:ext>
            </a:extLst>
          </p:cNvPr>
          <p:cNvSpPr txBox="1"/>
          <p:nvPr/>
        </p:nvSpPr>
        <p:spPr>
          <a:xfrm>
            <a:off x="161678" y="891925"/>
            <a:ext cx="120303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 err="1"/>
              <a:t>Filóstrato</a:t>
            </a:r>
            <a:r>
              <a:rPr lang="es-MX" sz="2800" dirty="0"/>
              <a:t> cuenta que tenía relaciones con los magos de Persia.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900855-9515-1D5D-A8BC-5BE45E34D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142" y="1651413"/>
            <a:ext cx="7679715" cy="504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10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415FD-28D5-3C8D-915F-057FE051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A2AF6A-EE47-DC14-1C42-AFADB406B2D3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A92F84-D574-860A-B4FC-70A0AAB4A86A}"/>
              </a:ext>
            </a:extLst>
          </p:cNvPr>
          <p:cNvSpPr txBox="1"/>
          <p:nvPr/>
        </p:nvSpPr>
        <p:spPr>
          <a:xfrm>
            <a:off x="161678" y="891925"/>
            <a:ext cx="1203032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De joven era cargador e inventó un cojín.</a:t>
            </a:r>
          </a:p>
          <a:p>
            <a:r>
              <a:rPr lang="es-MX" sz="2800" dirty="0"/>
              <a:t>Según Diógenes Laercio, este invento hizo que Demócrito le tome por discípulo. </a:t>
            </a:r>
          </a:p>
          <a:p>
            <a:r>
              <a:rPr lang="es-MX" sz="2800" dirty="0"/>
              <a:t>Inició la práctica de recibir honorarios a cambio de enseñanzas. Se dice que tenía tarifas muy elevadas, como luego la mayoría de sofistas.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7F268B-0E9E-6453-7F16-AC82BE2CE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43" y="3103771"/>
            <a:ext cx="4936202" cy="316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04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B119-E3FA-31A7-F97B-3F62DF9E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56105B-7E82-546E-7857-EB5C23EAE875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89EDE-670B-BFAA-EC55-046C672EC11A}"/>
              </a:ext>
            </a:extLst>
          </p:cNvPr>
          <p:cNvSpPr txBox="1"/>
          <p:nvPr/>
        </p:nvSpPr>
        <p:spPr>
          <a:xfrm>
            <a:off x="161678" y="637731"/>
            <a:ext cx="1203032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La paradoja de Protágoras:</a:t>
            </a:r>
          </a:p>
          <a:p>
            <a:r>
              <a:rPr lang="es-MX" sz="2800" dirty="0" err="1"/>
              <a:t>Evatlo</a:t>
            </a:r>
            <a:r>
              <a:rPr lang="es-MX" sz="2800" dirty="0"/>
              <a:t> contrató a Protágoras para que le ayude a ganar juicios. (En la antigua Grecia no había abogados.) Como no ganaba ningún juicio, se negó a pagarle. Protágoras lo enjuició refiriendo: “Si yo gano, es preciso que por ganar me entregues los honorarios; si tu ganas, por haberse cumplido la condición, también deberías pagarme”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8F2FC-8307-A6BB-6762-7F62FCE75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33" y="3382219"/>
            <a:ext cx="9836760" cy="33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92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181A-C3C7-2267-D793-23606077A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11601E-1C35-8E0E-964F-624FC11550DC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415ED-164E-E18C-5D79-BCCC5E81B412}"/>
              </a:ext>
            </a:extLst>
          </p:cNvPr>
          <p:cNvSpPr txBox="1"/>
          <p:nvPr/>
        </p:nvSpPr>
        <p:spPr>
          <a:xfrm>
            <a:off x="161678" y="891925"/>
            <a:ext cx="120303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Al principio Protágoras fue muy bien acogido en Atenas y tuvo fama.</a:t>
            </a:r>
          </a:p>
          <a:p>
            <a:r>
              <a:rPr lang="es-MX" sz="2800" dirty="0"/>
              <a:t>Sin embargo, un día, en casa de Eurípides, leyó su libro “Sobre los dioses”.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53462-CFD8-5A0E-2B8F-EDA93C21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7" y="2496323"/>
            <a:ext cx="10012134" cy="388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52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C6715-A93D-67EB-8006-F20180EC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39AF70-9D2B-0CDA-97E7-DAAF9B17E1CE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0FFD8C-C5F8-D12E-BF0C-F54EE9AB93F7}"/>
              </a:ext>
            </a:extLst>
          </p:cNvPr>
          <p:cNvSpPr txBox="1"/>
          <p:nvPr/>
        </p:nvSpPr>
        <p:spPr>
          <a:xfrm>
            <a:off x="161678" y="891925"/>
            <a:ext cx="120303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comentó que desconocía sobre la existencia o la inexistencia de los dioses y fue acusado de impiedad por </a:t>
            </a:r>
            <a:r>
              <a:rPr lang="es-MX" sz="2800" dirty="0" err="1"/>
              <a:t>Pitidoro</a:t>
            </a:r>
            <a:r>
              <a:rPr lang="es-MX" sz="2800" dirty="0"/>
              <a:t> (Aunque Aristóteles señala al mismo </a:t>
            </a:r>
            <a:r>
              <a:rPr lang="es-MX" sz="2800" dirty="0" err="1"/>
              <a:t>Evatlo</a:t>
            </a:r>
            <a:r>
              <a:rPr lang="es-MX" sz="2800" dirty="0"/>
              <a:t>).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7C4E2-BC24-D99A-1D53-52E4F7F7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431" y="2562225"/>
            <a:ext cx="7577137" cy="376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6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05E4-B744-2F94-25BA-DD472241F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B985E0-0AD3-5FC7-6D6E-11329277412C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9CC556-EBF6-80D2-0020-054F702DD3EE}"/>
              </a:ext>
            </a:extLst>
          </p:cNvPr>
          <p:cNvSpPr txBox="1"/>
          <p:nvPr/>
        </p:nvSpPr>
        <p:spPr>
          <a:xfrm>
            <a:off x="161678" y="891925"/>
            <a:ext cx="120303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 err="1"/>
              <a:t>Filóstrato</a:t>
            </a:r>
            <a:r>
              <a:rPr lang="es-MX" sz="2800" dirty="0"/>
              <a:t> señala que no está claro si hubo o no un proceso para alcanzar la condena, para algunos fue el destierro, para otros la muerte. De cualquier forma sus obras fueron quemadas. 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89093-6992-6D94-F45D-495D82548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711" y="2840002"/>
            <a:ext cx="9246577" cy="31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17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48EA7-474B-4DDA-84A1-42C4DE63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8DA302-DD04-1071-9CCD-36D0C4D501BA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8EFE19-A331-D1A3-4A54-5BAC910DFA10}"/>
              </a:ext>
            </a:extLst>
          </p:cNvPr>
          <p:cNvSpPr txBox="1"/>
          <p:nvPr/>
        </p:nvSpPr>
        <p:spPr>
          <a:xfrm>
            <a:off x="161678" y="891925"/>
            <a:ext cx="120303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Otros refieren que huyendo, embarcó a Sicilia, pero el mal tiempo y la marea hicieron que Protágoras caiga y se ahogue. Se suele coincidir en que tenía 90 años. 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C0EB8-3AFA-783D-D4BA-B7A548C16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301" y="2107294"/>
            <a:ext cx="6899397" cy="43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49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2115-EDD1-7A6E-45FC-8994E97B4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765B58-47B8-B414-2CC6-A250B737BCF2}"/>
              </a:ext>
            </a:extLst>
          </p:cNvPr>
          <p:cNvSpPr txBox="1"/>
          <p:nvPr/>
        </p:nvSpPr>
        <p:spPr>
          <a:xfrm>
            <a:off x="796019" y="1166842"/>
            <a:ext cx="44781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r>
              <a:rPr lang="es-MX" b="1" dirty="0"/>
              <a:t>José Antonio Hernández Guerrero</a:t>
            </a:r>
            <a:br>
              <a:rPr lang="es-MX" sz="2800" dirty="0"/>
            </a:br>
            <a:r>
              <a:rPr lang="es-MX" b="1" dirty="0"/>
              <a:t>María del Carmen García Tejera</a:t>
            </a:r>
          </a:p>
          <a:p>
            <a:endParaRPr lang="es-MX" sz="2800" b="1" dirty="0"/>
          </a:p>
          <a:p>
            <a:r>
              <a:rPr lang="es-MX" sz="2800" dirty="0"/>
              <a:t>https://www.cervantesvirtual.com/portales/retorica_y_poetica/protagoras_de_abdera/</a:t>
            </a:r>
          </a:p>
          <a:p>
            <a:endParaRPr lang="es-MX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C7E672-C67F-5D1A-3011-D527B2816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671" y="-5628"/>
            <a:ext cx="6493329" cy="691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4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E42BA-4590-6DA4-0B3A-603CD134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60212A-6D8C-5D34-D5D0-9CFB900D11E0}"/>
              </a:ext>
            </a:extLst>
          </p:cNvPr>
          <p:cNvSpPr txBox="1"/>
          <p:nvPr/>
        </p:nvSpPr>
        <p:spPr>
          <a:xfrm>
            <a:off x="208188" y="310242"/>
            <a:ext cx="68947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/>
              <a:t>SEXTO EMPÍRICO</a:t>
            </a:r>
          </a:p>
          <a:p>
            <a:pPr algn="just"/>
            <a:r>
              <a:rPr lang="es-MX" sz="2400" dirty="0"/>
              <a:t>(Adv. </a:t>
            </a:r>
            <a:r>
              <a:rPr lang="es-MX" sz="2400" dirty="0" err="1"/>
              <a:t>math</a:t>
            </a:r>
            <a:r>
              <a:rPr lang="es-MX" sz="2400" dirty="0"/>
              <a:t>. VII, 60 [DK 80 B 1]) 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Protágoras de Abdera ha sido colocado también, por ciertos autores, en el coro de los filósofos que han destruido el criterio de verdad: afirma, en efecto, que todas las representaciones y opiniones son verdaderas, y que la verdad es del orden de lo relativo, puesto que todo lo que es objeto de representación o de opinión para alguien está inmediatamente dotado de una existencia relativa a él. Por eso, al comienzo de sus DISCURSOS DEMOLEDORES, proclamó: 'el hombre es la medida de todas las cosas; para las que son, de su existencia; para las que no son, de su no existencia'</a:t>
            </a:r>
            <a:endParaRPr lang="es-P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D1A12-E0E7-F9B5-B1A8-1EFF8440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8" y="947056"/>
            <a:ext cx="3901842" cy="460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37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87A3B-D44F-2832-FDFC-EC13499C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A1A0A0-E032-47B6-DFEF-02009AE3F5DB}"/>
              </a:ext>
            </a:extLst>
          </p:cNvPr>
          <p:cNvSpPr txBox="1"/>
          <p:nvPr/>
        </p:nvSpPr>
        <p:spPr>
          <a:xfrm>
            <a:off x="1089933" y="162346"/>
            <a:ext cx="4478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Protágoras de Abdera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52336-A76F-E284-0023-8AAB8E87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6" y="1148135"/>
            <a:ext cx="10648948" cy="5314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24D181-CE32-112C-59E5-D544DBF4C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061" y="4517119"/>
            <a:ext cx="647700" cy="37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93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1C1A-A656-2978-2C2D-74EBA37E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78CAB-4A3F-43D2-95E8-472A566DA7C0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C2C57D-2E9C-32BC-5F46-C370DAD7D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408" y="1303019"/>
            <a:ext cx="3563485" cy="4896587"/>
          </a:xfrm>
          <a:prstGeom prst="rect">
            <a:avLst/>
          </a:prstGeom>
        </p:spPr>
      </p:pic>
      <p:pic>
        <p:nvPicPr>
          <p:cNvPr id="4" name="Imagen 7">
            <a:extLst>
              <a:ext uri="{FF2B5EF4-FFF2-40B4-BE49-F238E27FC236}">
                <a16:creationId xmlns:a16="http://schemas.microsoft.com/office/drawing/2014/main" id="{17FEC98A-D9D4-C88F-5567-65D60F15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717" y="1382137"/>
            <a:ext cx="3178682" cy="481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95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25BDC-1B8F-EE51-8BC2-9084EC60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4A5E0A-5CE4-72D8-1B0F-1E80B2AEE72A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77183-E6EC-3EDE-5CD6-B1E0925C8204}"/>
              </a:ext>
            </a:extLst>
          </p:cNvPr>
          <p:cNvSpPr txBox="1"/>
          <p:nvPr/>
        </p:nvSpPr>
        <p:spPr>
          <a:xfrm>
            <a:off x="539261" y="1033780"/>
            <a:ext cx="111134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Considerado el mejor retórico de su época.</a:t>
            </a:r>
          </a:p>
          <a:p>
            <a:r>
              <a:rPr lang="es-MX" sz="2400" dirty="0"/>
              <a:t>Hijo de </a:t>
            </a:r>
            <a:r>
              <a:rPr lang="es-MX" sz="2400" dirty="0" err="1"/>
              <a:t>Charmantides</a:t>
            </a:r>
            <a:r>
              <a:rPr lang="es-MX" sz="2400" dirty="0"/>
              <a:t>.</a:t>
            </a:r>
          </a:p>
          <a:p>
            <a:r>
              <a:rPr lang="es-MX" sz="2400" dirty="0"/>
              <a:t>Se dice que inventó varios elementos de la oratoria que hasta ahora se usan.</a:t>
            </a:r>
          </a:p>
          <a:p>
            <a:endParaRPr lang="es-MX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547AF-6213-CFBB-9622-8E1978CD7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18" y="2524006"/>
            <a:ext cx="4182196" cy="4158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E243BE-4A34-7358-CE8C-12A4D9480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014" y="2524007"/>
            <a:ext cx="6078103" cy="415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37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C065-BD1D-C00D-7F4D-A95C0A6E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91E6F-1206-C103-324E-F8E50D256B55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85F66-8A94-D6B5-CE43-D574789391E8}"/>
              </a:ext>
            </a:extLst>
          </p:cNvPr>
          <p:cNvSpPr txBox="1"/>
          <p:nvPr/>
        </p:nvSpPr>
        <p:spPr>
          <a:xfrm>
            <a:off x="626311" y="1419730"/>
            <a:ext cx="653324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Representa un tipo de escepticismo. </a:t>
            </a:r>
          </a:p>
          <a:p>
            <a:r>
              <a:rPr lang="es-MX" sz="2800" dirty="0"/>
              <a:t>Sostiene que nada existe, </a:t>
            </a:r>
          </a:p>
          <a:p>
            <a:r>
              <a:rPr lang="es-MX" sz="2800" dirty="0"/>
              <a:t>o si existe, no se puede conocer realmente,</a:t>
            </a:r>
          </a:p>
          <a:p>
            <a:r>
              <a:rPr lang="es-MX" sz="2800" dirty="0"/>
              <a:t>y si se puede conocer, </a:t>
            </a:r>
          </a:p>
          <a:p>
            <a:r>
              <a:rPr lang="es-MX" sz="2800" dirty="0"/>
              <a:t>este conocimiento no se puede transferir. </a:t>
            </a:r>
          </a:p>
          <a:p>
            <a:r>
              <a:rPr lang="es-MX" sz="2800" dirty="0"/>
              <a:t>Aunque se pudiera comunicar</a:t>
            </a:r>
          </a:p>
          <a:p>
            <a:r>
              <a:rPr lang="es-MX" sz="2800" dirty="0"/>
              <a:t>no se entendería como se pretende. </a:t>
            </a:r>
          </a:p>
          <a:p>
            <a:endParaRPr lang="es-MX" sz="2800" dirty="0"/>
          </a:p>
          <a:p>
            <a:r>
              <a:rPr lang="es-MX" sz="2800" dirty="0"/>
              <a:t>Para Gorgias, pretender conocer los fundamentos de lo que existe es un absurdo.</a:t>
            </a:r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88DD7-7599-D0E7-1C4A-06409E2B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558" y="1419730"/>
            <a:ext cx="4813672" cy="476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72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F63D-FF71-F17C-EC0B-F98C37BD0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9B7A9-7F05-625D-FAEA-4278C97DA39D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82296-02B0-DD71-8EF0-2B4CF82605B7}"/>
              </a:ext>
            </a:extLst>
          </p:cNvPr>
          <p:cNvSpPr txBox="1"/>
          <p:nvPr/>
        </p:nvSpPr>
        <p:spPr>
          <a:xfrm>
            <a:off x="5233481" y="1129079"/>
            <a:ext cx="656467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Estudió con Empédocles. Enseñó a Isócrates. Influyó a Pericles.</a:t>
            </a:r>
          </a:p>
          <a:p>
            <a:endParaRPr lang="es-MX" sz="2800" dirty="0"/>
          </a:p>
          <a:p>
            <a:r>
              <a:rPr lang="es-MX" sz="2800" dirty="0"/>
              <a:t>Mientras Gorgias, </a:t>
            </a:r>
            <a:r>
              <a:rPr lang="es-MX" sz="2800" dirty="0" err="1"/>
              <a:t>Pródico</a:t>
            </a:r>
            <a:r>
              <a:rPr lang="es-MX" sz="2800" dirty="0"/>
              <a:t>, </a:t>
            </a:r>
            <a:r>
              <a:rPr lang="es-MX" sz="2800" dirty="0" err="1"/>
              <a:t>Trasímaco</a:t>
            </a:r>
            <a:r>
              <a:rPr lang="es-MX" sz="2800" dirty="0"/>
              <a:t>, Protágoras, Hipias y otros cobraban por sus enseñanzas, su contemporáneo Sócrates no lo hacía y sostenía que había una verdad objetiva independiente de la opinión, y no pretendía hacer a los hombres mejores oradores. </a:t>
            </a:r>
          </a:p>
          <a:p>
            <a:endParaRPr lang="es-MX" sz="2800" dirty="0"/>
          </a:p>
          <a:p>
            <a:r>
              <a:rPr lang="es-MX" sz="2800" dirty="0"/>
              <a:t>Platón en su diálogo le señala como un charlatán. </a:t>
            </a:r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B47AE-F780-F7BD-8265-58A01A2AF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10" y="946182"/>
            <a:ext cx="4294886" cy="573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57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25F8-A006-F0E2-71DE-0CF66095B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B7CA24-B423-BC34-F6F8-A8C09F0DC6F1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6D125-A815-B9D7-EB48-DD20587DE45E}"/>
              </a:ext>
            </a:extLst>
          </p:cNvPr>
          <p:cNvSpPr txBox="1"/>
          <p:nvPr/>
        </p:nvSpPr>
        <p:spPr>
          <a:xfrm>
            <a:off x="392848" y="837010"/>
            <a:ext cx="604686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En la antigua Grecia no existía la figura del abogado. Como cada quien se representaba, era importante poder defenderse o acusar en las disputas. Por ello la educación en retórica era tan valiosa. </a:t>
            </a:r>
          </a:p>
          <a:p>
            <a:endParaRPr lang="es-MX" sz="2800" dirty="0"/>
          </a:p>
          <a:p>
            <a:r>
              <a:rPr lang="es-MX" sz="2800" dirty="0"/>
              <a:t>Como otros, era logógrafo, diseñaba discursos para otros ciudadanos o para políticos. </a:t>
            </a:r>
          </a:p>
          <a:p>
            <a:endParaRPr lang="es-MX" sz="2800" dirty="0"/>
          </a:p>
          <a:p>
            <a:r>
              <a:rPr lang="es-MX" sz="2800" dirty="0"/>
              <a:t>A pesar del prestigio de los sofistas, las críticas de Platón les señalaban de estafadores y manipuladores. </a:t>
            </a:r>
          </a:p>
          <a:p>
            <a:endParaRPr lang="es-MX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3273D-F483-B89B-5846-14D078E1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547" y="1040757"/>
            <a:ext cx="4668605" cy="547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62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8C66-B95A-282A-6E62-82298986C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BA4DA7-18DF-0C67-2238-6831F9219EA2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1B0D2-9835-409B-3F0F-553083344D05}"/>
              </a:ext>
            </a:extLst>
          </p:cNvPr>
          <p:cNvSpPr txBox="1"/>
          <p:nvPr/>
        </p:nvSpPr>
        <p:spPr>
          <a:xfrm>
            <a:off x="704132" y="837010"/>
            <a:ext cx="111134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Uno de sus fragmentos conservados es “Encomio de Helena”, en donde sostiene la impopular pero bien argumentada defensa de Helena,  quien abandonó a Menelao por Paris e inició la guerra de Troya. (Para los griegos Helena representa algo malo, pero Gorgias argumenta que ella no fue culpable de los conflictos)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6E0B1-3743-C941-A569-E9B8D4D62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769" y="2636347"/>
            <a:ext cx="6786462" cy="36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849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FD36-DFF9-B730-F267-CE8273FF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E00D5-42EF-79BE-BEC6-F53B4EDD8FD8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EF65F-C3ED-2FA7-BBB5-86C4620335AE}"/>
              </a:ext>
            </a:extLst>
          </p:cNvPr>
          <p:cNvSpPr txBox="1"/>
          <p:nvPr/>
        </p:nvSpPr>
        <p:spPr>
          <a:xfrm>
            <a:off x="569930" y="1206900"/>
            <a:ext cx="1111347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Presenta cuatro posibles razones para los actos de Helena de Troya: Fuerza Física, Amor, Voluntad Divina o Persuasión verbal. </a:t>
            </a:r>
          </a:p>
          <a:p>
            <a:endParaRPr lang="es-MX" sz="2400" dirty="0"/>
          </a:p>
          <a:p>
            <a:r>
              <a:rPr lang="es-MX" sz="2400" dirty="0"/>
              <a:t>Si Helena fue secuestrada por la fuerza, no es culpable, sino víctima.</a:t>
            </a:r>
          </a:p>
          <a:p>
            <a:r>
              <a:rPr lang="es-MX" sz="2400" dirty="0"/>
              <a:t>Si fue por amor, no es culpable en cuanto el amor es una fuerza divina irresistible (Para Platón, una enfermedad mortal, una verdadera locura)</a:t>
            </a:r>
          </a:p>
          <a:p>
            <a:r>
              <a:rPr lang="es-MX" sz="2400" dirty="0"/>
              <a:t>Si fuera por voluntad de los Dioses, ella tampoco es culpable.</a:t>
            </a:r>
          </a:p>
          <a:p>
            <a:r>
              <a:rPr lang="es-MX" sz="2400" dirty="0"/>
              <a:t>Si fue convencida, tampoco es culpable, ya que las palabras tienen el poder significativo de convencer y cambiar la conducta de forma contraria a la inclinación personal. </a:t>
            </a:r>
          </a:p>
          <a:p>
            <a:endParaRPr lang="es-MX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76002-9620-818D-96EF-796D05690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157" y="4774838"/>
            <a:ext cx="4578890" cy="190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85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1B70-6624-94AA-27DA-4A1B497A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9AA1C8-96AA-CF10-9C4D-B0909DA7ECC7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BD9F9-B9DA-5DFE-25DD-64B63D5CD0D2}"/>
              </a:ext>
            </a:extLst>
          </p:cNvPr>
          <p:cNvSpPr txBox="1"/>
          <p:nvPr/>
        </p:nvSpPr>
        <p:spPr>
          <a:xfrm>
            <a:off x="665265" y="1129398"/>
            <a:ext cx="8381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Llegó a Atenas a los 60, se dice que murió a los 108.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413EE8-98E5-C84F-80D1-7B28A490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" y="2452837"/>
            <a:ext cx="10112982" cy="344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267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5AB0-CA18-8934-47B0-8D7BD0082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3483C1-6102-D5AF-273D-93CC1916A8BA}"/>
              </a:ext>
            </a:extLst>
          </p:cNvPr>
          <p:cNvSpPr txBox="1"/>
          <p:nvPr/>
        </p:nvSpPr>
        <p:spPr>
          <a:xfrm>
            <a:off x="3714886" y="175291"/>
            <a:ext cx="5866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Gorgias de </a:t>
            </a:r>
            <a:r>
              <a:rPr lang="es-MX" sz="4000" dirty="0" err="1"/>
              <a:t>Leontinos</a:t>
            </a:r>
            <a:endParaRPr lang="es-MX" sz="4000" dirty="0"/>
          </a:p>
          <a:p>
            <a:endParaRPr lang="es-MX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C16FD-07A8-E267-E4C6-843CC6E9B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48" y="831119"/>
            <a:ext cx="9701320" cy="585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155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8F17-4AC5-3237-033C-F369644F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804F2-F9F5-62B5-40CB-B97E1E1A7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03" y="0"/>
            <a:ext cx="8266557" cy="687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0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96" y="67718"/>
            <a:ext cx="9116685" cy="623894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407298" y="5299788"/>
            <a:ext cx="1418253" cy="7277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31296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463282" y="391886"/>
            <a:ext cx="7532005" cy="6466114"/>
          </a:xfrm>
        </p:spPr>
        <p:txBody>
          <a:bodyPr>
            <a:normAutofit/>
          </a:bodyPr>
          <a:lstStyle/>
          <a:p>
            <a:r>
              <a:rPr lang="es-PE" dirty="0"/>
              <a:t>Sócrates: el famoso sabio, en voz de Platón. (Se compromete con encontrar significado al buen gobierno y lo importante de enseñar la justicia a los justos.</a:t>
            </a:r>
          </a:p>
          <a:p>
            <a:r>
              <a:rPr lang="es-PE" dirty="0" err="1"/>
              <a:t>Calicles</a:t>
            </a:r>
            <a:r>
              <a:rPr lang="es-PE" dirty="0"/>
              <a:t>: un contrapeso a Sócrates. (probablemente un personaje ficticio, a diferencia de los otros) Algunos estiman que representa un modo de educación egocéntrica y desmedida.</a:t>
            </a:r>
          </a:p>
          <a:p>
            <a:r>
              <a:rPr lang="es-PE" dirty="0"/>
              <a:t>Polo: Joven discípulo de </a:t>
            </a:r>
            <a:r>
              <a:rPr lang="es-PE" dirty="0" err="1"/>
              <a:t>Gorgias</a:t>
            </a:r>
            <a:r>
              <a:rPr lang="es-PE" dirty="0"/>
              <a:t>.</a:t>
            </a:r>
          </a:p>
          <a:p>
            <a:r>
              <a:rPr lang="es-PE" dirty="0" err="1"/>
              <a:t>Gorgias</a:t>
            </a:r>
            <a:r>
              <a:rPr lang="es-PE" dirty="0"/>
              <a:t>: Un conocido sofista y gran retórico. Posible discípulo de Empédocles. </a:t>
            </a:r>
          </a:p>
          <a:p>
            <a:r>
              <a:rPr lang="es-PE" dirty="0" err="1"/>
              <a:t>Querefonte</a:t>
            </a:r>
            <a:r>
              <a:rPr lang="es-PE" dirty="0"/>
              <a:t>: Discípulo de Sócrates.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953" y="0"/>
            <a:ext cx="2402695" cy="232518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948" y="52256"/>
            <a:ext cx="1538512" cy="209177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27" y="2631640"/>
            <a:ext cx="1947138" cy="181501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8" y="3577274"/>
            <a:ext cx="2164702" cy="328072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446" y="4755980"/>
            <a:ext cx="1675014" cy="1951244"/>
          </a:xfrm>
          <a:prstGeom prst="rect">
            <a:avLst/>
          </a:prstGeom>
        </p:spPr>
      </p:pic>
      <p:cxnSp>
        <p:nvCxnSpPr>
          <p:cNvPr id="11" name="Conector recto de flecha 10"/>
          <p:cNvCxnSpPr/>
          <p:nvPr/>
        </p:nvCxnSpPr>
        <p:spPr>
          <a:xfrm flipH="1">
            <a:off x="2164702" y="578498"/>
            <a:ext cx="298580" cy="3359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V="1">
            <a:off x="9277739" y="1268963"/>
            <a:ext cx="1016128" cy="136632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/>
          <p:nvPr/>
        </p:nvCxnSpPr>
        <p:spPr>
          <a:xfrm flipV="1">
            <a:off x="7803502" y="3956180"/>
            <a:ext cx="2279325" cy="3431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H="1">
            <a:off x="1836408" y="4755980"/>
            <a:ext cx="688624" cy="102589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 flipV="1">
            <a:off x="8102082" y="5781877"/>
            <a:ext cx="2164833" cy="1866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387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75" y="494457"/>
            <a:ext cx="7719330" cy="63273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79" y="1585376"/>
            <a:ext cx="7808792" cy="103093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94" y="269243"/>
            <a:ext cx="1472981" cy="171589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964" y="926399"/>
            <a:ext cx="1746244" cy="168991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79" y="3074499"/>
            <a:ext cx="7347580" cy="353772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794" y="3153448"/>
            <a:ext cx="1746244" cy="168991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1971" y="4758003"/>
            <a:ext cx="1385629" cy="209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299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49" y="449327"/>
            <a:ext cx="8056388" cy="113687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2805"/>
            <a:ext cx="1746244" cy="168991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088" y="172808"/>
            <a:ext cx="1385629" cy="209999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013" y="2139240"/>
            <a:ext cx="7991030" cy="329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94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640" y="310922"/>
            <a:ext cx="9092913" cy="261888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041" y="3084447"/>
            <a:ext cx="8852109" cy="362485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42" y="4472434"/>
            <a:ext cx="1746244" cy="16899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150" y="172808"/>
            <a:ext cx="1385629" cy="209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820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30" y="406659"/>
            <a:ext cx="8580081" cy="278928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179" y="3631746"/>
            <a:ext cx="8380832" cy="192192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47749"/>
            <a:ext cx="1746244" cy="16899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150" y="172808"/>
            <a:ext cx="1385629" cy="209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896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31" y="267011"/>
            <a:ext cx="6535636" cy="145644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31" y="1966261"/>
            <a:ext cx="6533763" cy="9386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31" y="3147687"/>
            <a:ext cx="6153964" cy="37103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2808"/>
            <a:ext cx="1746244" cy="168991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7035" y="3147687"/>
            <a:ext cx="1385629" cy="209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89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80" y="343288"/>
            <a:ext cx="8356633" cy="108652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298" y="1803917"/>
            <a:ext cx="6826413" cy="490227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2808"/>
            <a:ext cx="1746244" cy="16899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98" y="2682544"/>
            <a:ext cx="1385629" cy="209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917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471" y="287109"/>
            <a:ext cx="8616914" cy="256805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660" y="3305370"/>
            <a:ext cx="7930535" cy="171471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16" y="3429000"/>
            <a:ext cx="1746244" cy="16899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150" y="172808"/>
            <a:ext cx="1385629" cy="209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234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42" y="144526"/>
            <a:ext cx="7620940" cy="20201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255" y="2468531"/>
            <a:ext cx="7351713" cy="243746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2808"/>
            <a:ext cx="1746244" cy="16899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150" y="172808"/>
            <a:ext cx="1385629" cy="209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81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20" y="242790"/>
            <a:ext cx="6901075" cy="304158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220" y="3852084"/>
            <a:ext cx="7145210" cy="142904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48" y="237677"/>
            <a:ext cx="2324464" cy="224948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0295" y="2611481"/>
            <a:ext cx="2641757" cy="400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129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3C6F-D837-67A3-BF88-AE967D7B3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8000" dirty="0"/>
              <a:t>¿Es peligroso poder persuadir sin contemplar la virtud de la justicia?</a:t>
            </a:r>
            <a:endParaRPr lang="es-PE" sz="8000" dirty="0"/>
          </a:p>
        </p:txBody>
      </p:sp>
    </p:spTree>
    <p:extLst>
      <p:ext uri="{BB962C8B-B14F-4D97-AF65-F5344CB8AC3E}">
        <p14:creationId xmlns:p14="http://schemas.microsoft.com/office/powerpoint/2010/main" val="6031125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l Perú que se desvanece tras el suicidio de Alan García | Interferenc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08" y="1375143"/>
            <a:ext cx="7882605" cy="410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021" y="337416"/>
            <a:ext cx="5486795" cy="564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0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1862</Words>
  <Application>Microsoft Office PowerPoint</Application>
  <PresentationFormat>Widescreen</PresentationFormat>
  <Paragraphs>222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Google Sans</vt:lpstr>
      <vt:lpstr>Office Theme</vt:lpstr>
      <vt:lpstr>Los sofistas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F. Garcìa Alcalà</dc:creator>
  <cp:lastModifiedBy>F. Garcìa Alcalà</cp:lastModifiedBy>
  <cp:revision>37</cp:revision>
  <dcterms:created xsi:type="dcterms:W3CDTF">2026-04-20T22:21:51Z</dcterms:created>
  <dcterms:modified xsi:type="dcterms:W3CDTF">2026-04-21T13:23:24Z</dcterms:modified>
</cp:coreProperties>
</file>