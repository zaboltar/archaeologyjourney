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1" autoAdjust="0"/>
    <p:restoredTop sz="94660"/>
  </p:normalViewPr>
  <p:slideViewPr>
    <p:cSldViewPr snapToGrid="0">
      <p:cViewPr varScale="1">
        <p:scale>
          <a:sx n="48" d="100"/>
          <a:sy n="48" d="100"/>
        </p:scale>
        <p:origin x="60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ACF97-173B-C256-817F-EA4FCAD82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619CD9-BFC5-3B64-F843-DEDF4435C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8E0AF-7401-59D4-B7FD-91FC10C9F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136C-3E63-4557-9D0A-77E9D2D1C364}" type="datetimeFigureOut">
              <a:rPr lang="es-PE" smtClean="0"/>
              <a:t>17/05/2026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D0E27-4D4D-2DE6-475E-772FDEA48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D06BD-0014-1FF4-EFD7-7A2C67B62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F3FD-12FB-4D64-84D3-914478E9912B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05012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8A4AB-0881-8F6D-BD9A-9EB52479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1A43F-67C2-84EA-49EE-BC38DEE2D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CA7B6-4DBF-6D9A-1494-CC70755B5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136C-3E63-4557-9D0A-77E9D2D1C364}" type="datetimeFigureOut">
              <a:rPr lang="es-PE" smtClean="0"/>
              <a:t>17/05/2026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BE424-9F02-5C0C-9557-9BC4905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C4197-5F2A-2728-5C14-EEB1777AC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F3FD-12FB-4D64-84D3-914478E9912B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1508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C93DA-7467-17F8-4EF0-EF145BEE2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63B31-65BE-C626-120F-AA2502C38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54D6F-E800-F7DC-D718-85B418100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136C-3E63-4557-9D0A-77E9D2D1C364}" type="datetimeFigureOut">
              <a:rPr lang="es-PE" smtClean="0"/>
              <a:t>17/05/2026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894AF-F2D6-CA6C-7517-B9CBC4E00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A2FA7-5B09-4868-4569-76FE927F6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F3FD-12FB-4D64-84D3-914478E9912B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5355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56DF7-23BF-8C3D-FF89-7301C5F88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94C7C-1EA7-50BE-948D-C63FD6316A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1CCF5-EA5B-9510-7EB8-42D8BD36F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F42FD-DB05-CB13-E046-E6D883C85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136C-3E63-4557-9D0A-77E9D2D1C364}" type="datetimeFigureOut">
              <a:rPr lang="es-PE" smtClean="0"/>
              <a:t>17/05/2026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EFD46-AF9C-E39D-E4F7-525495A55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87554-093D-4EE8-AB52-B66DA3BCB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F3FD-12FB-4D64-84D3-914478E9912B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109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0A910-BF48-4688-4405-AD91EAE44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04BE6-919D-430D-CC94-9E7FC46E6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4E04D-37B4-2C60-762C-E1B7745D1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248260-96AC-D24D-6382-5F29FFF6CD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B2CC70-EEB8-BF93-57E9-F2CF7AFCA6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676DC6-66D5-093A-FEE1-5DB88CA59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136C-3E63-4557-9D0A-77E9D2D1C364}" type="datetimeFigureOut">
              <a:rPr lang="es-PE" smtClean="0"/>
              <a:t>17/05/2026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9D7901-2301-5291-4734-22BC7727D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BCF492-B3D7-00B0-9238-551B060EB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F3FD-12FB-4D64-84D3-914478E9912B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79775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741DC-F52F-2B86-1899-53AF25B8E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038EC-8626-9A3A-08FD-32A27E3EB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136C-3E63-4557-9D0A-77E9D2D1C364}" type="datetimeFigureOut">
              <a:rPr lang="es-PE" smtClean="0"/>
              <a:t>17/05/2026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ADB4C8-2281-E7B7-A5B5-650718434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FFA11-020C-FD04-A3CD-AA492A656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F3FD-12FB-4D64-84D3-914478E9912B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63931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28AA3C-C137-57CD-65BA-339CDDB91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136C-3E63-4557-9D0A-77E9D2D1C364}" type="datetimeFigureOut">
              <a:rPr lang="es-PE" smtClean="0"/>
              <a:t>17/05/2026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CF4ED8-0032-DD7C-0C65-473DF0F9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5DE83-DE45-3E0D-5C88-2B3077FB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F3FD-12FB-4D64-84D3-914478E9912B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36544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A9514-AB03-9176-E802-7E6C09051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14252-86AD-FEE4-C388-6C62F08BD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720D2-48D1-3E22-F73E-9B1E374D9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667FE-E00A-CC1A-5DED-CFC24DBA9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136C-3E63-4557-9D0A-77E9D2D1C364}" type="datetimeFigureOut">
              <a:rPr lang="es-PE" smtClean="0"/>
              <a:t>17/05/2026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A7F94-3E01-D4EF-2AE3-DA87CA65C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F2168-1DEC-03C3-6677-298231731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F3FD-12FB-4D64-84D3-914478E9912B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24049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C4934-09D8-F46D-3D3B-3E9E8FB58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D5DC91-302F-85B9-5493-285B15B61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6D384-2C09-90C2-77E7-A83349F31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8DF4C-96C0-E314-0FE1-0B1C63259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136C-3E63-4557-9D0A-77E9D2D1C364}" type="datetimeFigureOut">
              <a:rPr lang="es-PE" smtClean="0"/>
              <a:t>17/05/2026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C42CB-38BB-1278-DAB9-5BB09CE30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5105B-372F-5C75-FC4C-2A6861A99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F3FD-12FB-4D64-84D3-914478E9912B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1663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C2ED-A5F8-F256-D2C8-DDAE56832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A4BF2C-CA73-2723-593B-748C919D7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11820-CB8E-E8CD-0AFC-85F89D020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136C-3E63-4557-9D0A-77E9D2D1C364}" type="datetimeFigureOut">
              <a:rPr lang="es-PE" smtClean="0"/>
              <a:t>17/05/2026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5D71C-F13A-8CB4-0CF3-445047D1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E4C30-2344-060D-8028-DC27A424C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F3FD-12FB-4D64-84D3-914478E9912B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2763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EBE285-671E-5853-47D0-43AB29AF4F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83BAF-8DC7-CC55-1DF2-B988D018C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EDEE0-A008-6760-B4B1-E789BF18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136C-3E63-4557-9D0A-77E9D2D1C364}" type="datetimeFigureOut">
              <a:rPr lang="es-PE" smtClean="0"/>
              <a:t>17/05/2026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2AAB0-37E8-2BCB-105F-024D3FA28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7CF02-3F5D-6D0F-44AA-2558EFCF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9F3FD-12FB-4D64-84D3-914478E9912B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4485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5E73E8-FCA0-5095-C084-1969BE6B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A3036-F133-6532-AB91-DD8534DD9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080B5-6BBF-989E-5FD3-2D2FC6F1C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E136C-3E63-4557-9D0A-77E9D2D1C364}" type="datetimeFigureOut">
              <a:rPr lang="es-PE" smtClean="0"/>
              <a:t>17/05/2026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E282A-8B41-0B54-52E4-E3E61778B1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B65F1-98F0-643E-39E4-8F100E9CD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9F3FD-12FB-4D64-84D3-914478E9912B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39205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57155-B5AA-09C1-B625-8FBCB4325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Platón</a:t>
            </a:r>
            <a:endParaRPr lang="es-P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907431-09CE-A104-B755-F7306D07E7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Fedón, República V, VI y VII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96875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4621E-C24F-6B85-F0AE-604CC075B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Fedón</a:t>
            </a:r>
            <a:endParaRPr lang="es-P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9D0E3-B7C8-4016-8CB3-F099D1FD9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Relata las últimas horas de Sócrates antes de su ejecución. (circa 399 a.C.)</a:t>
            </a:r>
          </a:p>
          <a:p>
            <a:r>
              <a:rPr lang="es-MX" dirty="0"/>
              <a:t>Obra de madurez, se combinan la reflexión metafísica, ética y la práctica de la filosofía como preparación para la muerte.</a:t>
            </a:r>
          </a:p>
          <a:p>
            <a:r>
              <a:rPr lang="es-MX" dirty="0"/>
              <a:t>El tema central trata sobre la inmortalidad del alma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5384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5A007-12D7-9066-A425-F1B874941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56120-3A30-4072-4811-7D8B8BA50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93" y="73073"/>
            <a:ext cx="10515600" cy="1325563"/>
          </a:xfrm>
        </p:spPr>
        <p:txBody>
          <a:bodyPr/>
          <a:lstStyle/>
          <a:p>
            <a:r>
              <a:rPr lang="es-MX" dirty="0"/>
              <a:t>Fedón</a:t>
            </a:r>
            <a:endParaRPr lang="es-P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282A6-34F4-EC77-0BED-30E3C738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985" y="274224"/>
            <a:ext cx="6925574" cy="676035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4 argumentos sobre la inmortalidad del alma</a:t>
            </a:r>
            <a:endParaRPr lang="es-P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19DBC-1335-8236-B195-0566BB24D767}"/>
              </a:ext>
            </a:extLst>
          </p:cNvPr>
          <p:cNvSpPr txBox="1"/>
          <p:nvPr/>
        </p:nvSpPr>
        <p:spPr>
          <a:xfrm>
            <a:off x="692989" y="5383447"/>
            <a:ext cx="110935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El ciclo de los contrarios (argumento cíclico):</a:t>
            </a:r>
          </a:p>
          <a:p>
            <a:endParaRPr lang="es-MX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MX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 vida surge de la muerte y la muerte de la vida. Así como el dormir y el despertar se suceden, los vivos provienen de los muertos, lo que implica que las almas continúan existiendo.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CAB93A-D5A1-CEEE-D0D7-C5561C17D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335" y="1398636"/>
            <a:ext cx="7641329" cy="375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49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D3480-8F0F-E6E8-12C7-1196D4C36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359C-9469-7AA9-799A-8F721A428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93" y="73073"/>
            <a:ext cx="10515600" cy="1325563"/>
          </a:xfrm>
        </p:spPr>
        <p:txBody>
          <a:bodyPr/>
          <a:lstStyle/>
          <a:p>
            <a:r>
              <a:rPr lang="es-MX" dirty="0"/>
              <a:t>Fedón</a:t>
            </a:r>
            <a:endParaRPr lang="es-P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35FFD-8E5B-DE90-EC00-FF1EF118A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6260" y="274224"/>
            <a:ext cx="6925574" cy="676035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4 argumentos sobre la inmortalidad del alma</a:t>
            </a:r>
            <a:endParaRPr lang="es-P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CB9E83-B0F8-FDBE-3559-94BC561D30D3}"/>
              </a:ext>
            </a:extLst>
          </p:cNvPr>
          <p:cNvSpPr txBox="1"/>
          <p:nvPr/>
        </p:nvSpPr>
        <p:spPr>
          <a:xfrm>
            <a:off x="848264" y="5380672"/>
            <a:ext cx="110935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 teoría de la reminiscencia (anamnesis):</a:t>
            </a:r>
          </a:p>
          <a:p>
            <a:endParaRPr lang="es-MX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MX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El conocimiento es recuerdo. El alma debe haber existido antes del nacimiento para poseer las Ideas (Belleza, Bien, Justicia) que recordamos en la vida. Esto prueba su preexistencia.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5A8424-F1BD-295A-5F10-D21047A50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62" y="1398636"/>
            <a:ext cx="3632338" cy="316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398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7E319-681A-569E-B3AF-A22905991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1BE0B-857A-A484-085C-9A8D38E57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93" y="73073"/>
            <a:ext cx="10515600" cy="1325563"/>
          </a:xfrm>
        </p:spPr>
        <p:txBody>
          <a:bodyPr/>
          <a:lstStyle/>
          <a:p>
            <a:r>
              <a:rPr lang="es-MX" dirty="0"/>
              <a:t>Fedón</a:t>
            </a:r>
            <a:endParaRPr lang="es-P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96999-910D-9DDB-BC6E-7490C1CB4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6260" y="274224"/>
            <a:ext cx="6925574" cy="676035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4 argumentos sobre la inmortalidad del alma</a:t>
            </a:r>
            <a:endParaRPr lang="es-P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EEE2D6-9B24-3D10-0AB4-467BF34E5B05}"/>
              </a:ext>
            </a:extLst>
          </p:cNvPr>
          <p:cNvSpPr txBox="1"/>
          <p:nvPr/>
        </p:nvSpPr>
        <p:spPr>
          <a:xfrm>
            <a:off x="549215" y="5383447"/>
            <a:ext cx="110935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 simplicidad del alma:</a:t>
            </a:r>
          </a:p>
          <a:p>
            <a:endParaRPr lang="es-MX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MX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El alma es simple e indivisible, a diferencia del cuerpo que es compuesto y corruptible. Lo simple no puede desintegrarse, por lo que el alma es inmortal.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85B0DA-6044-AF4B-0D05-903047903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715" y="1599787"/>
            <a:ext cx="3276702" cy="315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353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B16F5-0FCC-0C19-D844-03ACC98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9F070-3959-FC3A-FA3C-BB3A5D0B6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93" y="73073"/>
            <a:ext cx="10515600" cy="1325563"/>
          </a:xfrm>
        </p:spPr>
        <p:txBody>
          <a:bodyPr/>
          <a:lstStyle/>
          <a:p>
            <a:r>
              <a:rPr lang="es-MX" dirty="0"/>
              <a:t>Fedón</a:t>
            </a:r>
            <a:endParaRPr lang="es-P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FC410-0377-ABFF-26A0-620311377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6260" y="274224"/>
            <a:ext cx="6925574" cy="676035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4 argumentos sobre la inmortalidad del alma</a:t>
            </a:r>
            <a:endParaRPr lang="es-P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3D46FC-73E2-6753-6F9D-6F69C86AC6CD}"/>
              </a:ext>
            </a:extLst>
          </p:cNvPr>
          <p:cNvSpPr txBox="1"/>
          <p:nvPr/>
        </p:nvSpPr>
        <p:spPr>
          <a:xfrm>
            <a:off x="710241" y="5383447"/>
            <a:ext cx="110935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 afinidad con lo invisible:</a:t>
            </a:r>
          </a:p>
          <a:p>
            <a:endParaRPr lang="es-MX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MX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El alma se asemeja a lo invisible y eterno, mientras que el cuerpo pertenece al mundo visible y perecedero. Por ello, el alma sobrevive a la muerte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5667CE-00C0-5095-BC3E-1EEFBA688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1591087"/>
            <a:ext cx="7664311" cy="334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495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BAC5A-076E-B3AE-3234-9F9C110C9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B156B-6653-18A7-8DF7-E5B52A9E0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93" y="73073"/>
            <a:ext cx="10515600" cy="1325563"/>
          </a:xfrm>
        </p:spPr>
        <p:txBody>
          <a:bodyPr/>
          <a:lstStyle/>
          <a:p>
            <a:r>
              <a:rPr lang="es-MX" dirty="0"/>
              <a:t>Fedón</a:t>
            </a:r>
            <a:endParaRPr lang="es-P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8736E3-09C7-EC13-2155-704B173E9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26" y="139863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Para Sócrates, dedicarse a la filosofía es aprender a no temer no morir.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La filosofía es un ejercicio de separación del alma respecto del cuerpo.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La filosofía purifica el alma, le aleja de los engaños de los sentidos y le aproxima a la verdad.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71312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980D4-EAA6-0702-2A28-856BC25D3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84A8-E8B8-3E5D-8EAD-16D747E9D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93" y="73073"/>
            <a:ext cx="10515600" cy="1325563"/>
          </a:xfrm>
        </p:spPr>
        <p:txBody>
          <a:bodyPr/>
          <a:lstStyle/>
          <a:p>
            <a:r>
              <a:rPr lang="es-MX" dirty="0"/>
              <a:t>Fedón</a:t>
            </a:r>
            <a:endParaRPr lang="es-P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BC2793-7044-04CB-7694-B60392C72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26" y="139863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Sócrates sostiene que la vida le pertenece a los dioses, y por ello no debemos privarnos de ella voluntariamente. 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La muerte libera al alma.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El diálogo culmina con Sócrates bebiendo la cicuta, animando a sus amigos a cultivar la filosofía.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59859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60DFC-8B07-19FF-F699-EF69424E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749DB-08A5-C9E7-3CAE-AB3E5EEEB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93" y="73073"/>
            <a:ext cx="10515600" cy="1325563"/>
          </a:xfrm>
        </p:spPr>
        <p:txBody>
          <a:bodyPr/>
          <a:lstStyle/>
          <a:p>
            <a:r>
              <a:rPr lang="es-MX" dirty="0"/>
              <a:t>La república</a:t>
            </a:r>
            <a:endParaRPr lang="es-P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472D54-4857-572A-72BF-353FDBCBB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445" y="2710600"/>
            <a:ext cx="9997109" cy="359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88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6E339-6783-DACB-A2AF-D8316E8D4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95296-1A64-87EA-C79D-02F8108BB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93" y="73073"/>
            <a:ext cx="10515600" cy="1325563"/>
          </a:xfrm>
        </p:spPr>
        <p:txBody>
          <a:bodyPr/>
          <a:lstStyle/>
          <a:p>
            <a:r>
              <a:rPr lang="es-MX" dirty="0"/>
              <a:t>La república</a:t>
            </a:r>
            <a:endParaRPr lang="es-PE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186E7233-987E-365F-B110-9292C8028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307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MX" dirty="0"/>
              <a:t>Justicia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Estructura del estado ideal (</a:t>
            </a:r>
            <a:r>
              <a:rPr lang="es-MX" dirty="0" err="1"/>
              <a:t>Kallípolis</a:t>
            </a:r>
            <a:r>
              <a:rPr lang="es-MX" dirty="0"/>
              <a:t>)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La importancia de la educación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Filosofía como guía para la vida política y moral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10 libros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Prota-agonista: Sócrates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Crisis política después de la guerra del Peloponeso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Crítica a la democracia ateniense que condenó a Sócrates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64598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86250-4C33-ED30-FC66-E913317A9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0CA0D-EA6F-9FEE-76E5-FD1A1C1B4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93" y="73073"/>
            <a:ext cx="10515600" cy="1325563"/>
          </a:xfrm>
        </p:spPr>
        <p:txBody>
          <a:bodyPr/>
          <a:lstStyle/>
          <a:p>
            <a:r>
              <a:rPr lang="es-MX" dirty="0"/>
              <a:t>La república</a:t>
            </a:r>
            <a:endParaRPr lang="es-PE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8DFFCF7-A823-9F15-0F9E-1179B5EF0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30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Sócrates                             Céfalo                               Polemarco   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Trasímaco</a:t>
            </a:r>
            <a:r>
              <a:rPr lang="es-MX" dirty="0"/>
              <a:t>                          Glaucón                              </a:t>
            </a:r>
            <a:r>
              <a:rPr lang="es-MX" dirty="0" err="1"/>
              <a:t>Adimanto</a:t>
            </a:r>
            <a:endParaRPr lang="es-PE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FE8FC43-BFF8-9385-CC19-AA8516A3F2DB}"/>
              </a:ext>
            </a:extLst>
          </p:cNvPr>
          <p:cNvSpPr txBox="1">
            <a:spLocks/>
          </p:cNvSpPr>
          <p:nvPr/>
        </p:nvSpPr>
        <p:spPr>
          <a:xfrm>
            <a:off x="838200" y="1975638"/>
            <a:ext cx="10515600" cy="116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Busca definir                          Visión tradicional de justicia (distributiva)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Justicia</a:t>
            </a:r>
            <a:endParaRPr lang="es-P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DA167E-14BC-044F-AC70-1AC34AF74660}"/>
              </a:ext>
            </a:extLst>
          </p:cNvPr>
          <p:cNvSpPr txBox="1">
            <a:spLocks/>
          </p:cNvSpPr>
          <p:nvPr/>
        </p:nvSpPr>
        <p:spPr>
          <a:xfrm>
            <a:off x="838200" y="460925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Sofista: Justicia                    hermanos de Platón: La justicia es deseable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Lo que conviene                  por sí misma.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Al mas fuerte</a:t>
            </a:r>
            <a:endParaRPr lang="es-P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425F6F-91A2-D5A2-7904-A86F2D8C9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461" y="2459661"/>
            <a:ext cx="1362208" cy="13622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05B1ED-6CCC-D9B9-13B3-D8EC78C45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17" y="2457391"/>
            <a:ext cx="1362208" cy="13415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DF09E5-36B2-060A-882F-E3282D59E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031" y="2457391"/>
            <a:ext cx="1362207" cy="14893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B6A0B8-292D-EE37-5819-FB2CCC31B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1738" y="5566729"/>
            <a:ext cx="995913" cy="10573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5092E49-352F-1650-CAD7-F790518438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0764" y="5230281"/>
            <a:ext cx="1095375" cy="15049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E728286-E0CC-FA4C-89F3-46F616BC3F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4085" y="5180366"/>
            <a:ext cx="1304925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63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F4F6F-128E-320F-2D3D-0F2CDE840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766F1-1018-144C-6E33-F9A09A52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02788"/>
          </a:xfrm>
        </p:spPr>
        <p:txBody>
          <a:bodyPr>
            <a:normAutofit fontScale="90000"/>
          </a:bodyPr>
          <a:lstStyle/>
          <a:p>
            <a:r>
              <a:rPr lang="es-MX" dirty="0"/>
              <a:t>La república</a:t>
            </a:r>
            <a:endParaRPr lang="es-PE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15022EC-4999-0790-6811-02E961229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767350"/>
              </p:ext>
            </p:extLst>
          </p:nvPr>
        </p:nvGraphicFramePr>
        <p:xfrm>
          <a:off x="-2" y="602788"/>
          <a:ext cx="12192002" cy="7205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1">
                  <a:extLst>
                    <a:ext uri="{9D8B030D-6E8A-4147-A177-3AD203B41FA5}">
                      <a16:colId xmlns:a16="http://schemas.microsoft.com/office/drawing/2014/main" val="4004831713"/>
                    </a:ext>
                  </a:extLst>
                </a:gridCol>
                <a:gridCol w="6096001">
                  <a:extLst>
                    <a:ext uri="{9D8B030D-6E8A-4147-A177-3AD203B41FA5}">
                      <a16:colId xmlns:a16="http://schemas.microsoft.com/office/drawing/2014/main" val="3975236927"/>
                    </a:ext>
                  </a:extLst>
                </a:gridCol>
              </a:tblGrid>
              <a:tr h="521268">
                <a:tc>
                  <a:txBody>
                    <a:bodyPr/>
                    <a:lstStyle/>
                    <a:p>
                      <a:r>
                        <a:rPr lang="es-MX" dirty="0"/>
                        <a:t>Libro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Idea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306109"/>
                  </a:ext>
                </a:extLst>
              </a:tr>
              <a:tr h="521268"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Debate inicial sobre la justicia con Céfalo, Polemarco y </a:t>
                      </a:r>
                      <a:r>
                        <a:rPr lang="es-MX" dirty="0" err="1"/>
                        <a:t>Trasímaco</a:t>
                      </a:r>
                      <a:r>
                        <a:rPr lang="es-MX" dirty="0"/>
                        <a:t>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450190"/>
                  </a:ext>
                </a:extLst>
              </a:tr>
              <a:tr h="521268">
                <a:tc>
                  <a:txBody>
                    <a:bodyPr/>
                    <a:lstStyle/>
                    <a:p>
                      <a:r>
                        <a:rPr lang="es-MX" dirty="0"/>
                        <a:t>2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Glaucón y </a:t>
                      </a:r>
                      <a:r>
                        <a:rPr lang="es-MX" dirty="0" err="1"/>
                        <a:t>Adimanto</a:t>
                      </a:r>
                      <a:r>
                        <a:rPr lang="es-MX" dirty="0"/>
                        <a:t> cuestionan la justicia; surge la idea del Estado ideal.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721532"/>
                  </a:ext>
                </a:extLst>
              </a:tr>
              <a:tr h="521268">
                <a:tc>
                  <a:txBody>
                    <a:bodyPr/>
                    <a:lstStyle/>
                    <a:p>
                      <a:r>
                        <a:rPr lang="es-MX" dirty="0"/>
                        <a:t>3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Educación de los guardianes (música, gimnasia, censura de mitos).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353829"/>
                  </a:ext>
                </a:extLst>
              </a:tr>
              <a:tr h="521268">
                <a:tc>
                  <a:txBody>
                    <a:bodyPr/>
                    <a:lstStyle/>
                    <a:p>
                      <a:r>
                        <a:rPr lang="es-MX" dirty="0"/>
                        <a:t>4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Analogía entre la ciudad y el alma; felicidad colectiva sobre la individual.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202567"/>
                  </a:ext>
                </a:extLst>
              </a:tr>
              <a:tr h="521268">
                <a:tc>
                  <a:txBody>
                    <a:bodyPr/>
                    <a:lstStyle/>
                    <a:p>
                      <a:r>
                        <a:rPr lang="es-MX" dirty="0"/>
                        <a:t>5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>
                          <a:solidFill>
                            <a:srgbClr val="FF0000"/>
                          </a:solidFill>
                        </a:rPr>
                        <a:t>Papel de las mujeres y comunidad de bienes; anticipa formas de gobierno.</a:t>
                      </a:r>
                      <a:endParaRPr lang="es-PE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797158"/>
                  </a:ext>
                </a:extLst>
              </a:tr>
              <a:tr h="521268">
                <a:tc>
                  <a:txBody>
                    <a:bodyPr/>
                    <a:lstStyle/>
                    <a:p>
                      <a:r>
                        <a:rPr lang="es-MX" dirty="0"/>
                        <a:t>6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>
                          <a:solidFill>
                            <a:srgbClr val="FF0000"/>
                          </a:solidFill>
                        </a:rPr>
                        <a:t>Defensa del filósofo como gobernante; alegoría del sol y la línea.</a:t>
                      </a:r>
                      <a:endParaRPr lang="es-PE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553157"/>
                  </a:ext>
                </a:extLst>
              </a:tr>
              <a:tr h="521268">
                <a:tc>
                  <a:txBody>
                    <a:bodyPr/>
                    <a:lstStyle/>
                    <a:p>
                      <a:r>
                        <a:rPr lang="es-MX" dirty="0"/>
                        <a:t>7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>
                          <a:solidFill>
                            <a:srgbClr val="FF0000"/>
                          </a:solidFill>
                        </a:rPr>
                        <a:t>Mito de la caverna: el filósofo guía hacia el conocimiento.</a:t>
                      </a:r>
                      <a:endParaRPr lang="es-PE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539847"/>
                  </a:ext>
                </a:extLst>
              </a:tr>
              <a:tr h="521268">
                <a:tc>
                  <a:txBody>
                    <a:bodyPr/>
                    <a:lstStyle/>
                    <a:p>
                      <a:r>
                        <a:rPr lang="es-MX" dirty="0"/>
                        <a:t>8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Crítica a las formas de gobierno (timocracia, oligarquía, democracia, tiranía).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114324"/>
                  </a:ext>
                </a:extLst>
              </a:tr>
              <a:tr h="521268">
                <a:tc>
                  <a:txBody>
                    <a:bodyPr/>
                    <a:lstStyle/>
                    <a:p>
                      <a:r>
                        <a:rPr lang="es-MX" dirty="0"/>
                        <a:t>9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51835"/>
                  </a:ext>
                </a:extLst>
              </a:tr>
              <a:tr h="521268">
                <a:tc>
                  <a:txBody>
                    <a:bodyPr/>
                    <a:lstStyle/>
                    <a:p>
                      <a:r>
                        <a:rPr lang="es-MX" dirty="0"/>
                        <a:t>10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Reflexión sobre el arte, el alma y la inmortalidad.</a:t>
                      </a:r>
                      <a:endParaRPr lang="es-PE" dirty="0"/>
                    </a:p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990132"/>
                  </a:ext>
                </a:extLst>
              </a:tr>
              <a:tr h="521268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586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775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18E0B-CDD2-6E57-7894-D31457F75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20324-DE60-B115-A330-CD1BE9FE3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02788"/>
          </a:xfrm>
        </p:spPr>
        <p:txBody>
          <a:bodyPr>
            <a:normAutofit fontScale="90000"/>
          </a:bodyPr>
          <a:lstStyle/>
          <a:p>
            <a:r>
              <a:rPr lang="es-MX" dirty="0"/>
              <a:t>La república</a:t>
            </a:r>
            <a:endParaRPr lang="es-PE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9C24456-07D8-D2E5-9C42-0510C05B3727}"/>
              </a:ext>
            </a:extLst>
          </p:cNvPr>
          <p:cNvSpPr txBox="1">
            <a:spLocks/>
          </p:cNvSpPr>
          <p:nvPr/>
        </p:nvSpPr>
        <p:spPr>
          <a:xfrm>
            <a:off x="589722" y="1762538"/>
            <a:ext cx="10515600" cy="40021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La justicia no es conveniencia, ni fuerza. </a:t>
            </a:r>
          </a:p>
          <a:p>
            <a:r>
              <a:rPr lang="es-MX" dirty="0"/>
              <a:t>La justicia es armonía entre partes del alma y clases sociales.</a:t>
            </a:r>
          </a:p>
          <a:p>
            <a:endParaRPr lang="es-MX" dirty="0"/>
          </a:p>
          <a:p>
            <a:r>
              <a:rPr lang="es-MX" dirty="0"/>
              <a:t>El estado ideal se divide en tres partes: gobernantes filósofos, guardianes y productores)</a:t>
            </a:r>
          </a:p>
          <a:p>
            <a:endParaRPr lang="es-MX" dirty="0"/>
          </a:p>
          <a:p>
            <a:r>
              <a:rPr lang="es-MX" dirty="0"/>
              <a:t>La educación es fundamental para formar gobernantes sabios. </a:t>
            </a:r>
          </a:p>
          <a:p>
            <a:endParaRPr lang="es-MX" dirty="0"/>
          </a:p>
          <a:p>
            <a:r>
              <a:rPr lang="es-MX" dirty="0"/>
              <a:t>El mundo sensible es imperfecto, la verdad se encuentra en las ideas. </a:t>
            </a:r>
          </a:p>
          <a:p>
            <a:endParaRPr lang="es-MX" dirty="0"/>
          </a:p>
          <a:p>
            <a:r>
              <a:rPr lang="es-MX" dirty="0"/>
              <a:t>Mito de la caverna como metáfora del conocimiento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54148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</TotalTime>
  <Words>640</Words>
  <Application>Microsoft Office PowerPoint</Application>
  <PresentationFormat>Widescreen</PresentationFormat>
  <Paragraphs>100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ADLaM Display</vt:lpstr>
      <vt:lpstr>Arial</vt:lpstr>
      <vt:lpstr>Calibri</vt:lpstr>
      <vt:lpstr>Calibri Light</vt:lpstr>
      <vt:lpstr>Office Theme</vt:lpstr>
      <vt:lpstr>Platón</vt:lpstr>
      <vt:lpstr>Fedón</vt:lpstr>
      <vt:lpstr>Fedón</vt:lpstr>
      <vt:lpstr>Fedón</vt:lpstr>
      <vt:lpstr>Fedón</vt:lpstr>
      <vt:lpstr>Fedón</vt:lpstr>
      <vt:lpstr>Fedón</vt:lpstr>
      <vt:lpstr>Fedón</vt:lpstr>
      <vt:lpstr>La república</vt:lpstr>
      <vt:lpstr>La república</vt:lpstr>
      <vt:lpstr>La república</vt:lpstr>
      <vt:lpstr>La república</vt:lpstr>
      <vt:lpstr>La república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F. Garcìa Alcalà</dc:creator>
  <cp:lastModifiedBy>F. Garcìa Alcalà</cp:lastModifiedBy>
  <cp:revision>10</cp:revision>
  <dcterms:created xsi:type="dcterms:W3CDTF">2026-05-18T02:14:43Z</dcterms:created>
  <dcterms:modified xsi:type="dcterms:W3CDTF">2026-05-18T17:17:10Z</dcterms:modified>
</cp:coreProperties>
</file>